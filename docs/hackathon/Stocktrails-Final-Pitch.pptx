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791b292d-113f-3d63-ffa7-f76c98e49091}">
          <p14:sldIdLst>
            <p14:sldId id="256"/>
            <p14:sldId id="257"/>
            <p14:sldId id="258"/>
            <p14:sldId id="259"/>
          </p14:sldIdLst>
        </p14:section>
        <p14:section name="01 The product" id="{ffe803ba-b61a-8dd3-011f-de44ba52de6d}">
          <p14:sldIdLst>
            <p14:sldId id="260"/>
            <p14:sldId id="261"/>
            <p14:sldId id="262"/>
            <p14:sldId id="263"/>
            <p14:sldId id="264"/>
            <p14:sldId id="265"/>
            <p14:sldId id="266"/>
            <p14:sldId id="267"/>
          </p14:sldIdLst>
        </p14:section>
        <p14:section name="02 System architecture" id="{b75bb288-353a-7a72-970c-ba1342a3f0e2}">
          <p14:sldIdLst>
            <p14:sldId id="268"/>
            <p14:sldId id="269"/>
          </p14:sldIdLst>
        </p14:section>
        <p14:section name="03 Core algorithms" id="{9e59319c-14eb-9657-2f78-59e51e3ad8e6}">
          <p14:sldIdLst>
            <p14:sldId id="270"/>
            <p14:sldId id="271"/>
            <p14:sldId id="272"/>
          </p14:sldIdLst>
        </p14:section>
        <p14:section name="04 Security design" id="{2c6ea472-0546-0238-ae4a-0b637482099c}">
          <p14:sldIdLst>
            <p14:sldId id="273"/>
            <p14:sldId id="274"/>
            <p14:sldId id="275"/>
          </p14:sldIdLst>
        </p14:section>
        <p14:section name="Outlook" id="{39ed70d8-b9f0-6f27-bf74-56fff70003f6}">
          <p14:sldIdLst>
            <p14:sldId id="276"/>
          </p14:sldIdLst>
        </p14:section>
        <p14:section name="Close" id="{7e9e7377-fb88-8993-8fcc-8686e1116644}">
          <p14:sldIdLst>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Good morning. We are Stocktrails. Every investor leaves a trail: the stocks they research and the trades they make. We turn that trail into evidence: which of your habits cost you money, and which rule would have fixed it. Proven on trades the rule had never seen, before we recommend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Meet Alex, one of the investor profiles in our test lab. A stock has run up 12%. Alex looks at it late in the evening and buys within the hour. A month later it lags the market by seven points. Then it happens again. Alex never sees the pattern, because each trade feels like a fresh decision. Only the full trail shows that following a run-up before a buy costs dearly the following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The market is full of tools that tell you what to buy. Screeners, signals, targets, and now chatbots. They all give opinions about the market. Nobody looks at the one thing the investor controls: their own behaviour. Benjamin Graham said it 75 years ago: the investor's worst enemy is likely to be himself. That is the gap we 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Four ideas make this new. One: attention becomes data. We capture what you research, automatically, and join it to your broker trades. Two: proof on unseen trades. Every rule is fitted on your past and must hold up on later trades it never saw. Three: the statistics find the biases, and then the AI decides. An AI agent makes its own call at every live moment, in parallel with the investor, saved once, and time tells who was right. Four: privacy by construction. Your trades never leave your device. And together they close the loop, from finding a bias to checking your next buy.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Let me show you the product first, then how it works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It starts in the browser. When you open a stock on Yahoo Finance, TradingView or any of 15 portals, Stocktrails records it automatically. A small pop-up lets you label your expectation, positive or negative, with a target, a horizon and a note on why. Every call is later followed to its deadline. The same page can show a reminder from one of your own rules, and the AI agent's paper decision, which stays hidden until you ask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My Stocks answers a simple question: what happened after you looked? The watchlist builds itself from your attention: return since your first look, return per hour of research, how often your labels were right. On the chart every dot is a visit, sized by how often you looked and coloured by your label, against the NASDAQ.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Trades and research is the heart of the app. You import the export file from your broker; it is read in the browser and never uploaded. Every trade is joined to the research before it. The result opens with what your trades say about you: the patterns your data supports, strongest first, each graded solid, indicative or not enough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Now the coach turns findings into action. Here it found that buys made after a run-up did worse than buys made after a fall. A rule is only proposed when it held up on trades it had not seen, and the app says so when it did not. One click adopts it. And before the next buy, Check a buy measures the stock and the market right now and tells you which of your rules object. No order is ever placed by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This is the new part. First the statistics identify your biases and prove which rules hold up. Then the AI decides. At every live moment, a rules agent and an AI agent each make a call next to you: buy, wait or pass, with odds, and the AI acts only when its confidence is high enough, otherwise it says not sure enough and asks again later. Each decision is saved once with its time. It is never revised and never backfilled, and its verdict stays hidden until you ask, so it does not sway your own view. Then time tells the result: the paper portfolio of the AI agent runs next to yours, the rules agent's, and the NASDAQ. Paper decisions only, not investment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The assistant lets you ask your data in your own words. It does not guess: it reads the results already computed on your device with read-only tools, can dig up to five steps deep, and every number in its answer is checked against those results. When it suggests something, adopting a rule for example, it appears as a card. Nothing happens until you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Community puts you next to the crowd. Where you rank in research time and hit rate, how closely your research follows what everyone else, and the wider internet, is looking at, and an index built from the community's attention. It also feeds a bias: buying what the crowd is piling into. Everything here is anonymous aggregates with minimum group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How is it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The architecture follows one principle: the device does the thinking. Capture, the trade ledger and the whole analytics core run in the browser or the app. The analytics core is plain, tested code with no language model in it. The broker ledger, outlined in red, is never synced anywhere. Only two things can reach the cloud: your own attention rows if you choose to sync, and de-identified results when you use the assistant. The cloud is Supabase in the EU, with JWT checks and row-level security on every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Now the core: how a habit becomes a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Five steps. First, trades are grouped into decisions and each gets an outcome: how it did against the NASDAQ a month and three months later. Second, context: what was true before the buy, measured only from data available that day. Third, eleven bias tests, each checked against what chance alone would give. Fourth, every bias becomes a concrete rule. Fifth, a verdict. Then the loop: you adopt it, we track whether you keep it, and we check your next buy.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This is what makes the advice trustworthy. A rule is fitted on the first part of your history and judged only on later trades it never saw, block by block, with an embargo so nothing from the future leaks in. A second test slides your buying pattern along the calendar to see what chance alone would give. In simulated markets with no real effect, zero of 216 rules were recommended. Across five investor profiles and ten seeds, the planted habit was found 48 times out of 50. For our demo investor, waiting after a run-up was worth 16 points per flagged buy, out of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Finally, security, which is built into the design rather than added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Data minimisation is enforced in code. On the left, what never leaves: broker files, amounts, prices paid, ISINs, account details. On the right, what may leave, and only after consent: plain facts with stock aliases, ratios instead of amounts, months instead of dates. Every result passes a privacy filter in the browser, the server checks again and refuses anything that looks private, and our test suite scans every request the system sends.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Permissions come in three tiers. T0: the agent can only read results computed on your device. T1: it can propose an action, but nothing is written until you click. T2, placing orders, holding broker credentials or uploading trades, does not exist: there is no tool, endpoint or code path for it. Around that: consent off by default, deny-by-default access, a daily cap, prompt-injection guards, a log showing exactly what was sent, nothing stored on the server, and a kill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Where we go next. Richer community rankings. A world view with attention data from individual countries. Attention combined with fundamental data. And partnerships with brokers, so attention can be captured comprehensively, not only on the portals we see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Know your trail. Change your habits.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T Title">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T Section">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828800"/>
            <a:ext cx="2743200" cy="1463040"/>
          </a:xfrm>
          <a:prstGeom prst="rect">
            <a:avLst/>
          </a:prstGeom>
          <a:noFill/>
          <a:ln/>
        </p:spPr>
        <p:txBody>
          <a:bodyPr wrap="square" rtlCol="0"/>
          <a:lstStyle>
            <a:lvl1pPr algn="l" indent="0" marL="0">
              <a:buNone/>
              <a:defRPr lang="en-US" sz="9600" b="1" dirty="0">
                <a:solidFill>
                  <a:schemeClr val="accent1"/>
                </a:solidFill>
                <a:latin typeface="Arial" pitchFamily="34" charset="0"/>
                <a:ea typeface="Arial" pitchFamily="34" charset="-122"/>
                <a:cs typeface="Arial" pitchFamily="34" charset="-120"/>
              </a:defRPr>
            </a:lvl1pPr>
          </a:lstStyle>
          <a:p>
            <a:pPr algn="l" indent="0" marL="0">
              <a:buNone/>
            </a:pPr>
            <a:endParaRPr lang="en-US" sz="9600" dirty="0"/>
          </a:p>
        </p:txBody>
      </p:sp>
      <p:sp>
        <p:nvSpPr>
          <p:cNvPr id="3" name="Text 0"/>
          <p:cNvSpPr/>
          <p:nvPr>
            <p:ph idx="101" type="title" hasCustomPrompt="1"/>
          </p:nvPr>
        </p:nvSpPr>
        <p:spPr>
          <a:xfrm>
            <a:off x="822960" y="3383280"/>
            <a:ext cx="10515600" cy="914400"/>
          </a:xfrm>
          <a:prstGeom prst="rect">
            <a:avLst/>
          </a:prstGeom>
          <a:noFill/>
          <a:ln/>
        </p:spPr>
        <p:txBody>
          <a:bodyPr wrap="square" rtlCol="0"/>
          <a:lstStyle>
            <a:lvl1pPr algn="l" indent="0" marL="0">
              <a:buNone/>
              <a:defRPr lang="en-US" sz="4400" b="1" dirty="0">
                <a:solidFill>
                  <a:schemeClr val="bg1"/>
                </a:solidFill>
                <a:latin typeface="Arial" pitchFamily="34" charset="0"/>
                <a:ea typeface="Arial" pitchFamily="34" charset="-122"/>
                <a:cs typeface="Arial" pitchFamily="34" charset="-120"/>
              </a:defRPr>
            </a:lvl1pPr>
          </a:lstStyle>
          <a:p>
            <a:pPr algn="l" indent="0" marL="0">
              <a:buNone/>
            </a:pPr>
            <a:endParaRPr lang="en-US" sz="4400" dirty="0"/>
          </a:p>
        </p:txBody>
      </p:sp>
      <p:sp>
        <p:nvSpPr>
          <p:cNvPr id="4" name="Text 0"/>
          <p:cNvSpPr/>
          <p:nvPr>
            <p:ph idx="102" type="body" hasCustomPrompt="1"/>
          </p:nvPr>
        </p:nvSpPr>
        <p:spPr>
          <a:xfrm>
            <a:off x="822960" y="4297680"/>
            <a:ext cx="9144000" cy="73152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 Content">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chemeClr val="bg2"/>
                </a:solidFill>
              </a:rPr>
              <a:t>Stocktrails  ·  FinTechathon 2026</a:t>
            </a:r>
            <a:endParaRPr lang="en-US" sz="1000" dirty="0"/>
          </a:p>
        </p:txBody>
      </p:sp>
      <p:sp>
        <p:nvSpPr>
          <p:cNvPr id="3" name="Text 1"/>
          <p:cNvSpPr/>
          <p:nvPr>
            <p:ph idx="101" type="body" hasCustomPrompt="1"/>
          </p:nvPr>
        </p:nvSpPr>
        <p:spPr>
          <a:xfrm>
            <a:off x="548640" y="347472"/>
            <a:ext cx="8229600" cy="274320"/>
          </a:xfrm>
          <a:prstGeom prst="rect">
            <a:avLst/>
          </a:prstGeom>
          <a:noFill/>
          <a:ln/>
        </p:spPr>
        <p:txBody>
          <a:bodyPr wrap="square" rtlCol="0"/>
          <a:lstStyle>
            <a:lvl1pPr algn="l" indent="0" marL="0">
              <a:buNone/>
              <a:defRPr lang="en-US" sz="1200" b="1" spc="200" kern="0" dirty="0">
                <a:solidFill>
                  <a:schemeClr val="accent1"/>
                </a:solidFill>
              </a:defRPr>
            </a:lvl1pPr>
          </a:lstStyle>
          <a:p>
            <a:pPr algn="l" indent="0" marL="0">
              <a:buNone/>
            </a:pPr>
            <a:endParaRPr lang="en-US" sz="1200" dirty="0"/>
          </a:p>
        </p:txBody>
      </p:sp>
      <p:sp>
        <p:nvSpPr>
          <p:cNvPr id="4" name="Text 1"/>
          <p:cNvSpPr/>
          <p:nvPr>
            <p:ph idx="102" type="title" hasCustomPrompt="1"/>
          </p:nvPr>
        </p:nvSpPr>
        <p:spPr>
          <a:xfrm>
            <a:off x="548640" y="640080"/>
            <a:ext cx="11064240" cy="731520"/>
          </a:xfrm>
          <a:prstGeom prst="rect">
            <a:avLst/>
          </a:prstGeom>
          <a:noFill/>
          <a:ln/>
        </p:spPr>
        <p:txBody>
          <a:bodyPr wrap="square" rtlCol="0"/>
          <a:lstStyle>
            <a:lvl1pPr algn="l" indent="0" marL="0">
              <a:buNone/>
              <a:defRPr lang="en-US" sz="3000" b="1" dirty="0">
                <a:solidFill>
                  <a:schemeClr val="bg1"/>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4.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4.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4.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4.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4.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slideLayout" Target="../slideLayouts/slideLayout4.xm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4.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tocktrails logo" descr="Stocktrails logo">    </p:cNvPr>
          <p:cNvPicPr>
            <a:picLocks noChangeAspect="1"/>
          </p:cNvPicPr>
          <p:nvPr/>
        </p:nvPicPr>
        <p:blipFill>
          <a:blip r:embed="rId1"/>
          <a:stretch>
            <a:fillRect/>
          </a:stretch>
        </p:blipFill>
        <p:spPr>
          <a:xfrm>
            <a:off x="502920" y="1097280"/>
            <a:ext cx="4937760" cy="1663245"/>
          </a:xfrm>
          <a:prstGeom prst="rect">
            <a:avLst/>
          </a:prstGeom>
        </p:spPr>
      </p:pic>
      <p:sp>
        <p:nvSpPr>
          <p:cNvPr id="3" name="Text 0"/>
          <p:cNvSpPr txBox="1"/>
          <p:nvPr/>
        </p:nvSpPr>
        <p:spPr>
          <a:xfrm>
            <a:off x="822960" y="2880360"/>
            <a:ext cx="5486400" cy="1097280"/>
          </a:xfrm>
          <a:prstGeom prst="rect">
            <a:avLst/>
          </a:prstGeom>
          <a:noFill/>
          <a:ln/>
        </p:spPr>
        <p:txBody>
          <a:bodyPr wrap="square" lIns="0" tIns="0" rIns="0" bIns="0" rtlCol="0" anchor="t"/>
          <a:lstStyle/>
          <a:p>
            <a:pPr indent="0" marL="0">
              <a:buNone/>
            </a:pPr>
            <a:r>
              <a:rPr lang="en-US" sz="3200" b="1" dirty="0">
                <a:solidFill>
                  <a:schemeClr val="bg1"/>
                </a:solidFill>
                <a:latin typeface="Arial" pitchFamily="34" charset="0"/>
                <a:ea typeface="Arial" pitchFamily="34" charset="-122"/>
                <a:cs typeface="Arial" pitchFamily="34" charset="-120"/>
              </a:rPr>
              <a:t>Your trades already know your biases.</a:t>
            </a:r>
            <a:endParaRPr lang="en-US" sz="3200" dirty="0"/>
          </a:p>
        </p:txBody>
      </p:sp>
      <p:sp>
        <p:nvSpPr>
          <p:cNvPr id="4" name="Text 1"/>
          <p:cNvSpPr txBox="1"/>
          <p:nvPr/>
        </p:nvSpPr>
        <p:spPr>
          <a:xfrm>
            <a:off x="822960" y="4069080"/>
            <a:ext cx="5486400" cy="731520"/>
          </a:xfrm>
          <a:prstGeom prst="rect">
            <a:avLst/>
          </a:prstGeom>
          <a:noFill/>
          <a:ln/>
        </p:spPr>
        <p:txBody>
          <a:bodyPr wrap="square" lIns="0" tIns="0" rIns="0" bIns="0" rtlCol="0" anchor="t"/>
          <a:lstStyle/>
          <a:p>
            <a:pPr indent="0" marL="0">
              <a:buNone/>
            </a:pPr>
            <a:r>
              <a:rPr lang="en-US" sz="2000" dirty="0">
                <a:solidFill>
                  <a:schemeClr val="accent1"/>
                </a:solidFill>
              </a:rPr>
              <a:t>We prove which habits to change, before your next buy.</a:t>
            </a:r>
            <a:endParaRPr lang="en-US" sz="2000" dirty="0"/>
          </a:p>
        </p:txBody>
      </p:sp>
      <p:sp>
        <p:nvSpPr>
          <p:cNvPr id="5" name="Text 2"/>
          <p:cNvSpPr txBox="1"/>
          <p:nvPr/>
        </p:nvSpPr>
        <p:spPr>
          <a:xfrm>
            <a:off x="822960" y="5029200"/>
            <a:ext cx="5486400" cy="731520"/>
          </a:xfrm>
          <a:prstGeom prst="rect">
            <a:avLst/>
          </a:prstGeom>
          <a:noFill/>
          <a:ln/>
        </p:spPr>
        <p:txBody>
          <a:bodyPr wrap="square" lIns="0" tIns="0" rIns="0" bIns="0" rtlCol="0" anchor="t"/>
          <a:lstStyle/>
          <a:p>
            <a:pPr indent="0" marL="0">
              <a:buNone/>
            </a:pPr>
            <a:r>
              <a:rPr lang="en-US" sz="1400" dirty="0">
                <a:solidFill>
                  <a:schemeClr val="bg2"/>
                </a:solidFill>
              </a:rPr>
              <a:t>FinTechathon 2026  ·  International Track</a:t>
            </a:r>
            <a:endParaRPr lang="en-US" sz="1400" dirty="0"/>
          </a:p>
          <a:p>
            <a:pPr indent="0" marL="0">
              <a:buNone/>
            </a:pPr>
            <a:r>
              <a:rPr lang="en-US" sz="1400" dirty="0">
                <a:solidFill>
                  <a:schemeClr val="bg2"/>
                </a:solidFill>
              </a:rPr>
              <a:t>Topic A: Personal Finance Assistant</a:t>
            </a:r>
            <a:endParaRPr lang="en-US" sz="1400" dirty="0"/>
          </a:p>
        </p:txBody>
      </p:sp>
      <p:sp>
        <p:nvSpPr>
          <p:cNvPr id="6" name="Trades and research screen frame"/>
          <p:cNvSpPr/>
          <p:nvPr/>
        </p:nvSpPr>
        <p:spPr>
          <a:xfrm>
            <a:off x="6638544" y="2157984"/>
            <a:ext cx="5056632" cy="2524792"/>
          </a:xfrm>
          <a:prstGeom prst="roundRect">
            <a:avLst>
              <a:gd name="adj" fmla="val 2897"/>
            </a:avLst>
          </a:prstGeom>
          <a:solidFill>
            <a:schemeClr val="accent5"/>
          </a:solidFill>
          <a:ln w="12700">
            <a:solidFill>
              <a:schemeClr val="accent5"/>
            </a:solidFill>
            <a:prstDash val="solid"/>
          </a:ln>
          <a:effectLst>
            <a:outerShdw sx="100000" sy="100000" kx="0" ky="0" algn="bl" rotWithShape="0" blurRad="152400" dist="50800" dir="5400000">
              <a:srgbClr val="000000">
                <a:alpha val="45000"/>
              </a:srgbClr>
            </a:outerShdw>
          </a:effectLst>
        </p:spPr>
      </p:sp>
      <p:sp>
        <p:nvSpPr>
          <p:cNvPr id="7" name="Trades and research screen dot"/>
          <p:cNvSpPr/>
          <p:nvPr/>
        </p:nvSpPr>
        <p:spPr>
          <a:xfrm>
            <a:off x="6766560" y="2249424"/>
            <a:ext cx="82296" cy="82296"/>
          </a:xfrm>
          <a:prstGeom prst="ellipse">
            <a:avLst/>
          </a:prstGeom>
          <a:solidFill>
            <a:schemeClr val="accent4"/>
          </a:solidFill>
          <a:ln/>
        </p:spPr>
      </p:sp>
      <p:sp>
        <p:nvSpPr>
          <p:cNvPr id="8" name="Trades and research screen dot"/>
          <p:cNvSpPr/>
          <p:nvPr/>
        </p:nvSpPr>
        <p:spPr>
          <a:xfrm>
            <a:off x="6912864" y="2249424"/>
            <a:ext cx="82296" cy="82296"/>
          </a:xfrm>
          <a:prstGeom prst="ellipse">
            <a:avLst/>
          </a:prstGeom>
          <a:solidFill>
            <a:schemeClr val="accent3"/>
          </a:solidFill>
          <a:ln/>
        </p:spPr>
      </p:sp>
      <p:sp>
        <p:nvSpPr>
          <p:cNvPr id="9" name="Trades and research screen dot"/>
          <p:cNvSpPr/>
          <p:nvPr/>
        </p:nvSpPr>
        <p:spPr>
          <a:xfrm>
            <a:off x="7059168" y="2249424"/>
            <a:ext cx="82296" cy="82296"/>
          </a:xfrm>
          <a:prstGeom prst="ellipse">
            <a:avLst/>
          </a:prstGeom>
          <a:solidFill>
            <a:schemeClr val="accent1"/>
          </a:solidFill>
          <a:ln/>
        </p:spPr>
      </p:sp>
      <p:pic>
        <p:nvPicPr>
          <p:cNvPr id="10" name="Trades and research screen" descr="Trades and research screen">    </p:cNvPr>
          <p:cNvPicPr>
            <a:picLocks noChangeAspect="1"/>
          </p:cNvPicPr>
          <p:nvPr/>
        </p:nvPicPr>
        <p:blipFill>
          <a:blip r:embed="rId2"/>
          <a:stretch>
            <a:fillRect/>
          </a:stretch>
        </p:blipFill>
        <p:spPr>
          <a:xfrm>
            <a:off x="6675120" y="2414016"/>
            <a:ext cx="4983480" cy="22321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algn="l" indent="0" marL="0">
              <a:buNone/>
            </a:pPr>
            <a:r>
              <a:rPr lang="en-US" sz="1200" b="1" spc="200" kern="0" dirty="0">
                <a:solidFill>
                  <a:schemeClr val="accent1"/>
                </a:solidFill>
              </a:rPr>
              <a:t>THE STORY</a:t>
            </a:r>
            <a:endParaRPr lang="en-US" sz="1200" dirty="0"/>
          </a:p>
        </p:txBody>
      </p:sp>
      <p:sp>
        <p:nvSpPr>
          <p:cNvPr id="3" name="Text 1"/>
          <p:cNvSpPr/>
          <p:nvPr>
            <p:ph idx="102" type="title" hasCustomPrompt="1"/>
          </p:nvPr>
        </p:nvSpPr>
        <p:spPr>
          <a:xfrm>
            <a:off x="548640" y="640080"/>
            <a:ext cx="11064240" cy="73152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Meet Alex: 140 buys and one expensive habit</a:t>
            </a:r>
            <a:endParaRPr lang="en-US" sz="3000" dirty="0"/>
          </a:p>
        </p:txBody>
      </p:sp>
      <p:sp>
        <p:nvSpPr>
          <p:cNvPr id="4" name="card"/>
          <p:cNvSpPr/>
          <p:nvPr/>
        </p:nvSpPr>
        <p:spPr>
          <a:xfrm>
            <a:off x="548640" y="1828800"/>
            <a:ext cx="3246120" cy="2148840"/>
          </a:xfrm>
          <a:prstGeom prst="roundRect">
            <a:avLst>
              <a:gd name="adj" fmla="val 5106"/>
            </a:avLst>
          </a:prstGeom>
          <a:solidFill>
            <a:schemeClr val="tx2"/>
          </a:solidFill>
          <a:ln w="12700">
            <a:solidFill>
              <a:schemeClr val="accent5"/>
            </a:solidFill>
            <a:prstDash val="solid"/>
          </a:ln>
          <a:effectLst>
            <a:outerShdw sx="100000" sy="100000" kx="0" ky="0" algn="bl" rotWithShape="0" blurRad="152400" dist="50800" dir="5400000">
              <a:srgbClr val="000000">
                <a:alpha val="45000"/>
              </a:srgbClr>
            </a:outerShdw>
          </a:effectLst>
        </p:spPr>
      </p:sp>
      <p:sp>
        <p:nvSpPr>
          <p:cNvPr id="5" name="icon circle"/>
          <p:cNvSpPr/>
          <p:nvPr/>
        </p:nvSpPr>
        <p:spPr>
          <a:xfrm>
            <a:off x="822960" y="2103120"/>
            <a:ext cx="640080" cy="640080"/>
          </a:xfrm>
          <a:prstGeom prst="ellipse">
            <a:avLst/>
          </a:prstGeom>
          <a:solidFill>
            <a:schemeClr val="accent5"/>
          </a:solidFill>
          <a:ln/>
        </p:spPr>
      </p:sp>
      <p:pic>
        <p:nvPicPr>
          <p:cNvPr id="6" name="LuTrendingUp" descr="LuTrendingUp">    </p:cNvPr>
          <p:cNvPicPr>
            <a:picLocks noChangeAspect="1"/>
          </p:cNvPicPr>
          <p:nvPr/>
        </p:nvPicPr>
        <p:blipFill>
          <a:blip r:embed="rId1"/>
          <a:stretch>
            <a:fillRect/>
          </a:stretch>
        </p:blipFill>
        <p:spPr>
          <a:xfrm>
            <a:off x="976579" y="2256739"/>
            <a:ext cx="332842" cy="332842"/>
          </a:xfrm>
          <a:prstGeom prst="rect">
            <a:avLst/>
          </a:prstGeom>
        </p:spPr>
      </p:pic>
      <p:sp>
        <p:nvSpPr>
          <p:cNvPr id="7" name="Text 4"/>
          <p:cNvSpPr txBox="1"/>
          <p:nvPr/>
        </p:nvSpPr>
        <p:spPr>
          <a:xfrm>
            <a:off x="822960" y="2880360"/>
            <a:ext cx="2697480" cy="411480"/>
          </a:xfrm>
          <a:prstGeom prst="rect">
            <a:avLst/>
          </a:prstGeom>
          <a:noFill/>
          <a:ln/>
        </p:spPr>
        <p:txBody>
          <a:bodyPr wrap="square" lIns="0" tIns="0" rIns="0" bIns="0" rtlCol="0" anchor="t"/>
          <a:lstStyle/>
          <a:p>
            <a:pPr indent="0" marL="0">
              <a:buNone/>
            </a:pPr>
            <a:r>
              <a:rPr lang="en-US" sz="1900" b="1" dirty="0">
                <a:solidFill>
                  <a:schemeClr val="bg1"/>
                </a:solidFill>
              </a:rPr>
              <a:t>A stock is up 12%</a:t>
            </a:r>
            <a:endParaRPr lang="en-US" sz="1900" dirty="0"/>
          </a:p>
        </p:txBody>
      </p:sp>
      <p:sp>
        <p:nvSpPr>
          <p:cNvPr id="8" name="Text 5"/>
          <p:cNvSpPr txBox="1"/>
          <p:nvPr/>
        </p:nvSpPr>
        <p:spPr>
          <a:xfrm>
            <a:off x="822960" y="3291840"/>
            <a:ext cx="2697480" cy="594360"/>
          </a:xfrm>
          <a:prstGeom prst="rect">
            <a:avLst/>
          </a:prstGeom>
          <a:noFill/>
          <a:ln/>
        </p:spPr>
        <p:txBody>
          <a:bodyPr wrap="square" lIns="0" tIns="0" rIns="0" bIns="0" rtlCol="0" anchor="t"/>
          <a:lstStyle/>
          <a:p>
            <a:pPr indent="0" marL="0">
              <a:buNone/>
            </a:pPr>
            <a:r>
              <a:rPr lang="en-US" sz="1400" dirty="0">
                <a:solidFill>
                  <a:schemeClr val="bg2"/>
                </a:solidFill>
              </a:rPr>
              <a:t>in the last 20 days. Everyone is talking about it.</a:t>
            </a:r>
            <a:endParaRPr lang="en-US" sz="1400" dirty="0"/>
          </a:p>
        </p:txBody>
      </p:sp>
      <p:sp>
        <p:nvSpPr>
          <p:cNvPr id="9" name="arrow"/>
          <p:cNvSpPr/>
          <p:nvPr/>
        </p:nvSpPr>
        <p:spPr>
          <a:xfrm>
            <a:off x="3867912" y="2743200"/>
            <a:ext cx="228600" cy="274320"/>
          </a:xfrm>
          <a:prstGeom prst="rightArrow">
            <a:avLst/>
          </a:prstGeom>
          <a:solidFill>
            <a:schemeClr val="bg2"/>
          </a:solidFill>
          <a:ln/>
        </p:spPr>
      </p:sp>
      <p:sp>
        <p:nvSpPr>
          <p:cNvPr id="10" name="card"/>
          <p:cNvSpPr/>
          <p:nvPr/>
        </p:nvSpPr>
        <p:spPr>
          <a:xfrm>
            <a:off x="4160520" y="1828800"/>
            <a:ext cx="3246120" cy="2148840"/>
          </a:xfrm>
          <a:prstGeom prst="roundRect">
            <a:avLst>
              <a:gd name="adj" fmla="val 5106"/>
            </a:avLst>
          </a:prstGeom>
          <a:solidFill>
            <a:schemeClr val="tx2"/>
          </a:solidFill>
          <a:ln w="12700">
            <a:solidFill>
              <a:schemeClr val="accent5"/>
            </a:solidFill>
            <a:prstDash val="solid"/>
          </a:ln>
          <a:effectLst>
            <a:outerShdw sx="100000" sy="100000" kx="0" ky="0" algn="bl" rotWithShape="0" blurRad="152400" dist="50800" dir="5400000">
              <a:srgbClr val="000000">
                <a:alpha val="45000"/>
              </a:srgbClr>
            </a:outerShdw>
          </a:effectLst>
        </p:spPr>
      </p:sp>
      <p:sp>
        <p:nvSpPr>
          <p:cNvPr id="11" name="icon circle"/>
          <p:cNvSpPr/>
          <p:nvPr/>
        </p:nvSpPr>
        <p:spPr>
          <a:xfrm>
            <a:off x="4434840" y="2103120"/>
            <a:ext cx="640080" cy="640080"/>
          </a:xfrm>
          <a:prstGeom prst="ellipse">
            <a:avLst/>
          </a:prstGeom>
          <a:solidFill>
            <a:schemeClr val="accent5"/>
          </a:solidFill>
          <a:ln/>
        </p:spPr>
      </p:sp>
      <p:pic>
        <p:nvPicPr>
          <p:cNvPr id="12" name="LuMoon" descr="LuMoon">    </p:cNvPr>
          <p:cNvPicPr>
            <a:picLocks noChangeAspect="1"/>
          </p:cNvPicPr>
          <p:nvPr/>
        </p:nvPicPr>
        <p:blipFill>
          <a:blip r:embed="rId2"/>
          <a:stretch>
            <a:fillRect/>
          </a:stretch>
        </p:blipFill>
        <p:spPr>
          <a:xfrm>
            <a:off x="4588459" y="2256739"/>
            <a:ext cx="332842" cy="332842"/>
          </a:xfrm>
          <a:prstGeom prst="rect">
            <a:avLst/>
          </a:prstGeom>
        </p:spPr>
      </p:pic>
      <p:sp>
        <p:nvSpPr>
          <p:cNvPr id="13" name="Text 9"/>
          <p:cNvSpPr txBox="1"/>
          <p:nvPr/>
        </p:nvSpPr>
        <p:spPr>
          <a:xfrm>
            <a:off x="4434840" y="2880360"/>
            <a:ext cx="2697480" cy="411480"/>
          </a:xfrm>
          <a:prstGeom prst="rect">
            <a:avLst/>
          </a:prstGeom>
          <a:noFill/>
          <a:ln/>
        </p:spPr>
        <p:txBody>
          <a:bodyPr wrap="square" lIns="0" tIns="0" rIns="0" bIns="0" rtlCol="0" anchor="t"/>
          <a:lstStyle/>
          <a:p>
            <a:pPr indent="0" marL="0">
              <a:buNone/>
            </a:pPr>
            <a:r>
              <a:rPr lang="en-US" sz="1900" b="1" dirty="0">
                <a:solidFill>
                  <a:schemeClr val="bg1"/>
                </a:solidFill>
              </a:rPr>
              <a:t>22:40, first look</a:t>
            </a:r>
            <a:endParaRPr lang="en-US" sz="1900" dirty="0"/>
          </a:p>
        </p:txBody>
      </p:sp>
      <p:sp>
        <p:nvSpPr>
          <p:cNvPr id="14" name="Text 10"/>
          <p:cNvSpPr txBox="1"/>
          <p:nvPr/>
        </p:nvSpPr>
        <p:spPr>
          <a:xfrm>
            <a:off x="4434840" y="3291840"/>
            <a:ext cx="2697480" cy="594360"/>
          </a:xfrm>
          <a:prstGeom prst="rect">
            <a:avLst/>
          </a:prstGeom>
          <a:noFill/>
          <a:ln/>
        </p:spPr>
        <p:txBody>
          <a:bodyPr wrap="square" lIns="0" tIns="0" rIns="0" bIns="0" rtlCol="0" anchor="t"/>
          <a:lstStyle/>
          <a:p>
            <a:pPr indent="0" marL="0">
              <a:buNone/>
            </a:pPr>
            <a:r>
              <a:rPr lang="en-US" sz="1400" dirty="0">
                <a:solidFill>
                  <a:schemeClr val="bg2"/>
                </a:solidFill>
              </a:rPr>
              <a:t>Alex opens it on a finance portal after work.</a:t>
            </a:r>
            <a:endParaRPr lang="en-US" sz="1400" dirty="0"/>
          </a:p>
        </p:txBody>
      </p:sp>
      <p:sp>
        <p:nvSpPr>
          <p:cNvPr id="15" name="arrow"/>
          <p:cNvSpPr/>
          <p:nvPr/>
        </p:nvSpPr>
        <p:spPr>
          <a:xfrm>
            <a:off x="7479792" y="2743200"/>
            <a:ext cx="228600" cy="274320"/>
          </a:xfrm>
          <a:prstGeom prst="rightArrow">
            <a:avLst/>
          </a:prstGeom>
          <a:solidFill>
            <a:schemeClr val="bg2"/>
          </a:solidFill>
          <a:ln/>
        </p:spPr>
      </p:sp>
      <p:sp>
        <p:nvSpPr>
          <p:cNvPr id="16" name="card"/>
          <p:cNvSpPr/>
          <p:nvPr/>
        </p:nvSpPr>
        <p:spPr>
          <a:xfrm>
            <a:off x="7772400" y="1828800"/>
            <a:ext cx="3246120" cy="2148840"/>
          </a:xfrm>
          <a:prstGeom prst="roundRect">
            <a:avLst>
              <a:gd name="adj" fmla="val 5106"/>
            </a:avLst>
          </a:prstGeom>
          <a:solidFill>
            <a:schemeClr val="tx2"/>
          </a:solidFill>
          <a:ln w="12700">
            <a:solidFill>
              <a:schemeClr val="accent5"/>
            </a:solidFill>
            <a:prstDash val="solid"/>
          </a:ln>
          <a:effectLst>
            <a:outerShdw sx="100000" sy="100000" kx="0" ky="0" algn="bl" rotWithShape="0" blurRad="152400" dist="50800" dir="5400000">
              <a:srgbClr val="000000">
                <a:alpha val="45000"/>
              </a:srgbClr>
            </a:outerShdw>
          </a:effectLst>
        </p:spPr>
      </p:sp>
      <p:sp>
        <p:nvSpPr>
          <p:cNvPr id="17" name="icon circle"/>
          <p:cNvSpPr/>
          <p:nvPr/>
        </p:nvSpPr>
        <p:spPr>
          <a:xfrm>
            <a:off x="8046720" y="2103120"/>
            <a:ext cx="640080" cy="640080"/>
          </a:xfrm>
          <a:prstGeom prst="ellipse">
            <a:avLst/>
          </a:prstGeom>
          <a:solidFill>
            <a:schemeClr val="accent5"/>
          </a:solidFill>
          <a:ln/>
        </p:spPr>
      </p:sp>
      <p:pic>
        <p:nvPicPr>
          <p:cNvPr id="18" name="LuZap" descr="LuZap">    </p:cNvPr>
          <p:cNvPicPr>
            <a:picLocks noChangeAspect="1"/>
          </p:cNvPicPr>
          <p:nvPr/>
        </p:nvPicPr>
        <p:blipFill>
          <a:blip r:embed="rId3"/>
          <a:stretch>
            <a:fillRect/>
          </a:stretch>
        </p:blipFill>
        <p:spPr>
          <a:xfrm>
            <a:off x="8200339" y="2256739"/>
            <a:ext cx="332842" cy="332842"/>
          </a:xfrm>
          <a:prstGeom prst="rect">
            <a:avLst/>
          </a:prstGeom>
        </p:spPr>
      </p:pic>
      <p:sp>
        <p:nvSpPr>
          <p:cNvPr id="19" name="Text 14"/>
          <p:cNvSpPr txBox="1"/>
          <p:nvPr/>
        </p:nvSpPr>
        <p:spPr>
          <a:xfrm>
            <a:off x="8046720" y="2880360"/>
            <a:ext cx="2697480" cy="411480"/>
          </a:xfrm>
          <a:prstGeom prst="rect">
            <a:avLst/>
          </a:prstGeom>
          <a:noFill/>
          <a:ln/>
        </p:spPr>
        <p:txBody>
          <a:bodyPr wrap="square" lIns="0" tIns="0" rIns="0" bIns="0" rtlCol="0" anchor="t"/>
          <a:lstStyle/>
          <a:p>
            <a:pPr indent="0" marL="0">
              <a:buNone/>
            </a:pPr>
            <a:r>
              <a:rPr lang="en-US" sz="1900" b="1" dirty="0">
                <a:solidFill>
                  <a:schemeClr val="bg1"/>
                </a:solidFill>
              </a:rPr>
              <a:t>Buys within the hour</a:t>
            </a:r>
            <a:endParaRPr lang="en-US" sz="1900" dirty="0"/>
          </a:p>
        </p:txBody>
      </p:sp>
      <p:sp>
        <p:nvSpPr>
          <p:cNvPr id="20" name="Text 15"/>
          <p:cNvSpPr txBox="1"/>
          <p:nvPr/>
        </p:nvSpPr>
        <p:spPr>
          <a:xfrm>
            <a:off x="8046720" y="3291840"/>
            <a:ext cx="2697480" cy="594360"/>
          </a:xfrm>
          <a:prstGeom prst="rect">
            <a:avLst/>
          </a:prstGeom>
          <a:noFill/>
          <a:ln/>
        </p:spPr>
        <p:txBody>
          <a:bodyPr wrap="square" lIns="0" tIns="0" rIns="0" bIns="0" rtlCol="0" anchor="t"/>
          <a:lstStyle/>
          <a:p>
            <a:pPr indent="0" marL="0">
              <a:buNone/>
            </a:pPr>
            <a:r>
              <a:rPr lang="en-US" sz="1400" dirty="0">
                <a:solidFill>
                  <a:schemeClr val="bg2"/>
                </a:solidFill>
              </a:rPr>
              <a:t>No second look, no plan, size above the usual.</a:t>
            </a:r>
            <a:endParaRPr lang="en-US" sz="1400" dirty="0"/>
          </a:p>
        </p:txBody>
      </p:sp>
      <p:sp>
        <p:nvSpPr>
          <p:cNvPr id="21" name="card"/>
          <p:cNvSpPr/>
          <p:nvPr/>
        </p:nvSpPr>
        <p:spPr>
          <a:xfrm>
            <a:off x="548640" y="4343400"/>
            <a:ext cx="11109960" cy="1691640"/>
          </a:xfrm>
          <a:prstGeom prst="roundRect">
            <a:avLst>
              <a:gd name="adj" fmla="val 6486"/>
            </a:avLst>
          </a:prstGeom>
          <a:solidFill>
            <a:schemeClr val="tx2"/>
          </a:solidFill>
          <a:ln w="12700">
            <a:solidFill>
              <a:schemeClr val="accent5"/>
            </a:solidFill>
            <a:prstDash val="solid"/>
          </a:ln>
          <a:effectLst>
            <a:outerShdw sx="100000" sy="100000" kx="0" ky="0" algn="bl" rotWithShape="0" blurRad="152400" dist="50800" dir="5400000">
              <a:srgbClr val="000000">
                <a:alpha val="45000"/>
              </a:srgbClr>
            </a:outerShdw>
          </a:effectLst>
        </p:spPr>
      </p:sp>
      <p:sp>
        <p:nvSpPr>
          <p:cNvPr id="22" name="Text 17"/>
          <p:cNvSpPr txBox="1"/>
          <p:nvPr/>
        </p:nvSpPr>
        <p:spPr>
          <a:xfrm>
            <a:off x="914400" y="4526280"/>
            <a:ext cx="2743200" cy="914400"/>
          </a:xfrm>
          <a:prstGeom prst="rect">
            <a:avLst/>
          </a:prstGeom>
          <a:noFill/>
          <a:ln/>
        </p:spPr>
        <p:txBody>
          <a:bodyPr wrap="square" lIns="0" tIns="0" rIns="0" bIns="0" rtlCol="0" anchor="t"/>
          <a:lstStyle/>
          <a:p>
            <a:pPr indent="0" marL="0">
              <a:buNone/>
            </a:pPr>
            <a:r>
              <a:rPr lang="en-US" sz="6000" b="1" dirty="0">
                <a:solidFill>
                  <a:schemeClr val="accent4"/>
                </a:solidFill>
                <a:latin typeface="Arial" pitchFamily="34" charset="0"/>
                <a:ea typeface="Arial" pitchFamily="34" charset="-122"/>
                <a:cs typeface="Arial" pitchFamily="34" charset="-120"/>
              </a:rPr>
              <a:t>-7 pts</a:t>
            </a:r>
            <a:endParaRPr lang="en-US" sz="6000" dirty="0"/>
          </a:p>
        </p:txBody>
      </p:sp>
      <p:sp>
        <p:nvSpPr>
          <p:cNvPr id="23" name="Text 18"/>
          <p:cNvSpPr txBox="1"/>
          <p:nvPr/>
        </p:nvSpPr>
        <p:spPr>
          <a:xfrm>
            <a:off x="914400" y="5440680"/>
            <a:ext cx="3108960" cy="365760"/>
          </a:xfrm>
          <a:prstGeom prst="rect">
            <a:avLst/>
          </a:prstGeom>
          <a:noFill/>
          <a:ln/>
        </p:spPr>
        <p:txBody>
          <a:bodyPr wrap="square" lIns="0" tIns="0" rIns="0" bIns="0" rtlCol="0" anchor="t"/>
          <a:lstStyle/>
          <a:p>
            <a:pPr indent="0" marL="0">
              <a:buNone/>
            </a:pPr>
            <a:r>
              <a:rPr lang="en-US" sz="1300" dirty="0">
                <a:solidFill>
                  <a:schemeClr val="bg2"/>
                </a:solidFill>
              </a:rPr>
              <a:t>vs the NASDAQ, one month later</a:t>
            </a:r>
            <a:endParaRPr lang="en-US" sz="1300" dirty="0"/>
          </a:p>
        </p:txBody>
      </p:sp>
      <p:sp>
        <p:nvSpPr>
          <p:cNvPr id="24" name="Text 19"/>
          <p:cNvSpPr txBox="1"/>
          <p:nvPr/>
        </p:nvSpPr>
        <p:spPr>
          <a:xfrm>
            <a:off x="4206240" y="4572000"/>
            <a:ext cx="7132320" cy="1280160"/>
          </a:xfrm>
          <a:prstGeom prst="rect">
            <a:avLst/>
          </a:prstGeom>
          <a:noFill/>
          <a:ln/>
        </p:spPr>
        <p:txBody>
          <a:bodyPr wrap="square" lIns="0" tIns="0" rIns="0" bIns="0" rtlCol="0" anchor="t"/>
          <a:lstStyle/>
          <a:p>
            <a:pPr indent="0" marL="0">
              <a:spcAft>
                <a:spcPts val="400"/>
              </a:spcAft>
              <a:buNone/>
            </a:pPr>
            <a:r>
              <a:rPr lang="en-US" sz="2000" b="1" dirty="0">
                <a:solidFill>
                  <a:schemeClr val="bg1"/>
                </a:solidFill>
              </a:rPr>
              <a:t>Alex never sees the pattern.</a:t>
            </a:r>
            <a:endParaRPr lang="en-US" sz="1500" dirty="0"/>
          </a:p>
          <a:p>
            <a:pPr indent="0" marL="0">
              <a:spcAft>
                <a:spcPts val="400"/>
              </a:spcAft>
              <a:buNone/>
            </a:pPr>
            <a:r>
              <a:rPr lang="en-US" sz="1500" dirty="0">
                <a:solidFill>
                  <a:schemeClr val="bg2"/>
                </a:solidFill>
              </a:rPr>
              <a:t>Each trade feels like a fresh decision. Only the full trail shows that following run-up before a buy costs dearly the following month.</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algn="l" indent="0" marL="0">
              <a:buNone/>
            </a:pPr>
            <a:r>
              <a:rPr lang="en-US" sz="1200" b="1" spc="200" kern="0" dirty="0">
                <a:solidFill>
                  <a:schemeClr val="accent1"/>
                </a:solidFill>
              </a:rPr>
              <a:t>THE GAP</a:t>
            </a:r>
            <a:endParaRPr lang="en-US" sz="1200" dirty="0"/>
          </a:p>
        </p:txBody>
      </p:sp>
      <p:sp>
        <p:nvSpPr>
          <p:cNvPr id="3" name="Text 1"/>
          <p:cNvSpPr/>
          <p:nvPr>
            <p:ph idx="102" type="title" hasCustomPrompt="1"/>
          </p:nvPr>
        </p:nvSpPr>
        <p:spPr>
          <a:xfrm>
            <a:off x="548640" y="640080"/>
            <a:ext cx="11064240" cy="73152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Every tool tells you what to buy. None checks how you buy</a:t>
            </a:r>
            <a:endParaRPr lang="en-US" sz="3000" dirty="0"/>
          </a:p>
        </p:txBody>
      </p:sp>
      <p:sp>
        <p:nvSpPr>
          <p:cNvPr id="4" name="card"/>
          <p:cNvSpPr/>
          <p:nvPr/>
        </p:nvSpPr>
        <p:spPr>
          <a:xfrm>
            <a:off x="548640" y="1691640"/>
            <a:ext cx="5120640" cy="3017520"/>
          </a:xfrm>
          <a:prstGeom prst="roundRect">
            <a:avLst>
              <a:gd name="adj" fmla="val 3636"/>
            </a:avLst>
          </a:prstGeom>
          <a:solidFill>
            <a:schemeClr val="tx2"/>
          </a:solidFill>
          <a:ln w="12700">
            <a:solidFill>
              <a:schemeClr val="accent5"/>
            </a:solidFill>
            <a:prstDash val="solid"/>
          </a:ln>
          <a:effectLst>
            <a:outerShdw sx="100000" sy="100000" kx="0" ky="0" algn="bl" rotWithShape="0" blurRad="152400" dist="50800" dir="5400000">
              <a:srgbClr val="000000">
                <a:alpha val="45000"/>
              </a:srgbClr>
            </a:outerShdw>
          </a:effectLst>
        </p:spPr>
      </p:sp>
      <p:sp>
        <p:nvSpPr>
          <p:cNvPr id="5" name="Text 3"/>
          <p:cNvSpPr txBox="1"/>
          <p:nvPr/>
        </p:nvSpPr>
        <p:spPr>
          <a:xfrm>
            <a:off x="868680" y="1920240"/>
            <a:ext cx="4572000" cy="365760"/>
          </a:xfrm>
          <a:prstGeom prst="rect">
            <a:avLst/>
          </a:prstGeom>
          <a:noFill/>
          <a:ln/>
        </p:spPr>
        <p:txBody>
          <a:bodyPr wrap="square" lIns="0" tIns="0" rIns="0" bIns="0" rtlCol="0" anchor="t"/>
          <a:lstStyle/>
          <a:p>
            <a:pPr indent="0" marL="0">
              <a:buNone/>
            </a:pPr>
            <a:r>
              <a:rPr lang="en-US" sz="1800" b="1" dirty="0">
                <a:solidFill>
                  <a:schemeClr val="bg2"/>
                </a:solidFill>
              </a:rPr>
              <a:t>What investors get today</a:t>
            </a:r>
            <a:endParaRPr lang="en-US" sz="1800" dirty="0"/>
          </a:p>
        </p:txBody>
      </p:sp>
      <p:sp>
        <p:nvSpPr>
          <p:cNvPr id="6" name="Text 4"/>
          <p:cNvSpPr txBox="1"/>
          <p:nvPr/>
        </p:nvSpPr>
        <p:spPr>
          <a:xfrm>
            <a:off x="868680" y="2423160"/>
            <a:ext cx="4572000" cy="237744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bg1"/>
                </a:solidFill>
              </a:rPr>
              <a:t>Screeners and stock signals</a:t>
            </a:r>
            <a:endParaRPr lang="en-US" sz="1700" dirty="0"/>
          </a:p>
          <a:p>
            <a:pPr marL="342900" indent="-342900">
              <a:spcAft>
                <a:spcPts val="1200"/>
              </a:spcAft>
              <a:buSzPct val="100000"/>
              <a:buChar char="•"/>
            </a:pPr>
            <a:r>
              <a:rPr lang="en-US" sz="1700" dirty="0">
                <a:solidFill>
                  <a:schemeClr val="bg1"/>
                </a:solidFill>
              </a:rPr>
              <a:t>Price targets and news feeds</a:t>
            </a:r>
            <a:endParaRPr lang="en-US" sz="1700" dirty="0"/>
          </a:p>
          <a:p>
            <a:pPr marL="342900" indent="-342900">
              <a:spcAft>
                <a:spcPts val="1200"/>
              </a:spcAft>
              <a:buSzPct val="100000"/>
              <a:buChar char="•"/>
            </a:pPr>
            <a:r>
              <a:rPr lang="en-US" sz="1700" dirty="0">
                <a:solidFill>
                  <a:schemeClr val="bg1"/>
                </a:solidFill>
              </a:rPr>
              <a:t>Robo-advice and chatbots</a:t>
            </a:r>
            <a:endParaRPr lang="en-US" sz="1700" dirty="0"/>
          </a:p>
          <a:p>
            <a:pPr marL="342900" indent="-342900">
              <a:spcAft>
                <a:spcPts val="1200"/>
              </a:spcAft>
              <a:buSzPct val="100000"/>
              <a:buChar char="•"/>
            </a:pPr>
            <a:r>
              <a:rPr lang="en-US" sz="1700" dirty="0">
                <a:solidFill>
                  <a:schemeClr val="bg1"/>
                </a:solidFill>
              </a:rPr>
              <a:t>Opinions about the market</a:t>
            </a:r>
            <a:endParaRPr lang="en-US" sz="1700" dirty="0"/>
          </a:p>
        </p:txBody>
      </p:sp>
      <p:sp>
        <p:nvSpPr>
          <p:cNvPr id="7" name="card"/>
          <p:cNvSpPr/>
          <p:nvPr/>
        </p:nvSpPr>
        <p:spPr>
          <a:xfrm>
            <a:off x="6035040" y="1691640"/>
            <a:ext cx="5623560" cy="3017520"/>
          </a:xfrm>
          <a:prstGeom prst="roundRect">
            <a:avLst>
              <a:gd name="adj" fmla="val 3636"/>
            </a:avLst>
          </a:prstGeom>
          <a:solidFill>
            <a:srgbClr val="1B2A26"/>
          </a:solidFill>
          <a:ln w="12700">
            <a:solidFill>
              <a:schemeClr val="accent1"/>
            </a:solidFill>
            <a:prstDash val="solid"/>
          </a:ln>
          <a:effectLst>
            <a:outerShdw sx="100000" sy="100000" kx="0" ky="0" algn="bl" rotWithShape="0" blurRad="152400" dist="50800" dir="5400000">
              <a:srgbClr val="000000">
                <a:alpha val="45000"/>
              </a:srgbClr>
            </a:outerShdw>
          </a:effectLst>
        </p:spPr>
      </p:sp>
      <p:sp>
        <p:nvSpPr>
          <p:cNvPr id="8" name="Text 6"/>
          <p:cNvSpPr txBox="1"/>
          <p:nvPr/>
        </p:nvSpPr>
        <p:spPr>
          <a:xfrm>
            <a:off x="6355080" y="1920240"/>
            <a:ext cx="5120640" cy="365760"/>
          </a:xfrm>
          <a:prstGeom prst="rect">
            <a:avLst/>
          </a:prstGeom>
          <a:noFill/>
          <a:ln/>
        </p:spPr>
        <p:txBody>
          <a:bodyPr wrap="square" lIns="0" tIns="0" rIns="0" bIns="0" rtlCol="0" anchor="t"/>
          <a:lstStyle/>
          <a:p>
            <a:pPr indent="0" marL="0">
              <a:buNone/>
            </a:pPr>
            <a:r>
              <a:rPr lang="en-US" sz="1800" b="1" dirty="0">
                <a:solidFill>
                  <a:schemeClr val="accent1"/>
                </a:solidFill>
              </a:rPr>
              <a:t>What is missing: evidence about you</a:t>
            </a:r>
            <a:endParaRPr lang="en-US" sz="1800" dirty="0"/>
          </a:p>
        </p:txBody>
      </p:sp>
      <p:sp>
        <p:nvSpPr>
          <p:cNvPr id="9" name="Text 7"/>
          <p:cNvSpPr txBox="1"/>
          <p:nvPr/>
        </p:nvSpPr>
        <p:spPr>
          <a:xfrm>
            <a:off x="6355080" y="2423160"/>
            <a:ext cx="5120640" cy="237744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bg1"/>
                </a:solidFill>
              </a:rPr>
              <a:t>What you researched, and for how long</a:t>
            </a:r>
            <a:endParaRPr lang="en-US" sz="1700" dirty="0"/>
          </a:p>
          <a:p>
            <a:pPr marL="342900" indent="-342900">
              <a:spcAft>
                <a:spcPts val="1200"/>
              </a:spcAft>
              <a:buSzPct val="100000"/>
              <a:buChar char="•"/>
            </a:pPr>
            <a:r>
              <a:rPr lang="en-US" sz="1700" dirty="0">
                <a:solidFill>
                  <a:schemeClr val="bg1"/>
                </a:solidFill>
              </a:rPr>
              <a:t>When and how you actually bought</a:t>
            </a:r>
            <a:endParaRPr lang="en-US" sz="1700" dirty="0"/>
          </a:p>
          <a:p>
            <a:pPr marL="342900" indent="-342900">
              <a:spcAft>
                <a:spcPts val="1200"/>
              </a:spcAft>
              <a:buSzPct val="100000"/>
              <a:buChar char="•"/>
            </a:pPr>
            <a:r>
              <a:rPr lang="en-US" sz="1700" dirty="0">
                <a:solidFill>
                  <a:schemeClr val="bg1"/>
                </a:solidFill>
              </a:rPr>
              <a:t>Which habit cost you, measured</a:t>
            </a:r>
            <a:endParaRPr lang="en-US" sz="1700" dirty="0"/>
          </a:p>
          <a:p>
            <a:pPr marL="342900" indent="-342900">
              <a:spcAft>
                <a:spcPts val="1200"/>
              </a:spcAft>
              <a:buSzPct val="100000"/>
              <a:buChar char="•"/>
            </a:pPr>
            <a:r>
              <a:rPr lang="en-US" sz="1700" dirty="0">
                <a:solidFill>
                  <a:schemeClr val="bg1"/>
                </a:solidFill>
              </a:rPr>
              <a:t>Whether a fix works, before you rely on it</a:t>
            </a:r>
            <a:endParaRPr lang="en-US" sz="1700" dirty="0"/>
          </a:p>
        </p:txBody>
      </p:sp>
      <p:sp>
        <p:nvSpPr>
          <p:cNvPr id="10" name="Text 8"/>
          <p:cNvSpPr txBox="1"/>
          <p:nvPr/>
        </p:nvSpPr>
        <p:spPr>
          <a:xfrm>
            <a:off x="548640" y="5120640"/>
            <a:ext cx="11064240" cy="822960"/>
          </a:xfrm>
          <a:prstGeom prst="rect">
            <a:avLst/>
          </a:prstGeom>
          <a:noFill/>
          <a:ln/>
        </p:spPr>
        <p:txBody>
          <a:bodyPr wrap="square" lIns="0" tIns="0" rIns="0" bIns="0" rtlCol="0" anchor="t"/>
          <a:lstStyle/>
          <a:p>
            <a:pPr algn="ctr" indent="0" marL="0">
              <a:buNone/>
            </a:pPr>
            <a:r>
              <a:rPr lang="en-US" sz="2000" i="1" dirty="0">
                <a:solidFill>
                  <a:schemeClr val="bg1"/>
                </a:solidFill>
              </a:rPr>
              <a:t>“The investor’s chief problem, and even his worst enemy, is likely to be himself.”</a:t>
            </a:r>
            <a:endParaRPr lang="en-US" sz="2000" dirty="0"/>
          </a:p>
          <a:p>
            <a:pPr algn="ctr" indent="0" marL="0">
              <a:buNone/>
            </a:pPr>
            <a:r>
              <a:rPr lang="en-US" sz="1200" dirty="0">
                <a:solidFill>
                  <a:schemeClr val="bg2"/>
                </a:solidFill>
              </a:rPr>
              <a:t>Benjamin Graham, The Intelligent Investor</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algn="l" indent="0" marL="0">
              <a:buNone/>
            </a:pPr>
            <a:r>
              <a:rPr lang="en-US" sz="1200" b="1" spc="200" kern="0" dirty="0">
                <a:solidFill>
                  <a:schemeClr val="accent1"/>
                </a:solidFill>
              </a:rPr>
              <a:t>WHAT IS NEW</a:t>
            </a:r>
            <a:endParaRPr lang="en-US" sz="1200" dirty="0"/>
          </a:p>
        </p:txBody>
      </p:sp>
      <p:sp>
        <p:nvSpPr>
          <p:cNvPr id="3" name="Text 1"/>
          <p:cNvSpPr/>
          <p:nvPr>
            <p:ph idx="102" type="title" hasCustomPrompt="1"/>
          </p:nvPr>
        </p:nvSpPr>
        <p:spPr>
          <a:xfrm>
            <a:off x="548640" y="640080"/>
            <a:ext cx="11064240" cy="73152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Four ideas that make Stocktrails different</a:t>
            </a:r>
            <a:endParaRPr lang="en-US" sz="3000" dirty="0"/>
          </a:p>
        </p:txBody>
      </p:sp>
      <p:sp>
        <p:nvSpPr>
          <p:cNvPr id="4" name="card"/>
          <p:cNvSpPr/>
          <p:nvPr/>
        </p:nvSpPr>
        <p:spPr>
          <a:xfrm>
            <a:off x="548640" y="1691640"/>
            <a:ext cx="5486400" cy="1554480"/>
          </a:xfrm>
          <a:prstGeom prst="roundRect">
            <a:avLst>
              <a:gd name="adj" fmla="val 7059"/>
            </a:avLst>
          </a:prstGeom>
          <a:solidFill>
            <a:schemeClr val="tx2"/>
          </a:solidFill>
          <a:ln w="12700">
            <a:solidFill>
              <a:schemeClr val="accent5"/>
            </a:solidFill>
            <a:prstDash val="solid"/>
          </a:ln>
          <a:effectLst>
            <a:outerShdw sx="100000" sy="100000" kx="0" ky="0" algn="bl" rotWithShape="0" blurRad="152400" dist="50800" dir="5400000">
              <a:srgbClr val="000000">
                <a:alpha val="45000"/>
              </a:srgbClr>
            </a:outerShdw>
          </a:effectLst>
        </p:spPr>
      </p:sp>
      <p:sp>
        <p:nvSpPr>
          <p:cNvPr id="5" name="icon circle"/>
          <p:cNvSpPr/>
          <p:nvPr/>
        </p:nvSpPr>
        <p:spPr>
          <a:xfrm>
            <a:off x="822960" y="1965960"/>
            <a:ext cx="640080" cy="640080"/>
          </a:xfrm>
          <a:prstGeom prst="ellipse">
            <a:avLst/>
          </a:prstGeom>
          <a:solidFill>
            <a:schemeClr val="accent5"/>
          </a:solidFill>
          <a:ln/>
        </p:spPr>
      </p:sp>
      <p:pic>
        <p:nvPicPr>
          <p:cNvPr id="6" name="LuEye" descr="LuEye">    </p:cNvPr>
          <p:cNvPicPr>
            <a:picLocks noChangeAspect="1"/>
          </p:cNvPicPr>
          <p:nvPr/>
        </p:nvPicPr>
        <p:blipFill>
          <a:blip r:embed="rId1"/>
          <a:stretch>
            <a:fillRect/>
          </a:stretch>
        </p:blipFill>
        <p:spPr>
          <a:xfrm>
            <a:off x="976579" y="2119579"/>
            <a:ext cx="332842" cy="332842"/>
          </a:xfrm>
          <a:prstGeom prst="rect">
            <a:avLst/>
          </a:prstGeom>
        </p:spPr>
      </p:pic>
      <p:sp>
        <p:nvSpPr>
          <p:cNvPr id="7" name="Text 4"/>
          <p:cNvSpPr txBox="1"/>
          <p:nvPr/>
        </p:nvSpPr>
        <p:spPr>
          <a:xfrm>
            <a:off x="1664208" y="1947672"/>
            <a:ext cx="4187952" cy="1188720"/>
          </a:xfrm>
          <a:prstGeom prst="rect">
            <a:avLst/>
          </a:prstGeom>
          <a:noFill/>
          <a:ln/>
        </p:spPr>
        <p:txBody>
          <a:bodyPr wrap="square" lIns="0" tIns="0" rIns="0" bIns="0" rtlCol="0" anchor="t"/>
          <a:lstStyle/>
          <a:p>
            <a:pPr indent="0" marL="0">
              <a:spcAft>
                <a:spcPts val="300"/>
              </a:spcAft>
              <a:buNone/>
            </a:pPr>
            <a:r>
              <a:rPr lang="en-US" sz="1700" b="1" dirty="0">
                <a:solidFill>
                  <a:schemeClr val="bg1"/>
                </a:solidFill>
              </a:rPr>
              <a:t>Attention becomes data</a:t>
            </a:r>
            <a:endParaRPr lang="en-US" sz="1500" dirty="0"/>
          </a:p>
          <a:p>
            <a:pPr indent="0" marL="0">
              <a:spcAft>
                <a:spcPts val="300"/>
              </a:spcAft>
              <a:buNone/>
            </a:pPr>
            <a:r>
              <a:rPr lang="en-US" sz="1400" dirty="0">
                <a:solidFill>
                  <a:schemeClr val="bg2"/>
                </a:solidFill>
              </a:rPr>
              <a:t>Every stock you research on 15+ finance portals is captured automatically and joined to the trades you import.</a:t>
            </a:r>
            <a:endParaRPr lang="en-US" sz="1500" dirty="0"/>
          </a:p>
        </p:txBody>
      </p:sp>
      <p:sp>
        <p:nvSpPr>
          <p:cNvPr id="8" name="card"/>
          <p:cNvSpPr/>
          <p:nvPr/>
        </p:nvSpPr>
        <p:spPr>
          <a:xfrm>
            <a:off x="6172200" y="1691640"/>
            <a:ext cx="5486400" cy="1554480"/>
          </a:xfrm>
          <a:prstGeom prst="roundRect">
            <a:avLst>
              <a:gd name="adj" fmla="val 7059"/>
            </a:avLst>
          </a:prstGeom>
          <a:solidFill>
            <a:schemeClr val="tx2"/>
          </a:solidFill>
          <a:ln w="12700">
            <a:solidFill>
              <a:schemeClr val="accent5"/>
            </a:solidFill>
            <a:prstDash val="solid"/>
          </a:ln>
          <a:effectLst>
            <a:outerShdw sx="100000" sy="100000" kx="0" ky="0" algn="bl" rotWithShape="0" blurRad="152400" dist="50800" dir="5400000">
              <a:srgbClr val="000000">
                <a:alpha val="45000"/>
              </a:srgbClr>
            </a:outerShdw>
          </a:effectLst>
        </p:spPr>
      </p:sp>
      <p:sp>
        <p:nvSpPr>
          <p:cNvPr id="9" name="icon circle"/>
          <p:cNvSpPr/>
          <p:nvPr/>
        </p:nvSpPr>
        <p:spPr>
          <a:xfrm>
            <a:off x="6446520" y="1965960"/>
            <a:ext cx="640080" cy="640080"/>
          </a:xfrm>
          <a:prstGeom prst="ellipse">
            <a:avLst/>
          </a:prstGeom>
          <a:solidFill>
            <a:schemeClr val="accent5"/>
          </a:solidFill>
          <a:ln/>
        </p:spPr>
      </p:sp>
      <p:pic>
        <p:nvPicPr>
          <p:cNvPr id="10" name="LuFlaskConical" descr="LuFlaskConical">    </p:cNvPr>
          <p:cNvPicPr>
            <a:picLocks noChangeAspect="1"/>
          </p:cNvPicPr>
          <p:nvPr/>
        </p:nvPicPr>
        <p:blipFill>
          <a:blip r:embed="rId2"/>
          <a:stretch>
            <a:fillRect/>
          </a:stretch>
        </p:blipFill>
        <p:spPr>
          <a:xfrm>
            <a:off x="6600139" y="2119579"/>
            <a:ext cx="332842" cy="332842"/>
          </a:xfrm>
          <a:prstGeom prst="rect">
            <a:avLst/>
          </a:prstGeom>
        </p:spPr>
      </p:pic>
      <p:sp>
        <p:nvSpPr>
          <p:cNvPr id="11" name="Text 7"/>
          <p:cNvSpPr txBox="1"/>
          <p:nvPr/>
        </p:nvSpPr>
        <p:spPr>
          <a:xfrm>
            <a:off x="7287768" y="1947672"/>
            <a:ext cx="4187952" cy="1188720"/>
          </a:xfrm>
          <a:prstGeom prst="rect">
            <a:avLst/>
          </a:prstGeom>
          <a:noFill/>
          <a:ln/>
        </p:spPr>
        <p:txBody>
          <a:bodyPr wrap="square" lIns="0" tIns="0" rIns="0" bIns="0" rtlCol="0" anchor="t"/>
          <a:lstStyle/>
          <a:p>
            <a:pPr indent="0" marL="0">
              <a:spcAft>
                <a:spcPts val="300"/>
              </a:spcAft>
              <a:buNone/>
            </a:pPr>
            <a:r>
              <a:rPr lang="en-US" sz="1700" b="1" dirty="0">
                <a:solidFill>
                  <a:schemeClr val="bg1"/>
                </a:solidFill>
              </a:rPr>
              <a:t>Proof on unseen trades</a:t>
            </a:r>
            <a:endParaRPr lang="en-US" sz="1500" dirty="0"/>
          </a:p>
          <a:p>
            <a:pPr indent="0" marL="0">
              <a:spcAft>
                <a:spcPts val="300"/>
              </a:spcAft>
              <a:buNone/>
            </a:pPr>
            <a:r>
              <a:rPr lang="en-US" sz="1400" dirty="0">
                <a:solidFill>
                  <a:schemeClr val="bg2"/>
                </a:solidFill>
              </a:rPr>
              <a:t>A rule is fitted on your past and must hold up on later trades it never saw before we recommend it.</a:t>
            </a:r>
            <a:endParaRPr lang="en-US" sz="1500" dirty="0"/>
          </a:p>
        </p:txBody>
      </p:sp>
      <p:sp>
        <p:nvSpPr>
          <p:cNvPr id="12" name="card"/>
          <p:cNvSpPr/>
          <p:nvPr/>
        </p:nvSpPr>
        <p:spPr>
          <a:xfrm>
            <a:off x="548640" y="3429000"/>
            <a:ext cx="5486400" cy="1554480"/>
          </a:xfrm>
          <a:prstGeom prst="roundRect">
            <a:avLst>
              <a:gd name="adj" fmla="val 7059"/>
            </a:avLst>
          </a:prstGeom>
          <a:solidFill>
            <a:schemeClr val="tx2"/>
          </a:solidFill>
          <a:ln w="12700">
            <a:solidFill>
              <a:schemeClr val="accent5"/>
            </a:solidFill>
            <a:prstDash val="solid"/>
          </a:ln>
          <a:effectLst>
            <a:outerShdw sx="100000" sy="100000" kx="0" ky="0" algn="bl" rotWithShape="0" blurRad="152400" dist="50800" dir="5400000">
              <a:srgbClr val="000000">
                <a:alpha val="45000"/>
              </a:srgbClr>
            </a:outerShdw>
          </a:effectLst>
        </p:spPr>
      </p:sp>
      <p:sp>
        <p:nvSpPr>
          <p:cNvPr id="13" name="icon circle"/>
          <p:cNvSpPr/>
          <p:nvPr/>
        </p:nvSpPr>
        <p:spPr>
          <a:xfrm>
            <a:off x="822960" y="3703320"/>
            <a:ext cx="640080" cy="640080"/>
          </a:xfrm>
          <a:prstGeom prst="ellipse">
            <a:avLst/>
          </a:prstGeom>
          <a:solidFill>
            <a:schemeClr val="accent5"/>
          </a:solidFill>
          <a:ln/>
        </p:spPr>
      </p:sp>
      <p:pic>
        <p:nvPicPr>
          <p:cNvPr id="14" name="LuBrain" descr="LuBrain">    </p:cNvPr>
          <p:cNvPicPr>
            <a:picLocks noChangeAspect="1"/>
          </p:cNvPicPr>
          <p:nvPr/>
        </p:nvPicPr>
        <p:blipFill>
          <a:blip r:embed="rId3"/>
          <a:stretch>
            <a:fillRect/>
          </a:stretch>
        </p:blipFill>
        <p:spPr>
          <a:xfrm>
            <a:off x="976579" y="3856939"/>
            <a:ext cx="332842" cy="332842"/>
          </a:xfrm>
          <a:prstGeom prst="rect">
            <a:avLst/>
          </a:prstGeom>
        </p:spPr>
      </p:pic>
      <p:sp>
        <p:nvSpPr>
          <p:cNvPr id="15" name="Text 10"/>
          <p:cNvSpPr txBox="1"/>
          <p:nvPr/>
        </p:nvSpPr>
        <p:spPr>
          <a:xfrm>
            <a:off x="1664208" y="3685032"/>
            <a:ext cx="4187952" cy="1188720"/>
          </a:xfrm>
          <a:prstGeom prst="rect">
            <a:avLst/>
          </a:prstGeom>
          <a:noFill/>
          <a:ln/>
        </p:spPr>
        <p:txBody>
          <a:bodyPr wrap="square" lIns="0" tIns="0" rIns="0" bIns="0" rtlCol="0" anchor="t"/>
          <a:lstStyle/>
          <a:p>
            <a:pPr indent="0" marL="0">
              <a:spcAft>
                <a:spcPts val="300"/>
              </a:spcAft>
              <a:buNone/>
            </a:pPr>
            <a:r>
              <a:rPr lang="en-US" sz="1700" b="1" dirty="0">
                <a:solidFill>
                  <a:schemeClr val="bg1"/>
                </a:solidFill>
              </a:rPr>
              <a:t>Statistics find, AI decides</a:t>
            </a:r>
            <a:endParaRPr lang="en-US" sz="1500" dirty="0"/>
          </a:p>
          <a:p>
            <a:pPr indent="0" marL="0">
              <a:spcAft>
                <a:spcPts val="300"/>
              </a:spcAft>
              <a:buNone/>
            </a:pPr>
            <a:r>
              <a:rPr lang="en-US" sz="1400" dirty="0">
                <a:solidFill>
                  <a:schemeClr val="bg2"/>
                </a:solidFill>
              </a:rPr>
              <a:t>Statistics prove which habits are real. Then an AI agent decides every live moment next to you, saved once and judged by time.</a:t>
            </a:r>
            <a:endParaRPr lang="en-US" sz="1500" dirty="0"/>
          </a:p>
        </p:txBody>
      </p:sp>
      <p:sp>
        <p:nvSpPr>
          <p:cNvPr id="16" name="card"/>
          <p:cNvSpPr/>
          <p:nvPr/>
        </p:nvSpPr>
        <p:spPr>
          <a:xfrm>
            <a:off x="6172200" y="3429000"/>
            <a:ext cx="5486400" cy="1554480"/>
          </a:xfrm>
          <a:prstGeom prst="roundRect">
            <a:avLst>
              <a:gd name="adj" fmla="val 7059"/>
            </a:avLst>
          </a:prstGeom>
          <a:solidFill>
            <a:schemeClr val="tx2"/>
          </a:solidFill>
          <a:ln w="12700">
            <a:solidFill>
              <a:schemeClr val="accent5"/>
            </a:solidFill>
            <a:prstDash val="solid"/>
          </a:ln>
          <a:effectLst>
            <a:outerShdw sx="100000" sy="100000" kx="0" ky="0" algn="bl" rotWithShape="0" blurRad="152400" dist="50800" dir="5400000">
              <a:srgbClr val="000000">
                <a:alpha val="45000"/>
              </a:srgbClr>
            </a:outerShdw>
          </a:effectLst>
        </p:spPr>
      </p:sp>
      <p:sp>
        <p:nvSpPr>
          <p:cNvPr id="17" name="icon circle"/>
          <p:cNvSpPr/>
          <p:nvPr/>
        </p:nvSpPr>
        <p:spPr>
          <a:xfrm>
            <a:off x="6446520" y="3703320"/>
            <a:ext cx="640080" cy="640080"/>
          </a:xfrm>
          <a:prstGeom prst="ellipse">
            <a:avLst/>
          </a:prstGeom>
          <a:solidFill>
            <a:schemeClr val="accent5"/>
          </a:solidFill>
          <a:ln/>
        </p:spPr>
      </p:sp>
      <p:pic>
        <p:nvPicPr>
          <p:cNvPr id="18" name="LuLock" descr="LuLock">    </p:cNvPr>
          <p:cNvPicPr>
            <a:picLocks noChangeAspect="1"/>
          </p:cNvPicPr>
          <p:nvPr/>
        </p:nvPicPr>
        <p:blipFill>
          <a:blip r:embed="rId4"/>
          <a:stretch>
            <a:fillRect/>
          </a:stretch>
        </p:blipFill>
        <p:spPr>
          <a:xfrm>
            <a:off x="6600139" y="3856939"/>
            <a:ext cx="332842" cy="332842"/>
          </a:xfrm>
          <a:prstGeom prst="rect">
            <a:avLst/>
          </a:prstGeom>
        </p:spPr>
      </p:pic>
      <p:sp>
        <p:nvSpPr>
          <p:cNvPr id="19" name="Text 13"/>
          <p:cNvSpPr txBox="1"/>
          <p:nvPr/>
        </p:nvSpPr>
        <p:spPr>
          <a:xfrm>
            <a:off x="7287768" y="3685032"/>
            <a:ext cx="4187952" cy="1188720"/>
          </a:xfrm>
          <a:prstGeom prst="rect">
            <a:avLst/>
          </a:prstGeom>
          <a:noFill/>
          <a:ln/>
        </p:spPr>
        <p:txBody>
          <a:bodyPr wrap="square" lIns="0" tIns="0" rIns="0" bIns="0" rtlCol="0" anchor="t"/>
          <a:lstStyle/>
          <a:p>
            <a:pPr indent="0" marL="0">
              <a:spcAft>
                <a:spcPts val="300"/>
              </a:spcAft>
              <a:buNone/>
            </a:pPr>
            <a:r>
              <a:rPr lang="en-US" sz="1700" b="1" dirty="0">
                <a:solidFill>
                  <a:schemeClr val="bg1"/>
                </a:solidFill>
              </a:rPr>
              <a:t>Private by construction</a:t>
            </a:r>
            <a:endParaRPr lang="en-US" sz="1500" dirty="0"/>
          </a:p>
          <a:p>
            <a:pPr indent="0" marL="0">
              <a:spcAft>
                <a:spcPts val="300"/>
              </a:spcAft>
              <a:buNone/>
            </a:pPr>
            <a:r>
              <a:rPr lang="en-US" sz="1400" dirty="0">
                <a:solidFill>
                  <a:schemeClr val="bg2"/>
                </a:solidFill>
              </a:rPr>
              <a:t>Broker trades never leave your device. The AI sees aliases, ratios and months, never amounts or names.</a:t>
            </a:r>
            <a:endParaRPr lang="en-US" sz="1500" dirty="0"/>
          </a:p>
        </p:txBody>
      </p:sp>
      <p:sp>
        <p:nvSpPr>
          <p:cNvPr id="20" name="card"/>
          <p:cNvSpPr/>
          <p:nvPr/>
        </p:nvSpPr>
        <p:spPr>
          <a:xfrm>
            <a:off x="548640" y="5212080"/>
            <a:ext cx="11109960" cy="868680"/>
          </a:xfrm>
          <a:prstGeom prst="roundRect">
            <a:avLst>
              <a:gd name="adj" fmla="val 12632"/>
            </a:avLst>
          </a:prstGeom>
          <a:solidFill>
            <a:srgbClr val="1B2A26"/>
          </a:solidFill>
          <a:ln w="12700">
            <a:solidFill>
              <a:schemeClr val="accent1"/>
            </a:solidFill>
            <a:prstDash val="solid"/>
          </a:ln>
        </p:spPr>
      </p:sp>
      <p:sp>
        <p:nvSpPr>
          <p:cNvPr id="21" name="icon circle"/>
          <p:cNvSpPr/>
          <p:nvPr/>
        </p:nvSpPr>
        <p:spPr>
          <a:xfrm>
            <a:off x="777240" y="5340096"/>
            <a:ext cx="603504" cy="603504"/>
          </a:xfrm>
          <a:prstGeom prst="ellipse">
            <a:avLst/>
          </a:prstGeom>
          <a:solidFill>
            <a:schemeClr val="accent5"/>
          </a:solidFill>
          <a:ln/>
        </p:spPr>
      </p:sp>
      <p:pic>
        <p:nvPicPr>
          <p:cNvPr id="22" name="LuRepeat" descr="LuRepeat">    </p:cNvPr>
          <p:cNvPicPr>
            <a:picLocks noChangeAspect="1"/>
          </p:cNvPicPr>
          <p:nvPr/>
        </p:nvPicPr>
        <p:blipFill>
          <a:blip r:embed="rId5"/>
          <a:stretch>
            <a:fillRect/>
          </a:stretch>
        </p:blipFill>
        <p:spPr>
          <a:xfrm>
            <a:off x="922081" y="5484937"/>
            <a:ext cx="313822" cy="313822"/>
          </a:xfrm>
          <a:prstGeom prst="rect">
            <a:avLst/>
          </a:prstGeom>
        </p:spPr>
      </p:pic>
      <p:sp>
        <p:nvSpPr>
          <p:cNvPr id="23" name="Text 16"/>
          <p:cNvSpPr txBox="1"/>
          <p:nvPr/>
        </p:nvSpPr>
        <p:spPr>
          <a:xfrm>
            <a:off x="1600200" y="5422392"/>
            <a:ext cx="9875520" cy="457200"/>
          </a:xfrm>
          <a:prstGeom prst="rect">
            <a:avLst/>
          </a:prstGeom>
          <a:noFill/>
          <a:ln/>
        </p:spPr>
        <p:txBody>
          <a:bodyPr wrap="square" lIns="0" tIns="0" rIns="0" bIns="0" rtlCol="0" anchor="ctr"/>
          <a:lstStyle/>
          <a:p>
            <a:pPr indent="0" marL="0">
              <a:buNone/>
            </a:pPr>
            <a:r>
              <a:rPr lang="en-US" sz="1700" b="1" dirty="0">
                <a:solidFill>
                  <a:schemeClr val="accent1"/>
                </a:solidFill>
              </a:rPr>
              <a:t>And it closes the loop:  </a:t>
            </a:r>
            <a:pPr indent="0" marL="0">
              <a:buNone/>
            </a:pPr>
            <a:r>
              <a:rPr lang="en-US" sz="1700" dirty="0">
                <a:solidFill>
                  <a:schemeClr val="bg1"/>
                </a:solidFill>
              </a:rPr>
              <a:t>find the bias  →  adopt a rule  →  track that you keep it  →  check the next buy</a:t>
            </a:r>
            <a:endParaRPr lang="en-US" sz="17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822960" y="1828800"/>
            <a:ext cx="2743200" cy="1463040"/>
          </a:xfrm>
          <a:prstGeom prst="rect">
            <a:avLst/>
          </a:prstGeom>
          <a:noFill/>
          <a:ln/>
        </p:spPr>
        <p:txBody>
          <a:bodyPr wrap="square" lIns="0" tIns="0" rIns="0" bIns="0" rtlCol="0" anchor="b"/>
          <a:lstStyle/>
          <a:p>
            <a:pPr algn="l" indent="0" marL="0">
              <a:buNone/>
            </a:pPr>
            <a:r>
              <a:rPr lang="en-US" sz="9600" b="1" dirty="0">
                <a:solidFill>
                  <a:schemeClr val="accent1"/>
                </a:solidFill>
                <a:latin typeface="Arial" pitchFamily="34" charset="0"/>
                <a:ea typeface="Arial" pitchFamily="34" charset="-122"/>
                <a:cs typeface="Arial" pitchFamily="34" charset="-120"/>
              </a:rPr>
              <a:t>01</a:t>
            </a:r>
            <a:endParaRPr lang="en-US" sz="9600" dirty="0"/>
          </a:p>
        </p:txBody>
      </p:sp>
      <p:sp>
        <p:nvSpPr>
          <p:cNvPr id="3" name="Text 0"/>
          <p:cNvSpPr/>
          <p:nvPr>
            <p:ph idx="101" type="title" hasCustomPrompt="1"/>
          </p:nvPr>
        </p:nvSpPr>
        <p:spPr>
          <a:xfrm>
            <a:off x="822960" y="3383280"/>
            <a:ext cx="10515600" cy="914400"/>
          </a:xfrm>
          <a:prstGeom prst="rect">
            <a:avLst/>
          </a:prstGeom>
          <a:noFill/>
          <a:ln/>
        </p:spPr>
        <p:txBody>
          <a:bodyPr wrap="square" lIns="0" tIns="0" rIns="0" bIns="0" rtlCol="0" anchor="t"/>
          <a:lstStyle/>
          <a:p>
            <a:pPr algn="l" indent="0" marL="0">
              <a:buNone/>
            </a:pPr>
            <a:r>
              <a:rPr lang="en-US" sz="4400" b="1" dirty="0">
                <a:solidFill>
                  <a:schemeClr val="bg1"/>
                </a:solidFill>
                <a:latin typeface="Arial" pitchFamily="34" charset="0"/>
                <a:ea typeface="Arial" pitchFamily="34" charset="-122"/>
                <a:cs typeface="Arial" pitchFamily="34" charset="-120"/>
              </a:rPr>
              <a:t>The product</a:t>
            </a:r>
            <a:endParaRPr lang="en-US" sz="4400" dirty="0"/>
          </a:p>
        </p:txBody>
      </p:sp>
      <p:sp>
        <p:nvSpPr>
          <p:cNvPr id="4" name="Text 0"/>
          <p:cNvSpPr/>
          <p:nvPr>
            <p:ph idx="102" type="body" hasCustomPrompt="1"/>
          </p:nvPr>
        </p:nvSpPr>
        <p:spPr>
          <a:xfrm>
            <a:off x="822960" y="4297680"/>
            <a:ext cx="9144000" cy="731520"/>
          </a:xfrm>
          <a:prstGeom prst="rect">
            <a:avLst/>
          </a:prstGeom>
          <a:noFill/>
          <a:ln/>
        </p:spPr>
        <p:txBody>
          <a:bodyPr wrap="square" lIns="0" tIns="0" rIns="0" bIns="0" rtlCol="0" anchor="t"/>
          <a:lstStyle/>
          <a:p>
            <a:pPr algn="l" indent="0" marL="0">
              <a:buNone/>
            </a:pPr>
            <a:r>
              <a:rPr lang="en-US" sz="2000" dirty="0">
                <a:solidFill>
                  <a:schemeClr val="bg2"/>
                </a:solidFill>
              </a:rPr>
              <a:t>Four screens, one loop: capture, understand, change, compare</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algn="l" indent="0" marL="0">
              <a:buNone/>
            </a:pPr>
            <a:r>
              <a:rPr lang="en-US" sz="1200" b="1" spc="200" kern="0" dirty="0">
                <a:solidFill>
                  <a:schemeClr val="accent1"/>
                </a:solidFill>
              </a:rPr>
              <a:t>01 · THE PRODUCT · POP-UPS</a:t>
            </a:r>
            <a:endParaRPr lang="en-US" sz="1200" dirty="0"/>
          </a:p>
        </p:txBody>
      </p:sp>
      <p:sp>
        <p:nvSpPr>
          <p:cNvPr id="3" name="Text 1"/>
          <p:cNvSpPr/>
          <p:nvPr>
            <p:ph idx="102" type="title" hasCustomPrompt="1"/>
          </p:nvPr>
        </p:nvSpPr>
        <p:spPr>
          <a:xfrm>
            <a:off x="548640" y="640080"/>
            <a:ext cx="11064240" cy="73152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It starts while you browse</a:t>
            </a:r>
            <a:endParaRPr lang="en-US" sz="3000" dirty="0"/>
          </a:p>
        </p:txBody>
      </p:sp>
      <p:sp>
        <p:nvSpPr>
          <p:cNvPr id="4" name="Stock page with the label card, a reminder and the AI agent card frame"/>
          <p:cNvSpPr/>
          <p:nvPr/>
        </p:nvSpPr>
        <p:spPr>
          <a:xfrm>
            <a:off x="512064" y="1609344"/>
            <a:ext cx="6931152" cy="3994604"/>
          </a:xfrm>
          <a:prstGeom prst="roundRect">
            <a:avLst>
              <a:gd name="adj" fmla="val 1831"/>
            </a:avLst>
          </a:prstGeom>
          <a:solidFill>
            <a:schemeClr val="accent5"/>
          </a:solidFill>
          <a:ln w="12700">
            <a:solidFill>
              <a:schemeClr val="accent5"/>
            </a:solidFill>
            <a:prstDash val="solid"/>
          </a:ln>
          <a:effectLst>
            <a:outerShdw sx="100000" sy="100000" kx="0" ky="0" algn="bl" rotWithShape="0" blurRad="152400" dist="50800" dir="5400000">
              <a:srgbClr val="000000">
                <a:alpha val="45000"/>
              </a:srgbClr>
            </a:outerShdw>
          </a:effectLst>
        </p:spPr>
      </p:sp>
      <p:sp>
        <p:nvSpPr>
          <p:cNvPr id="5" name="Stock page with the label card, a reminder and the AI agent card dot"/>
          <p:cNvSpPr/>
          <p:nvPr/>
        </p:nvSpPr>
        <p:spPr>
          <a:xfrm>
            <a:off x="640080" y="1700784"/>
            <a:ext cx="82296" cy="82296"/>
          </a:xfrm>
          <a:prstGeom prst="ellipse">
            <a:avLst/>
          </a:prstGeom>
          <a:solidFill>
            <a:schemeClr val="accent4"/>
          </a:solidFill>
          <a:ln/>
        </p:spPr>
      </p:sp>
      <p:sp>
        <p:nvSpPr>
          <p:cNvPr id="6" name="Stock page with the label card, a reminder and the AI agent card dot"/>
          <p:cNvSpPr/>
          <p:nvPr/>
        </p:nvSpPr>
        <p:spPr>
          <a:xfrm>
            <a:off x="786384" y="1700784"/>
            <a:ext cx="82296" cy="82296"/>
          </a:xfrm>
          <a:prstGeom prst="ellipse">
            <a:avLst/>
          </a:prstGeom>
          <a:solidFill>
            <a:schemeClr val="accent3"/>
          </a:solidFill>
          <a:ln/>
        </p:spPr>
      </p:sp>
      <p:sp>
        <p:nvSpPr>
          <p:cNvPr id="7" name="Stock page with the label card, a reminder and the AI agent card dot"/>
          <p:cNvSpPr/>
          <p:nvPr/>
        </p:nvSpPr>
        <p:spPr>
          <a:xfrm>
            <a:off x="932688" y="1700784"/>
            <a:ext cx="82296" cy="82296"/>
          </a:xfrm>
          <a:prstGeom prst="ellipse">
            <a:avLst/>
          </a:prstGeom>
          <a:solidFill>
            <a:schemeClr val="accent1"/>
          </a:solidFill>
          <a:ln/>
        </p:spPr>
      </p:sp>
      <p:pic>
        <p:nvPicPr>
          <p:cNvPr id="8" name="Stock page with the label card, a reminder and the AI agent card" descr="Stock page with the label card, a reminder and the AI agent card">    </p:cNvPr>
          <p:cNvPicPr>
            <a:picLocks noChangeAspect="1"/>
          </p:cNvPicPr>
          <p:nvPr/>
        </p:nvPicPr>
        <p:blipFill>
          <a:blip r:embed="rId1"/>
          <a:stretch>
            <a:fillRect/>
          </a:stretch>
        </p:blipFill>
        <p:spPr>
          <a:xfrm>
            <a:off x="548640" y="1865376"/>
            <a:ext cx="6858000" cy="3701996"/>
          </a:xfrm>
          <a:prstGeom prst="rect">
            <a:avLst/>
          </a:prstGeom>
        </p:spPr>
      </p:pic>
      <p:sp>
        <p:nvSpPr>
          <p:cNvPr id="9" name="icon circle"/>
          <p:cNvSpPr/>
          <p:nvPr/>
        </p:nvSpPr>
        <p:spPr>
          <a:xfrm>
            <a:off x="7818120" y="1737360"/>
            <a:ext cx="566928" cy="566928"/>
          </a:xfrm>
          <a:prstGeom prst="ellipse">
            <a:avLst/>
          </a:prstGeom>
          <a:solidFill>
            <a:schemeClr val="accent5"/>
          </a:solidFill>
          <a:ln/>
        </p:spPr>
      </p:sp>
      <p:pic>
        <p:nvPicPr>
          <p:cNvPr id="10" name="LuMousePointerClick" descr="LuMousePointerClick">    </p:cNvPr>
          <p:cNvPicPr>
            <a:picLocks noChangeAspect="1"/>
          </p:cNvPicPr>
          <p:nvPr/>
        </p:nvPicPr>
        <p:blipFill>
          <a:blip r:embed="rId2"/>
          <a:stretch>
            <a:fillRect/>
          </a:stretch>
        </p:blipFill>
        <p:spPr>
          <a:xfrm>
            <a:off x="7954183" y="1873423"/>
            <a:ext cx="294803" cy="294803"/>
          </a:xfrm>
          <a:prstGeom prst="rect">
            <a:avLst/>
          </a:prstGeom>
        </p:spPr>
      </p:pic>
      <p:sp>
        <p:nvSpPr>
          <p:cNvPr id="11" name="Text 7"/>
          <p:cNvSpPr txBox="1"/>
          <p:nvPr/>
        </p:nvSpPr>
        <p:spPr>
          <a:xfrm>
            <a:off x="8586216" y="1719072"/>
            <a:ext cx="3072384" cy="1097280"/>
          </a:xfrm>
          <a:prstGeom prst="rect">
            <a:avLst/>
          </a:prstGeom>
          <a:noFill/>
          <a:ln/>
        </p:spPr>
        <p:txBody>
          <a:bodyPr wrap="square" lIns="0" tIns="0" rIns="0" bIns="0" rtlCol="0" anchor="t"/>
          <a:lstStyle/>
          <a:p>
            <a:pPr indent="0" marL="0">
              <a:spcAft>
                <a:spcPts val="300"/>
              </a:spcAft>
              <a:buNone/>
            </a:pPr>
            <a:r>
              <a:rPr lang="en-US" sz="1700" b="1" dirty="0">
                <a:solidFill>
                  <a:schemeClr val="bg1"/>
                </a:solidFill>
              </a:rPr>
              <a:t>Captured automatically</a:t>
            </a:r>
            <a:endParaRPr lang="en-US" sz="1500" dirty="0"/>
          </a:p>
          <a:p>
            <a:pPr indent="0" marL="0">
              <a:spcAft>
                <a:spcPts val="300"/>
              </a:spcAft>
              <a:buNone/>
            </a:pPr>
            <a:r>
              <a:rPr lang="en-US" sz="1400" dirty="0">
                <a:solidFill>
                  <a:schemeClr val="bg2"/>
                </a:solidFill>
              </a:rPr>
              <a:t>Opening a stock page logs the stock, time, active reading time and portal. No click needed.</a:t>
            </a:r>
            <a:endParaRPr lang="en-US" sz="1500" dirty="0"/>
          </a:p>
        </p:txBody>
      </p:sp>
      <p:sp>
        <p:nvSpPr>
          <p:cNvPr id="12" name="icon circle"/>
          <p:cNvSpPr/>
          <p:nvPr/>
        </p:nvSpPr>
        <p:spPr>
          <a:xfrm>
            <a:off x="7818120" y="3063240"/>
            <a:ext cx="566928" cy="566928"/>
          </a:xfrm>
          <a:prstGeom prst="ellipse">
            <a:avLst/>
          </a:prstGeom>
          <a:solidFill>
            <a:schemeClr val="accent5"/>
          </a:solidFill>
          <a:ln/>
        </p:spPr>
      </p:sp>
      <p:pic>
        <p:nvPicPr>
          <p:cNvPr id="13" name="LuTag" descr="LuTag">    </p:cNvPr>
          <p:cNvPicPr>
            <a:picLocks noChangeAspect="1"/>
          </p:cNvPicPr>
          <p:nvPr/>
        </p:nvPicPr>
        <p:blipFill>
          <a:blip r:embed="rId3"/>
          <a:stretch>
            <a:fillRect/>
          </a:stretch>
        </p:blipFill>
        <p:spPr>
          <a:xfrm>
            <a:off x="7954183" y="3199303"/>
            <a:ext cx="294803" cy="294803"/>
          </a:xfrm>
          <a:prstGeom prst="rect">
            <a:avLst/>
          </a:prstGeom>
        </p:spPr>
      </p:pic>
      <p:sp>
        <p:nvSpPr>
          <p:cNvPr id="14" name="Text 9"/>
          <p:cNvSpPr txBox="1"/>
          <p:nvPr/>
        </p:nvSpPr>
        <p:spPr>
          <a:xfrm>
            <a:off x="8586216" y="3044952"/>
            <a:ext cx="3072384" cy="1097280"/>
          </a:xfrm>
          <a:prstGeom prst="rect">
            <a:avLst/>
          </a:prstGeom>
          <a:noFill/>
          <a:ln/>
        </p:spPr>
        <p:txBody>
          <a:bodyPr wrap="square" lIns="0" tIns="0" rIns="0" bIns="0" rtlCol="0" anchor="t"/>
          <a:lstStyle/>
          <a:p>
            <a:pPr indent="0" marL="0">
              <a:spcAft>
                <a:spcPts val="300"/>
              </a:spcAft>
              <a:buNone/>
            </a:pPr>
            <a:r>
              <a:rPr lang="en-US" sz="1700" b="1" dirty="0">
                <a:solidFill>
                  <a:schemeClr val="bg1"/>
                </a:solidFill>
              </a:rPr>
              <a:t>Label your expectation</a:t>
            </a:r>
            <a:endParaRPr lang="en-US" sz="1500" dirty="0"/>
          </a:p>
          <a:p>
            <a:pPr indent="0" marL="0">
              <a:spcAft>
                <a:spcPts val="300"/>
              </a:spcAft>
              <a:buNone/>
            </a:pPr>
            <a:r>
              <a:rPr lang="en-US" sz="1400" dirty="0">
                <a:solidFill>
                  <a:schemeClr val="bg2"/>
                </a:solidFill>
              </a:rPr>
              <a:t>The pop-up card records Positive, Neutral or Negative, a target, a horizon and a short note why.</a:t>
            </a:r>
            <a:endParaRPr lang="en-US" sz="1500" dirty="0"/>
          </a:p>
        </p:txBody>
      </p:sp>
      <p:sp>
        <p:nvSpPr>
          <p:cNvPr id="15" name="icon circle"/>
          <p:cNvSpPr/>
          <p:nvPr/>
        </p:nvSpPr>
        <p:spPr>
          <a:xfrm>
            <a:off x="7818120" y="4389120"/>
            <a:ext cx="566928" cy="566928"/>
          </a:xfrm>
          <a:prstGeom prst="ellipse">
            <a:avLst/>
          </a:prstGeom>
          <a:solidFill>
            <a:schemeClr val="accent5"/>
          </a:solidFill>
          <a:ln/>
        </p:spPr>
      </p:sp>
      <p:pic>
        <p:nvPicPr>
          <p:cNvPr id="16" name="LuBell" descr="LuBell">    </p:cNvPr>
          <p:cNvPicPr>
            <a:picLocks noChangeAspect="1"/>
          </p:cNvPicPr>
          <p:nvPr/>
        </p:nvPicPr>
        <p:blipFill>
          <a:blip r:embed="rId4"/>
          <a:stretch>
            <a:fillRect/>
          </a:stretch>
        </p:blipFill>
        <p:spPr>
          <a:xfrm>
            <a:off x="7954183" y="4525183"/>
            <a:ext cx="294803" cy="294803"/>
          </a:xfrm>
          <a:prstGeom prst="rect">
            <a:avLst/>
          </a:prstGeom>
        </p:spPr>
      </p:pic>
      <p:sp>
        <p:nvSpPr>
          <p:cNvPr id="17" name="Text 11"/>
          <p:cNvSpPr txBox="1"/>
          <p:nvPr/>
        </p:nvSpPr>
        <p:spPr>
          <a:xfrm>
            <a:off x="8586216" y="4370832"/>
            <a:ext cx="3072384" cy="1188720"/>
          </a:xfrm>
          <a:prstGeom prst="rect">
            <a:avLst/>
          </a:prstGeom>
          <a:noFill/>
          <a:ln/>
        </p:spPr>
        <p:txBody>
          <a:bodyPr wrap="square" lIns="0" tIns="0" rIns="0" bIns="0" rtlCol="0" anchor="t"/>
          <a:lstStyle/>
          <a:p>
            <a:pPr indent="0" marL="0">
              <a:spcAft>
                <a:spcPts val="300"/>
              </a:spcAft>
              <a:buNone/>
            </a:pPr>
            <a:r>
              <a:rPr lang="en-US" sz="1700" b="1" dirty="0">
                <a:solidFill>
                  <a:schemeClr val="bg1"/>
                </a:solidFill>
              </a:rPr>
              <a:t>Your rules and the AI speak up</a:t>
            </a:r>
            <a:endParaRPr lang="en-US" sz="1500" dirty="0"/>
          </a:p>
          <a:p>
            <a:pPr indent="0" marL="0">
              <a:spcAft>
                <a:spcPts val="300"/>
              </a:spcAft>
              <a:buNone/>
            </a:pPr>
            <a:r>
              <a:rPr lang="en-US" sz="1400" dirty="0">
                <a:solidFill>
                  <a:schemeClr val="bg2"/>
                </a:solidFill>
              </a:rPr>
              <a:t>A reminder from your own rule appears on the stock page. The AI agent's paper decision waits until you ask.</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algn="l" indent="0" marL="0">
              <a:buNone/>
            </a:pPr>
            <a:r>
              <a:rPr lang="en-US" sz="1200" b="1" spc="200" kern="0" dirty="0">
                <a:solidFill>
                  <a:schemeClr val="accent1"/>
                </a:solidFill>
              </a:rPr>
              <a:t>01 · THE PRODUCT · MY STOCKS</a:t>
            </a:r>
            <a:endParaRPr lang="en-US" sz="1200" dirty="0"/>
          </a:p>
        </p:txBody>
      </p:sp>
      <p:sp>
        <p:nvSpPr>
          <p:cNvPr id="3" name="Text 1"/>
          <p:cNvSpPr/>
          <p:nvPr>
            <p:ph idx="102" type="title" hasCustomPrompt="1"/>
          </p:nvPr>
        </p:nvSpPr>
        <p:spPr>
          <a:xfrm>
            <a:off x="548640" y="640080"/>
            <a:ext cx="11064240" cy="73152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My Stocks: what happened after you looked</a:t>
            </a:r>
            <a:endParaRPr lang="en-US" sz="3000" dirty="0"/>
          </a:p>
        </p:txBody>
      </p:sp>
      <p:sp>
        <p:nvSpPr>
          <p:cNvPr id="4" name="My Stocks screen frame"/>
          <p:cNvSpPr/>
          <p:nvPr/>
        </p:nvSpPr>
        <p:spPr>
          <a:xfrm>
            <a:off x="512064" y="1609344"/>
            <a:ext cx="6931152" cy="4171664"/>
          </a:xfrm>
          <a:prstGeom prst="roundRect">
            <a:avLst>
              <a:gd name="adj" fmla="val 1754"/>
            </a:avLst>
          </a:prstGeom>
          <a:solidFill>
            <a:schemeClr val="accent5"/>
          </a:solidFill>
          <a:ln w="12700">
            <a:solidFill>
              <a:schemeClr val="accent5"/>
            </a:solidFill>
            <a:prstDash val="solid"/>
          </a:ln>
          <a:effectLst>
            <a:outerShdw sx="100000" sy="100000" kx="0" ky="0" algn="bl" rotWithShape="0" blurRad="152400" dist="50800" dir="5400000">
              <a:srgbClr val="000000">
                <a:alpha val="45000"/>
              </a:srgbClr>
            </a:outerShdw>
          </a:effectLst>
        </p:spPr>
      </p:sp>
      <p:sp>
        <p:nvSpPr>
          <p:cNvPr id="5" name="My Stocks screen dot"/>
          <p:cNvSpPr/>
          <p:nvPr/>
        </p:nvSpPr>
        <p:spPr>
          <a:xfrm>
            <a:off x="640080" y="1700784"/>
            <a:ext cx="82296" cy="82296"/>
          </a:xfrm>
          <a:prstGeom prst="ellipse">
            <a:avLst/>
          </a:prstGeom>
          <a:solidFill>
            <a:schemeClr val="accent4"/>
          </a:solidFill>
          <a:ln/>
        </p:spPr>
      </p:sp>
      <p:sp>
        <p:nvSpPr>
          <p:cNvPr id="6" name="My Stocks screen dot"/>
          <p:cNvSpPr/>
          <p:nvPr/>
        </p:nvSpPr>
        <p:spPr>
          <a:xfrm>
            <a:off x="786384" y="1700784"/>
            <a:ext cx="82296" cy="82296"/>
          </a:xfrm>
          <a:prstGeom prst="ellipse">
            <a:avLst/>
          </a:prstGeom>
          <a:solidFill>
            <a:schemeClr val="accent3"/>
          </a:solidFill>
          <a:ln/>
        </p:spPr>
      </p:sp>
      <p:sp>
        <p:nvSpPr>
          <p:cNvPr id="7" name="My Stocks screen dot"/>
          <p:cNvSpPr/>
          <p:nvPr/>
        </p:nvSpPr>
        <p:spPr>
          <a:xfrm>
            <a:off x="932688" y="1700784"/>
            <a:ext cx="82296" cy="82296"/>
          </a:xfrm>
          <a:prstGeom prst="ellipse">
            <a:avLst/>
          </a:prstGeom>
          <a:solidFill>
            <a:schemeClr val="accent1"/>
          </a:solidFill>
          <a:ln/>
        </p:spPr>
      </p:sp>
      <p:pic>
        <p:nvPicPr>
          <p:cNvPr id="8" name="My Stocks screen" descr="My Stocks screen">    </p:cNvPr>
          <p:cNvPicPr>
            <a:picLocks noChangeAspect="1"/>
          </p:cNvPicPr>
          <p:nvPr/>
        </p:nvPicPr>
        <p:blipFill>
          <a:blip r:embed="rId1"/>
          <a:stretch>
            <a:fillRect/>
          </a:stretch>
        </p:blipFill>
        <p:spPr>
          <a:xfrm>
            <a:off x="548640" y="1865376"/>
            <a:ext cx="6858000" cy="3879056"/>
          </a:xfrm>
          <a:prstGeom prst="rect">
            <a:avLst/>
          </a:prstGeom>
        </p:spPr>
      </p:pic>
      <p:sp>
        <p:nvSpPr>
          <p:cNvPr id="9" name="icon circle"/>
          <p:cNvSpPr/>
          <p:nvPr/>
        </p:nvSpPr>
        <p:spPr>
          <a:xfrm>
            <a:off x="7818120" y="1737360"/>
            <a:ext cx="566928" cy="566928"/>
          </a:xfrm>
          <a:prstGeom prst="ellipse">
            <a:avLst/>
          </a:prstGeom>
          <a:solidFill>
            <a:schemeClr val="accent5"/>
          </a:solidFill>
          <a:ln/>
        </p:spPr>
      </p:sp>
      <p:pic>
        <p:nvPicPr>
          <p:cNvPr id="10" name="LuListChecks" descr="LuListChecks">    </p:cNvPr>
          <p:cNvPicPr>
            <a:picLocks noChangeAspect="1"/>
          </p:cNvPicPr>
          <p:nvPr/>
        </p:nvPicPr>
        <p:blipFill>
          <a:blip r:embed="rId2"/>
          <a:stretch>
            <a:fillRect/>
          </a:stretch>
        </p:blipFill>
        <p:spPr>
          <a:xfrm>
            <a:off x="7954183" y="1873423"/>
            <a:ext cx="294803" cy="294803"/>
          </a:xfrm>
          <a:prstGeom prst="rect">
            <a:avLst/>
          </a:prstGeom>
        </p:spPr>
      </p:pic>
      <p:sp>
        <p:nvSpPr>
          <p:cNvPr id="11" name="Text 7"/>
          <p:cNvSpPr txBox="1"/>
          <p:nvPr/>
        </p:nvSpPr>
        <p:spPr>
          <a:xfrm>
            <a:off x="8586216" y="1719072"/>
            <a:ext cx="3072384" cy="1097280"/>
          </a:xfrm>
          <a:prstGeom prst="rect">
            <a:avLst/>
          </a:prstGeom>
          <a:noFill/>
          <a:ln/>
        </p:spPr>
        <p:txBody>
          <a:bodyPr wrap="square" lIns="0" tIns="0" rIns="0" bIns="0" rtlCol="0" anchor="t"/>
          <a:lstStyle/>
          <a:p>
            <a:pPr indent="0" marL="0">
              <a:spcAft>
                <a:spcPts val="300"/>
              </a:spcAft>
              <a:buNone/>
            </a:pPr>
            <a:r>
              <a:rPr lang="en-US" sz="1700" b="1" dirty="0">
                <a:solidFill>
                  <a:schemeClr val="bg1"/>
                </a:solidFill>
              </a:rPr>
              <a:t>Watchlist built from attention</a:t>
            </a:r>
            <a:endParaRPr lang="en-US" sz="1500" dirty="0"/>
          </a:p>
          <a:p>
            <a:pPr indent="0" marL="0">
              <a:spcAft>
                <a:spcPts val="300"/>
              </a:spcAft>
              <a:buNone/>
            </a:pPr>
            <a:r>
              <a:rPr lang="en-US" sz="1400" dirty="0">
                <a:solidFill>
                  <a:schemeClr val="bg2"/>
                </a:solidFill>
              </a:rPr>
              <a:t>Return since first look, return per view and per hour of research, label hit rate, conviction.</a:t>
            </a:r>
            <a:endParaRPr lang="en-US" sz="1500" dirty="0"/>
          </a:p>
        </p:txBody>
      </p:sp>
      <p:sp>
        <p:nvSpPr>
          <p:cNvPr id="12" name="icon circle"/>
          <p:cNvSpPr/>
          <p:nvPr/>
        </p:nvSpPr>
        <p:spPr>
          <a:xfrm>
            <a:off x="7818120" y="3063240"/>
            <a:ext cx="566928" cy="566928"/>
          </a:xfrm>
          <a:prstGeom prst="ellipse">
            <a:avLst/>
          </a:prstGeom>
          <a:solidFill>
            <a:schemeClr val="accent5"/>
          </a:solidFill>
          <a:ln/>
        </p:spPr>
      </p:sp>
      <p:pic>
        <p:nvPicPr>
          <p:cNvPr id="13" name="LuChartLine" descr="LuChartLine">    </p:cNvPr>
          <p:cNvPicPr>
            <a:picLocks noChangeAspect="1"/>
          </p:cNvPicPr>
          <p:nvPr/>
        </p:nvPicPr>
        <p:blipFill>
          <a:blip r:embed="rId3"/>
          <a:stretch>
            <a:fillRect/>
          </a:stretch>
        </p:blipFill>
        <p:spPr>
          <a:xfrm>
            <a:off x="7954183" y="3199303"/>
            <a:ext cx="294803" cy="294803"/>
          </a:xfrm>
          <a:prstGeom prst="rect">
            <a:avLst/>
          </a:prstGeom>
        </p:spPr>
      </p:pic>
      <p:sp>
        <p:nvSpPr>
          <p:cNvPr id="14" name="Text 9"/>
          <p:cNvSpPr txBox="1"/>
          <p:nvPr/>
        </p:nvSpPr>
        <p:spPr>
          <a:xfrm>
            <a:off x="8586216" y="3044952"/>
            <a:ext cx="3072384" cy="1097280"/>
          </a:xfrm>
          <a:prstGeom prst="rect">
            <a:avLst/>
          </a:prstGeom>
          <a:noFill/>
          <a:ln/>
        </p:spPr>
        <p:txBody>
          <a:bodyPr wrap="square" lIns="0" tIns="0" rIns="0" bIns="0" rtlCol="0" anchor="t"/>
          <a:lstStyle/>
          <a:p>
            <a:pPr indent="0" marL="0">
              <a:spcAft>
                <a:spcPts val="300"/>
              </a:spcAft>
              <a:buNone/>
            </a:pPr>
            <a:r>
              <a:rPr lang="en-US" sz="1700" b="1" dirty="0">
                <a:solidFill>
                  <a:schemeClr val="bg1"/>
                </a:solidFill>
              </a:rPr>
              <a:t>Your attention on the chart</a:t>
            </a:r>
            <a:endParaRPr lang="en-US" sz="1500" dirty="0"/>
          </a:p>
          <a:p>
            <a:pPr indent="0" marL="0">
              <a:spcAft>
                <a:spcPts val="300"/>
              </a:spcAft>
              <a:buNone/>
            </a:pPr>
            <a:r>
              <a:rPr lang="en-US" sz="1400" dirty="0">
                <a:solidFill>
                  <a:schemeClr val="bg2"/>
                </a:solidFill>
              </a:rPr>
              <a:t>Every view is a dot, sized by views and coloured by your label, against the NASDAQ rebased.</a:t>
            </a:r>
            <a:endParaRPr lang="en-US" sz="1500" dirty="0"/>
          </a:p>
        </p:txBody>
      </p:sp>
      <p:sp>
        <p:nvSpPr>
          <p:cNvPr id="15" name="icon circle"/>
          <p:cNvSpPr/>
          <p:nvPr/>
        </p:nvSpPr>
        <p:spPr>
          <a:xfrm>
            <a:off x="7818120" y="4389120"/>
            <a:ext cx="566928" cy="566928"/>
          </a:xfrm>
          <a:prstGeom prst="ellipse">
            <a:avLst/>
          </a:prstGeom>
          <a:solidFill>
            <a:schemeClr val="accent5"/>
          </a:solidFill>
          <a:ln/>
        </p:spPr>
      </p:sp>
      <p:pic>
        <p:nvPicPr>
          <p:cNvPr id="16" name="LuScale" descr="LuScale">    </p:cNvPr>
          <p:cNvPicPr>
            <a:picLocks noChangeAspect="1"/>
          </p:cNvPicPr>
          <p:nvPr/>
        </p:nvPicPr>
        <p:blipFill>
          <a:blip r:embed="rId4"/>
          <a:stretch>
            <a:fillRect/>
          </a:stretch>
        </p:blipFill>
        <p:spPr>
          <a:xfrm>
            <a:off x="7954183" y="4525183"/>
            <a:ext cx="294803" cy="294803"/>
          </a:xfrm>
          <a:prstGeom prst="rect">
            <a:avLst/>
          </a:prstGeom>
        </p:spPr>
      </p:pic>
      <p:sp>
        <p:nvSpPr>
          <p:cNvPr id="17" name="Text 11"/>
          <p:cNvSpPr txBox="1"/>
          <p:nvPr/>
        </p:nvSpPr>
        <p:spPr>
          <a:xfrm>
            <a:off x="8586216" y="4370832"/>
            <a:ext cx="3072384" cy="1097280"/>
          </a:xfrm>
          <a:prstGeom prst="rect">
            <a:avLst/>
          </a:prstGeom>
          <a:noFill/>
          <a:ln/>
        </p:spPr>
        <p:txBody>
          <a:bodyPr wrap="square" lIns="0" tIns="0" rIns="0" bIns="0" rtlCol="0" anchor="t"/>
          <a:lstStyle/>
          <a:p>
            <a:pPr indent="0" marL="0">
              <a:spcAft>
                <a:spcPts val="300"/>
              </a:spcAft>
              <a:buNone/>
            </a:pPr>
            <a:r>
              <a:rPr lang="en-US" sz="1700" b="1" dirty="0">
                <a:solidFill>
                  <a:schemeClr val="bg1"/>
                </a:solidFill>
              </a:rPr>
              <a:t>An index of your attention</a:t>
            </a:r>
            <a:endParaRPr lang="en-US" sz="1500" dirty="0"/>
          </a:p>
          <a:p>
            <a:pPr indent="0" marL="0">
              <a:spcAft>
                <a:spcPts val="300"/>
              </a:spcAft>
              <a:buNone/>
            </a:pPr>
            <a:r>
              <a:rPr lang="en-US" sz="1400" dirty="0">
                <a:solidFill>
                  <a:schemeClr val="bg2"/>
                </a:solidFill>
              </a:rPr>
              <a:t>A no-leverage portfolio built from what you looked at, compared with the market.</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algn="l" indent="0" marL="0">
              <a:buNone/>
            </a:pPr>
            <a:r>
              <a:rPr lang="en-US" sz="1200" b="1" spc="200" kern="0" dirty="0">
                <a:solidFill>
                  <a:schemeClr val="accent1"/>
                </a:solidFill>
              </a:rPr>
              <a:t>01 · THE PRODUCT · TRADES &amp; RESEARCH</a:t>
            </a:r>
            <a:endParaRPr lang="en-US" sz="1200" dirty="0"/>
          </a:p>
        </p:txBody>
      </p:sp>
      <p:sp>
        <p:nvSpPr>
          <p:cNvPr id="3" name="Text 1"/>
          <p:cNvSpPr/>
          <p:nvPr>
            <p:ph idx="102" type="title" hasCustomPrompt="1"/>
          </p:nvPr>
        </p:nvSpPr>
        <p:spPr>
          <a:xfrm>
            <a:off x="548640" y="640080"/>
            <a:ext cx="11064240" cy="73152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Trades &amp; research: what your trades say about you</a:t>
            </a:r>
            <a:endParaRPr lang="en-US" sz="3000" dirty="0"/>
          </a:p>
        </p:txBody>
      </p:sp>
      <p:sp>
        <p:nvSpPr>
          <p:cNvPr id="4" name="What your trades say about you frame"/>
          <p:cNvSpPr/>
          <p:nvPr/>
        </p:nvSpPr>
        <p:spPr>
          <a:xfrm>
            <a:off x="512064" y="1609344"/>
            <a:ext cx="7571232" cy="3651123"/>
          </a:xfrm>
          <a:prstGeom prst="roundRect">
            <a:avLst>
              <a:gd name="adj" fmla="val 2004"/>
            </a:avLst>
          </a:prstGeom>
          <a:solidFill>
            <a:schemeClr val="accent5"/>
          </a:solidFill>
          <a:ln w="12700">
            <a:solidFill>
              <a:schemeClr val="accent5"/>
            </a:solidFill>
            <a:prstDash val="solid"/>
          </a:ln>
          <a:effectLst>
            <a:outerShdw sx="100000" sy="100000" kx="0" ky="0" algn="bl" rotWithShape="0" blurRad="152400" dist="50800" dir="5400000">
              <a:srgbClr val="000000">
                <a:alpha val="45000"/>
              </a:srgbClr>
            </a:outerShdw>
          </a:effectLst>
        </p:spPr>
      </p:sp>
      <p:sp>
        <p:nvSpPr>
          <p:cNvPr id="5" name="What your trades say about you dot"/>
          <p:cNvSpPr/>
          <p:nvPr/>
        </p:nvSpPr>
        <p:spPr>
          <a:xfrm>
            <a:off x="640080" y="1700784"/>
            <a:ext cx="82296" cy="82296"/>
          </a:xfrm>
          <a:prstGeom prst="ellipse">
            <a:avLst/>
          </a:prstGeom>
          <a:solidFill>
            <a:schemeClr val="accent4"/>
          </a:solidFill>
          <a:ln/>
        </p:spPr>
      </p:sp>
      <p:sp>
        <p:nvSpPr>
          <p:cNvPr id="6" name="What your trades say about you dot"/>
          <p:cNvSpPr/>
          <p:nvPr/>
        </p:nvSpPr>
        <p:spPr>
          <a:xfrm>
            <a:off x="786384" y="1700784"/>
            <a:ext cx="82296" cy="82296"/>
          </a:xfrm>
          <a:prstGeom prst="ellipse">
            <a:avLst/>
          </a:prstGeom>
          <a:solidFill>
            <a:schemeClr val="accent3"/>
          </a:solidFill>
          <a:ln/>
        </p:spPr>
      </p:sp>
      <p:sp>
        <p:nvSpPr>
          <p:cNvPr id="7" name="What your trades say about you dot"/>
          <p:cNvSpPr/>
          <p:nvPr/>
        </p:nvSpPr>
        <p:spPr>
          <a:xfrm>
            <a:off x="932688" y="1700784"/>
            <a:ext cx="82296" cy="82296"/>
          </a:xfrm>
          <a:prstGeom prst="ellipse">
            <a:avLst/>
          </a:prstGeom>
          <a:solidFill>
            <a:schemeClr val="accent1"/>
          </a:solidFill>
          <a:ln/>
        </p:spPr>
      </p:sp>
      <p:pic>
        <p:nvPicPr>
          <p:cNvPr id="8" name="What your trades say about you" descr="What your trades say about you">    </p:cNvPr>
          <p:cNvPicPr>
            <a:picLocks noChangeAspect="1"/>
          </p:cNvPicPr>
          <p:nvPr/>
        </p:nvPicPr>
        <p:blipFill>
          <a:blip r:embed="rId1"/>
          <a:stretch>
            <a:fillRect/>
          </a:stretch>
        </p:blipFill>
        <p:spPr>
          <a:xfrm>
            <a:off x="548640" y="1865376"/>
            <a:ext cx="7498080" cy="3358515"/>
          </a:xfrm>
          <a:prstGeom prst="rect">
            <a:avLst/>
          </a:prstGeom>
        </p:spPr>
      </p:pic>
      <p:sp>
        <p:nvSpPr>
          <p:cNvPr id="9" name="icon circle"/>
          <p:cNvSpPr/>
          <p:nvPr/>
        </p:nvSpPr>
        <p:spPr>
          <a:xfrm>
            <a:off x="8458200" y="1737360"/>
            <a:ext cx="566928" cy="566928"/>
          </a:xfrm>
          <a:prstGeom prst="ellipse">
            <a:avLst/>
          </a:prstGeom>
          <a:solidFill>
            <a:schemeClr val="accent5"/>
          </a:solidFill>
          <a:ln/>
        </p:spPr>
      </p:sp>
      <p:pic>
        <p:nvPicPr>
          <p:cNvPr id="10" name="LuFileSpreadsheet" descr="LuFileSpreadsheet">    </p:cNvPr>
          <p:cNvPicPr>
            <a:picLocks noChangeAspect="1"/>
          </p:cNvPicPr>
          <p:nvPr/>
        </p:nvPicPr>
        <p:blipFill>
          <a:blip r:embed="rId2"/>
          <a:stretch>
            <a:fillRect/>
          </a:stretch>
        </p:blipFill>
        <p:spPr>
          <a:xfrm>
            <a:off x="8594263" y="1873423"/>
            <a:ext cx="294803" cy="294803"/>
          </a:xfrm>
          <a:prstGeom prst="rect">
            <a:avLst/>
          </a:prstGeom>
        </p:spPr>
      </p:pic>
      <p:sp>
        <p:nvSpPr>
          <p:cNvPr id="11" name="Text 7"/>
          <p:cNvSpPr txBox="1"/>
          <p:nvPr/>
        </p:nvSpPr>
        <p:spPr>
          <a:xfrm>
            <a:off x="9226296" y="1719072"/>
            <a:ext cx="2478024" cy="1097280"/>
          </a:xfrm>
          <a:prstGeom prst="rect">
            <a:avLst/>
          </a:prstGeom>
          <a:noFill/>
          <a:ln/>
        </p:spPr>
        <p:txBody>
          <a:bodyPr wrap="square" lIns="0" tIns="0" rIns="0" bIns="0" rtlCol="0" anchor="t"/>
          <a:lstStyle/>
          <a:p>
            <a:pPr indent="0" marL="0">
              <a:spcAft>
                <a:spcPts val="300"/>
              </a:spcAft>
              <a:buNone/>
            </a:pPr>
            <a:r>
              <a:rPr lang="en-US" sz="1700" b="1" dirty="0">
                <a:solidFill>
                  <a:schemeClr val="bg1"/>
                </a:solidFill>
              </a:rPr>
              <a:t>Import a broker file</a:t>
            </a:r>
            <a:endParaRPr lang="en-US" sz="1500" dirty="0"/>
          </a:p>
          <a:p>
            <a:pPr indent="0" marL="0">
              <a:spcAft>
                <a:spcPts val="300"/>
              </a:spcAft>
              <a:buNone/>
            </a:pPr>
            <a:r>
              <a:rPr lang="en-US" sz="1300" dirty="0">
                <a:solidFill>
                  <a:schemeClr val="bg2"/>
                </a:solidFill>
              </a:rPr>
              <a:t>CSV or XML from 10+ brokers, read and kept in the browser.</a:t>
            </a:r>
            <a:endParaRPr lang="en-US" sz="1500" dirty="0"/>
          </a:p>
        </p:txBody>
      </p:sp>
      <p:sp>
        <p:nvSpPr>
          <p:cNvPr id="12" name="icon circle"/>
          <p:cNvSpPr/>
          <p:nvPr/>
        </p:nvSpPr>
        <p:spPr>
          <a:xfrm>
            <a:off x="8458200" y="2971800"/>
            <a:ext cx="566928" cy="566928"/>
          </a:xfrm>
          <a:prstGeom prst="ellipse">
            <a:avLst/>
          </a:prstGeom>
          <a:solidFill>
            <a:schemeClr val="accent5"/>
          </a:solidFill>
          <a:ln/>
        </p:spPr>
      </p:sp>
      <p:pic>
        <p:nvPicPr>
          <p:cNvPr id="13" name="LuSearch" descr="LuSearch">    </p:cNvPr>
          <p:cNvPicPr>
            <a:picLocks noChangeAspect="1"/>
          </p:cNvPicPr>
          <p:nvPr/>
        </p:nvPicPr>
        <p:blipFill>
          <a:blip r:embed="rId3"/>
          <a:stretch>
            <a:fillRect/>
          </a:stretch>
        </p:blipFill>
        <p:spPr>
          <a:xfrm>
            <a:off x="8594263" y="3107863"/>
            <a:ext cx="294803" cy="294803"/>
          </a:xfrm>
          <a:prstGeom prst="rect">
            <a:avLst/>
          </a:prstGeom>
        </p:spPr>
      </p:pic>
      <p:sp>
        <p:nvSpPr>
          <p:cNvPr id="14" name="Text 9"/>
          <p:cNvSpPr txBox="1"/>
          <p:nvPr/>
        </p:nvSpPr>
        <p:spPr>
          <a:xfrm>
            <a:off x="9226296" y="2953512"/>
            <a:ext cx="2478024" cy="1097280"/>
          </a:xfrm>
          <a:prstGeom prst="rect">
            <a:avLst/>
          </a:prstGeom>
          <a:noFill/>
          <a:ln/>
        </p:spPr>
        <p:txBody>
          <a:bodyPr wrap="square" lIns="0" tIns="0" rIns="0" bIns="0" rtlCol="0" anchor="t"/>
          <a:lstStyle/>
          <a:p>
            <a:pPr indent="0" marL="0">
              <a:spcAft>
                <a:spcPts val="300"/>
              </a:spcAft>
              <a:buNone/>
            </a:pPr>
            <a:r>
              <a:rPr lang="en-US" sz="1700" b="1" dirty="0">
                <a:solidFill>
                  <a:schemeClr val="bg1"/>
                </a:solidFill>
              </a:rPr>
              <a:t>Joined to your research</a:t>
            </a:r>
            <a:endParaRPr lang="en-US" sz="1500" dirty="0"/>
          </a:p>
          <a:p>
            <a:pPr indent="0" marL="0">
              <a:spcAft>
                <a:spcPts val="300"/>
              </a:spcAft>
              <a:buNone/>
            </a:pPr>
            <a:r>
              <a:rPr lang="en-US" sz="1300" dirty="0">
                <a:solidFill>
                  <a:schemeClr val="bg2"/>
                </a:solidFill>
              </a:rPr>
              <a:t>Each buy and sell is linked to what you looked at before it.</a:t>
            </a:r>
            <a:endParaRPr lang="en-US" sz="1500" dirty="0"/>
          </a:p>
        </p:txBody>
      </p:sp>
      <p:sp>
        <p:nvSpPr>
          <p:cNvPr id="15" name="icon circle"/>
          <p:cNvSpPr/>
          <p:nvPr/>
        </p:nvSpPr>
        <p:spPr>
          <a:xfrm>
            <a:off x="8458200" y="4206240"/>
            <a:ext cx="566928" cy="566928"/>
          </a:xfrm>
          <a:prstGeom prst="ellipse">
            <a:avLst/>
          </a:prstGeom>
          <a:solidFill>
            <a:schemeClr val="accent5"/>
          </a:solidFill>
          <a:ln/>
        </p:spPr>
      </p:sp>
      <p:pic>
        <p:nvPicPr>
          <p:cNvPr id="16" name="LuBadgeCheck" descr="LuBadgeCheck">    </p:cNvPr>
          <p:cNvPicPr>
            <a:picLocks noChangeAspect="1"/>
          </p:cNvPicPr>
          <p:nvPr/>
        </p:nvPicPr>
        <p:blipFill>
          <a:blip r:embed="rId4"/>
          <a:stretch>
            <a:fillRect/>
          </a:stretch>
        </p:blipFill>
        <p:spPr>
          <a:xfrm>
            <a:off x="8594263" y="4342303"/>
            <a:ext cx="294803" cy="294803"/>
          </a:xfrm>
          <a:prstGeom prst="rect">
            <a:avLst/>
          </a:prstGeom>
        </p:spPr>
      </p:pic>
      <p:sp>
        <p:nvSpPr>
          <p:cNvPr id="17" name="Text 11"/>
          <p:cNvSpPr txBox="1"/>
          <p:nvPr/>
        </p:nvSpPr>
        <p:spPr>
          <a:xfrm>
            <a:off x="9226296" y="4187952"/>
            <a:ext cx="2478024" cy="1097280"/>
          </a:xfrm>
          <a:prstGeom prst="rect">
            <a:avLst/>
          </a:prstGeom>
          <a:noFill/>
          <a:ln/>
        </p:spPr>
        <p:txBody>
          <a:bodyPr wrap="square" lIns="0" tIns="0" rIns="0" bIns="0" rtlCol="0" anchor="t"/>
          <a:lstStyle/>
          <a:p>
            <a:pPr indent="0" marL="0">
              <a:spcAft>
                <a:spcPts val="300"/>
              </a:spcAft>
              <a:buNone/>
            </a:pPr>
            <a:r>
              <a:rPr lang="en-US" sz="1700" b="1" dirty="0">
                <a:solidFill>
                  <a:schemeClr val="bg1"/>
                </a:solidFill>
              </a:rPr>
              <a:t>Graded findings</a:t>
            </a:r>
            <a:endParaRPr lang="en-US" sz="1500" dirty="0"/>
          </a:p>
          <a:p>
            <a:pPr indent="0" marL="0">
              <a:spcAft>
                <a:spcPts val="300"/>
              </a:spcAft>
              <a:buNone/>
            </a:pPr>
            <a:r>
              <a:rPr lang="en-US" sz="1300" dirty="0">
                <a:solidFill>
                  <a:schemeClr val="bg2"/>
                </a:solidFill>
              </a:rPr>
              <a:t>Each pattern is marked solid, indicative or not enough data.</a:t>
            </a:r>
            <a:endParaRPr lang="en-US" sz="1500" dirty="0"/>
          </a:p>
        </p:txBody>
      </p:sp>
      <p:sp>
        <p:nvSpPr>
          <p:cNvPr id="18" name="Text 12"/>
          <p:cNvSpPr txBox="1"/>
          <p:nvPr/>
        </p:nvSpPr>
        <p:spPr>
          <a:xfrm>
            <a:off x="548640" y="5486400"/>
            <a:ext cx="7498080" cy="548640"/>
          </a:xfrm>
          <a:prstGeom prst="rect">
            <a:avLst/>
          </a:prstGeom>
          <a:noFill/>
          <a:ln/>
        </p:spPr>
        <p:txBody>
          <a:bodyPr wrap="square" lIns="0" tIns="0" rIns="0" bIns="0" rtlCol="0" anchor="t"/>
          <a:lstStyle/>
          <a:p>
            <a:pPr indent="0" marL="0">
              <a:buNone/>
            </a:pPr>
            <a:r>
              <a:rPr lang="en-US" sz="1400" dirty="0">
                <a:solidFill>
                  <a:schemeClr val="bg2"/>
                </a:solidFill>
              </a:rPr>
              <a:t>Research habits, chasing rises, herding, the disposition effect, overconfidence, timing and more, each with its evidence.</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algn="l" indent="0" marL="0">
              <a:buNone/>
            </a:pPr>
            <a:r>
              <a:rPr lang="en-US" sz="1200" b="1" spc="200" kern="0" dirty="0">
                <a:solidFill>
                  <a:schemeClr val="accent1"/>
                </a:solidFill>
              </a:rPr>
              <a:t>01 · THE PRODUCT · TRADES &amp; RESEARCH</a:t>
            </a:r>
            <a:endParaRPr lang="en-US" sz="1200" dirty="0"/>
          </a:p>
        </p:txBody>
      </p:sp>
      <p:sp>
        <p:nvSpPr>
          <p:cNvPr id="3" name="Text 1"/>
          <p:cNvSpPr/>
          <p:nvPr>
            <p:ph idx="102" type="title" hasCustomPrompt="1"/>
          </p:nvPr>
        </p:nvSpPr>
        <p:spPr>
          <a:xfrm>
            <a:off x="548640" y="640080"/>
            <a:ext cx="11064240" cy="73152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From a bias to a rule, and a check before the next buy</a:t>
            </a:r>
            <a:endParaRPr lang="en-US" sz="3000" dirty="0"/>
          </a:p>
        </p:txBody>
      </p:sp>
      <p:sp>
        <p:nvSpPr>
          <p:cNvPr id="4" name="step 1"/>
          <p:cNvSpPr/>
          <p:nvPr/>
        </p:nvSpPr>
        <p:spPr>
          <a:xfrm>
            <a:off x="548640" y="1691640"/>
            <a:ext cx="457200" cy="457200"/>
          </a:xfrm>
          <a:prstGeom prst="ellipse">
            <a:avLst/>
          </a:prstGeom>
          <a:solidFill>
            <a:schemeClr val="accent1"/>
          </a:solidFill>
          <a:ln/>
        </p:spPr>
      </p:sp>
      <p:sp>
        <p:nvSpPr>
          <p:cNvPr id="5" name="Text 3"/>
          <p:cNvSpPr txBox="1"/>
          <p:nvPr/>
        </p:nvSpPr>
        <p:spPr>
          <a:xfrm>
            <a:off x="548640" y="169164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6" name="Text 4"/>
          <p:cNvSpPr txBox="1"/>
          <p:nvPr/>
        </p:nvSpPr>
        <p:spPr>
          <a:xfrm>
            <a:off x="1188720" y="1655064"/>
            <a:ext cx="3017520" cy="960120"/>
          </a:xfrm>
          <a:prstGeom prst="rect">
            <a:avLst/>
          </a:prstGeom>
          <a:noFill/>
          <a:ln/>
        </p:spPr>
        <p:txBody>
          <a:bodyPr wrap="square" lIns="0" tIns="0" rIns="0" bIns="0" rtlCol="0" anchor="t"/>
          <a:lstStyle/>
          <a:p>
            <a:pPr indent="0" marL="0">
              <a:spcAft>
                <a:spcPts val="200"/>
              </a:spcAft>
              <a:buNone/>
            </a:pPr>
            <a:r>
              <a:rPr lang="en-US" sz="1600" b="1" dirty="0">
                <a:solidFill>
                  <a:schemeClr val="bg1"/>
                </a:solidFill>
              </a:rPr>
              <a:t>Bias found</a:t>
            </a:r>
            <a:endParaRPr lang="en-US" sz="1500" dirty="0"/>
          </a:p>
          <a:p>
            <a:pPr indent="0" marL="0">
              <a:spcAft>
                <a:spcPts val="200"/>
              </a:spcAft>
              <a:buNone/>
            </a:pPr>
            <a:r>
              <a:rPr lang="en-US" sz="1300" dirty="0">
                <a:solidFill>
                  <a:schemeClr val="bg2"/>
                </a:solidFill>
              </a:rPr>
              <a:t>Buys made after a run-up did worse than buys made after a fall.</a:t>
            </a:r>
            <a:endParaRPr lang="en-US" sz="1500" dirty="0"/>
          </a:p>
        </p:txBody>
      </p:sp>
      <p:sp>
        <p:nvSpPr>
          <p:cNvPr id="7" name="step 2"/>
          <p:cNvSpPr/>
          <p:nvPr/>
        </p:nvSpPr>
        <p:spPr>
          <a:xfrm>
            <a:off x="548640" y="2788920"/>
            <a:ext cx="457200" cy="457200"/>
          </a:xfrm>
          <a:prstGeom prst="ellipse">
            <a:avLst/>
          </a:prstGeom>
          <a:solidFill>
            <a:schemeClr val="accent1"/>
          </a:solidFill>
          <a:ln/>
        </p:spPr>
      </p:sp>
      <p:sp>
        <p:nvSpPr>
          <p:cNvPr id="8" name="Text 6"/>
          <p:cNvSpPr txBox="1"/>
          <p:nvPr/>
        </p:nvSpPr>
        <p:spPr>
          <a:xfrm>
            <a:off x="548640" y="27889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9" name="Text 7"/>
          <p:cNvSpPr txBox="1"/>
          <p:nvPr/>
        </p:nvSpPr>
        <p:spPr>
          <a:xfrm>
            <a:off x="1188720" y="2752344"/>
            <a:ext cx="3017520" cy="960120"/>
          </a:xfrm>
          <a:prstGeom prst="rect">
            <a:avLst/>
          </a:prstGeom>
          <a:noFill/>
          <a:ln/>
        </p:spPr>
        <p:txBody>
          <a:bodyPr wrap="square" lIns="0" tIns="0" rIns="0" bIns="0" rtlCol="0" anchor="t"/>
          <a:lstStyle/>
          <a:p>
            <a:pPr indent="0" marL="0">
              <a:spcAft>
                <a:spcPts val="200"/>
              </a:spcAft>
              <a:buNone/>
            </a:pPr>
            <a:r>
              <a:rPr lang="en-US" sz="1600" b="1" dirty="0">
                <a:solidFill>
                  <a:schemeClr val="bg1"/>
                </a:solidFill>
              </a:rPr>
              <a:t>A rule that held up</a:t>
            </a:r>
            <a:endParaRPr lang="en-US" sz="1500" dirty="0"/>
          </a:p>
          <a:p>
            <a:pPr indent="0" marL="0">
              <a:spcAft>
                <a:spcPts val="200"/>
              </a:spcAft>
              <a:buNone/>
            </a:pPr>
            <a:r>
              <a:rPr lang="en-US" sz="1300" dirty="0">
                <a:solidFill>
                  <a:schemeClr val="bg2"/>
                </a:solidFill>
              </a:rPr>
              <a:t>Fitted on earlier trades, tested on later ones it never saw.</a:t>
            </a:r>
            <a:endParaRPr lang="en-US" sz="1500" dirty="0"/>
          </a:p>
        </p:txBody>
      </p:sp>
      <p:sp>
        <p:nvSpPr>
          <p:cNvPr id="10" name="step 3"/>
          <p:cNvSpPr/>
          <p:nvPr/>
        </p:nvSpPr>
        <p:spPr>
          <a:xfrm>
            <a:off x="548640" y="3886200"/>
            <a:ext cx="457200" cy="457200"/>
          </a:xfrm>
          <a:prstGeom prst="ellipse">
            <a:avLst/>
          </a:prstGeom>
          <a:solidFill>
            <a:schemeClr val="accent1"/>
          </a:solidFill>
          <a:ln/>
        </p:spPr>
      </p:sp>
      <p:sp>
        <p:nvSpPr>
          <p:cNvPr id="11" name="Text 9"/>
          <p:cNvSpPr txBox="1"/>
          <p:nvPr/>
        </p:nvSpPr>
        <p:spPr>
          <a:xfrm>
            <a:off x="548640" y="388620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2" name="Text 10"/>
          <p:cNvSpPr txBox="1"/>
          <p:nvPr/>
        </p:nvSpPr>
        <p:spPr>
          <a:xfrm>
            <a:off x="1188720" y="3849624"/>
            <a:ext cx="3017520" cy="960120"/>
          </a:xfrm>
          <a:prstGeom prst="rect">
            <a:avLst/>
          </a:prstGeom>
          <a:noFill/>
          <a:ln/>
        </p:spPr>
        <p:txBody>
          <a:bodyPr wrap="square" lIns="0" tIns="0" rIns="0" bIns="0" rtlCol="0" anchor="t"/>
          <a:lstStyle/>
          <a:p>
            <a:pPr indent="0" marL="0">
              <a:spcAft>
                <a:spcPts val="200"/>
              </a:spcAft>
              <a:buNone/>
            </a:pPr>
            <a:r>
              <a:rPr lang="en-US" sz="1600" b="1" dirty="0">
                <a:solidFill>
                  <a:schemeClr val="bg1"/>
                </a:solidFill>
              </a:rPr>
              <a:t>Adopt with one click</a:t>
            </a:r>
            <a:endParaRPr lang="en-US" sz="1500" dirty="0"/>
          </a:p>
          <a:p>
            <a:pPr indent="0" marL="0">
              <a:spcAft>
                <a:spcPts val="200"/>
              </a:spcAft>
              <a:buNone/>
            </a:pPr>
            <a:r>
              <a:rPr lang="en-US" sz="1300" dirty="0">
                <a:solidFill>
                  <a:schemeClr val="bg2"/>
                </a:solidFill>
              </a:rPr>
              <a:t>The rule joins your personal playbook.</a:t>
            </a:r>
            <a:endParaRPr lang="en-US" sz="1500" dirty="0"/>
          </a:p>
        </p:txBody>
      </p:sp>
      <p:sp>
        <p:nvSpPr>
          <p:cNvPr id="13" name="step 4"/>
          <p:cNvSpPr/>
          <p:nvPr/>
        </p:nvSpPr>
        <p:spPr>
          <a:xfrm>
            <a:off x="548640" y="4983480"/>
            <a:ext cx="457200" cy="457200"/>
          </a:xfrm>
          <a:prstGeom prst="ellipse">
            <a:avLst/>
          </a:prstGeom>
          <a:solidFill>
            <a:schemeClr val="accent1"/>
          </a:solidFill>
          <a:ln/>
        </p:spPr>
      </p:sp>
      <p:sp>
        <p:nvSpPr>
          <p:cNvPr id="14" name="Text 12"/>
          <p:cNvSpPr txBox="1"/>
          <p:nvPr/>
        </p:nvSpPr>
        <p:spPr>
          <a:xfrm>
            <a:off x="548640" y="49834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15" name="Text 13"/>
          <p:cNvSpPr txBox="1"/>
          <p:nvPr/>
        </p:nvSpPr>
        <p:spPr>
          <a:xfrm>
            <a:off x="1188720" y="4946904"/>
            <a:ext cx="3017520" cy="960120"/>
          </a:xfrm>
          <a:prstGeom prst="rect">
            <a:avLst/>
          </a:prstGeom>
          <a:noFill/>
          <a:ln/>
        </p:spPr>
        <p:txBody>
          <a:bodyPr wrap="square" lIns="0" tIns="0" rIns="0" bIns="0" rtlCol="0" anchor="t"/>
          <a:lstStyle/>
          <a:p>
            <a:pPr indent="0" marL="0">
              <a:spcAft>
                <a:spcPts val="200"/>
              </a:spcAft>
              <a:buNone/>
            </a:pPr>
            <a:r>
              <a:rPr lang="en-US" sz="1600" b="1" dirty="0">
                <a:solidFill>
                  <a:schemeClr val="bg1"/>
                </a:solidFill>
              </a:rPr>
              <a:t>Check a buy</a:t>
            </a:r>
            <a:endParaRPr lang="en-US" sz="1500" dirty="0"/>
          </a:p>
          <a:p>
            <a:pPr indent="0" marL="0">
              <a:spcAft>
                <a:spcPts val="200"/>
              </a:spcAft>
              <a:buNone/>
            </a:pPr>
            <a:r>
              <a:rPr lang="en-US" sz="1300" dirty="0">
                <a:solidFill>
                  <a:schemeClr val="bg2"/>
                </a:solidFill>
              </a:rPr>
              <a:t>Before you place it: which of your rules object, right now, and why.</a:t>
            </a:r>
            <a:endParaRPr lang="en-US" sz="1500" dirty="0"/>
          </a:p>
        </p:txBody>
      </p:sp>
      <p:sp>
        <p:nvSpPr>
          <p:cNvPr id="16" name="Coach: what to change frame"/>
          <p:cNvSpPr/>
          <p:nvPr/>
        </p:nvSpPr>
        <p:spPr>
          <a:xfrm>
            <a:off x="4443984" y="1609344"/>
            <a:ext cx="7251192" cy="1773079"/>
          </a:xfrm>
          <a:prstGeom prst="roundRect">
            <a:avLst>
              <a:gd name="adj" fmla="val 4126"/>
            </a:avLst>
          </a:prstGeom>
          <a:solidFill>
            <a:schemeClr val="accent5"/>
          </a:solidFill>
          <a:ln w="12700">
            <a:solidFill>
              <a:schemeClr val="accent5"/>
            </a:solidFill>
            <a:prstDash val="solid"/>
          </a:ln>
          <a:effectLst>
            <a:outerShdw sx="100000" sy="100000" kx="0" ky="0" algn="bl" rotWithShape="0" blurRad="152400" dist="50800" dir="5400000">
              <a:srgbClr val="000000">
                <a:alpha val="45000"/>
              </a:srgbClr>
            </a:outerShdw>
          </a:effectLst>
        </p:spPr>
      </p:sp>
      <p:sp>
        <p:nvSpPr>
          <p:cNvPr id="17" name="Coach: what to change dot"/>
          <p:cNvSpPr/>
          <p:nvPr/>
        </p:nvSpPr>
        <p:spPr>
          <a:xfrm>
            <a:off x="4572000" y="1700784"/>
            <a:ext cx="82296" cy="82296"/>
          </a:xfrm>
          <a:prstGeom prst="ellipse">
            <a:avLst/>
          </a:prstGeom>
          <a:solidFill>
            <a:schemeClr val="accent4"/>
          </a:solidFill>
          <a:ln/>
        </p:spPr>
      </p:sp>
      <p:sp>
        <p:nvSpPr>
          <p:cNvPr id="18" name="Coach: what to change dot"/>
          <p:cNvSpPr/>
          <p:nvPr/>
        </p:nvSpPr>
        <p:spPr>
          <a:xfrm>
            <a:off x="4718304" y="1700784"/>
            <a:ext cx="82296" cy="82296"/>
          </a:xfrm>
          <a:prstGeom prst="ellipse">
            <a:avLst/>
          </a:prstGeom>
          <a:solidFill>
            <a:schemeClr val="accent3"/>
          </a:solidFill>
          <a:ln/>
        </p:spPr>
      </p:sp>
      <p:sp>
        <p:nvSpPr>
          <p:cNvPr id="19" name="Coach: what to change dot"/>
          <p:cNvSpPr/>
          <p:nvPr/>
        </p:nvSpPr>
        <p:spPr>
          <a:xfrm>
            <a:off x="4864608" y="1700784"/>
            <a:ext cx="82296" cy="82296"/>
          </a:xfrm>
          <a:prstGeom prst="ellipse">
            <a:avLst/>
          </a:prstGeom>
          <a:solidFill>
            <a:schemeClr val="accent1"/>
          </a:solidFill>
          <a:ln/>
        </p:spPr>
      </p:sp>
      <p:pic>
        <p:nvPicPr>
          <p:cNvPr id="20" name="Coach: what to change" descr="Coach: what to change">    </p:cNvPr>
          <p:cNvPicPr>
            <a:picLocks noChangeAspect="1"/>
          </p:cNvPicPr>
          <p:nvPr/>
        </p:nvPicPr>
        <p:blipFill>
          <a:blip r:embed="rId1"/>
          <a:stretch>
            <a:fillRect/>
          </a:stretch>
        </p:blipFill>
        <p:spPr>
          <a:xfrm>
            <a:off x="4480560" y="1865376"/>
            <a:ext cx="7178040" cy="1480471"/>
          </a:xfrm>
          <a:prstGeom prst="rect">
            <a:avLst/>
          </a:prstGeom>
        </p:spPr>
      </p:pic>
      <p:sp>
        <p:nvSpPr>
          <p:cNvPr id="21" name="Check a buy before you place it frame"/>
          <p:cNvSpPr/>
          <p:nvPr/>
        </p:nvSpPr>
        <p:spPr>
          <a:xfrm>
            <a:off x="4443984" y="3583591"/>
            <a:ext cx="7251192" cy="1666098"/>
          </a:xfrm>
          <a:prstGeom prst="roundRect">
            <a:avLst>
              <a:gd name="adj" fmla="val 4391"/>
            </a:avLst>
          </a:prstGeom>
          <a:solidFill>
            <a:schemeClr val="accent5"/>
          </a:solidFill>
          <a:ln w="12700">
            <a:solidFill>
              <a:schemeClr val="accent5"/>
            </a:solidFill>
            <a:prstDash val="solid"/>
          </a:ln>
          <a:effectLst>
            <a:outerShdw sx="100000" sy="100000" kx="0" ky="0" algn="bl" rotWithShape="0" blurRad="152400" dist="50800" dir="5400000">
              <a:srgbClr val="000000">
                <a:alpha val="45000"/>
              </a:srgbClr>
            </a:outerShdw>
          </a:effectLst>
        </p:spPr>
      </p:sp>
      <p:sp>
        <p:nvSpPr>
          <p:cNvPr id="22" name="Check a buy before you place it dot"/>
          <p:cNvSpPr/>
          <p:nvPr/>
        </p:nvSpPr>
        <p:spPr>
          <a:xfrm>
            <a:off x="4572000" y="3675031"/>
            <a:ext cx="82296" cy="82296"/>
          </a:xfrm>
          <a:prstGeom prst="ellipse">
            <a:avLst/>
          </a:prstGeom>
          <a:solidFill>
            <a:schemeClr val="accent4"/>
          </a:solidFill>
          <a:ln/>
        </p:spPr>
      </p:sp>
      <p:sp>
        <p:nvSpPr>
          <p:cNvPr id="23" name="Check a buy before you place it dot"/>
          <p:cNvSpPr/>
          <p:nvPr/>
        </p:nvSpPr>
        <p:spPr>
          <a:xfrm>
            <a:off x="4718304" y="3675031"/>
            <a:ext cx="82296" cy="82296"/>
          </a:xfrm>
          <a:prstGeom prst="ellipse">
            <a:avLst/>
          </a:prstGeom>
          <a:solidFill>
            <a:schemeClr val="accent3"/>
          </a:solidFill>
          <a:ln/>
        </p:spPr>
      </p:sp>
      <p:sp>
        <p:nvSpPr>
          <p:cNvPr id="24" name="Check a buy before you place it dot"/>
          <p:cNvSpPr/>
          <p:nvPr/>
        </p:nvSpPr>
        <p:spPr>
          <a:xfrm>
            <a:off x="4864608" y="3675031"/>
            <a:ext cx="82296" cy="82296"/>
          </a:xfrm>
          <a:prstGeom prst="ellipse">
            <a:avLst/>
          </a:prstGeom>
          <a:solidFill>
            <a:schemeClr val="accent1"/>
          </a:solidFill>
          <a:ln/>
        </p:spPr>
      </p:sp>
      <p:pic>
        <p:nvPicPr>
          <p:cNvPr id="25" name="Check a buy before you place it" descr="Check a buy before you place it">    </p:cNvPr>
          <p:cNvPicPr>
            <a:picLocks noChangeAspect="1"/>
          </p:cNvPicPr>
          <p:nvPr/>
        </p:nvPicPr>
        <p:blipFill>
          <a:blip r:embed="rId2"/>
          <a:stretch>
            <a:fillRect/>
          </a:stretch>
        </p:blipFill>
        <p:spPr>
          <a:xfrm>
            <a:off x="4480560" y="3839623"/>
            <a:ext cx="7178040" cy="1373490"/>
          </a:xfrm>
          <a:prstGeom prst="rect">
            <a:avLst/>
          </a:prstGeom>
        </p:spPr>
      </p:pic>
      <p:sp>
        <p:nvSpPr>
          <p:cNvPr id="26" name="Text 22"/>
          <p:cNvSpPr txBox="1"/>
          <p:nvPr/>
        </p:nvSpPr>
        <p:spPr>
          <a:xfrm>
            <a:off x="4480560" y="5487433"/>
            <a:ext cx="7178040" cy="457200"/>
          </a:xfrm>
          <a:prstGeom prst="rect">
            <a:avLst/>
          </a:prstGeom>
          <a:noFill/>
          <a:ln/>
        </p:spPr>
        <p:txBody>
          <a:bodyPr wrap="square" lIns="0" tIns="0" rIns="0" bIns="0" rtlCol="0" anchor="t"/>
          <a:lstStyle/>
          <a:p>
            <a:pPr indent="0" marL="0">
              <a:buNone/>
            </a:pPr>
            <a:r>
              <a:rPr lang="en-US" sz="1300" dirty="0">
                <a:solidFill>
                  <a:schemeClr val="bg2"/>
                </a:solidFill>
              </a:rPr>
              <a:t>Paper portfolios and checks only: Stocktrails never places an order, and nothing here is investment advice.</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algn="l" indent="0" marL="0">
              <a:buNone/>
            </a:pPr>
            <a:r>
              <a:rPr lang="en-US" sz="1200" b="1" spc="200" kern="0" dirty="0">
                <a:solidFill>
                  <a:schemeClr val="accent1"/>
                </a:solidFill>
              </a:rPr>
              <a:t>01 · THE PRODUCT · AI AGENT</a:t>
            </a:r>
            <a:endParaRPr lang="en-US" sz="1200" dirty="0"/>
          </a:p>
        </p:txBody>
      </p:sp>
      <p:sp>
        <p:nvSpPr>
          <p:cNvPr id="3" name="Text 1"/>
          <p:cNvSpPr/>
          <p:nvPr>
            <p:ph idx="102" type="title" hasCustomPrompt="1"/>
          </p:nvPr>
        </p:nvSpPr>
        <p:spPr>
          <a:xfrm>
            <a:off x="548640" y="640080"/>
            <a:ext cx="11064240" cy="73152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AI and investor decide in parallel. Time tells the result.</a:t>
            </a:r>
            <a:endParaRPr lang="en-US" sz="3000" dirty="0"/>
          </a:p>
        </p:txBody>
      </p:sp>
      <p:sp>
        <p:nvSpPr>
          <p:cNvPr id="4" name="icon circle"/>
          <p:cNvSpPr/>
          <p:nvPr/>
        </p:nvSpPr>
        <p:spPr>
          <a:xfrm>
            <a:off x="548640" y="1691640"/>
            <a:ext cx="548640" cy="548640"/>
          </a:xfrm>
          <a:prstGeom prst="ellipse">
            <a:avLst/>
          </a:prstGeom>
          <a:solidFill>
            <a:schemeClr val="accent5"/>
          </a:solidFill>
          <a:ln/>
        </p:spPr>
      </p:sp>
      <p:pic>
        <p:nvPicPr>
          <p:cNvPr id="5" name="LuSigma" descr="LuSigma">    </p:cNvPr>
          <p:cNvPicPr>
            <a:picLocks noChangeAspect="1"/>
          </p:cNvPicPr>
          <p:nvPr/>
        </p:nvPicPr>
        <p:blipFill>
          <a:blip r:embed="rId1"/>
          <a:stretch>
            <a:fillRect/>
          </a:stretch>
        </p:blipFill>
        <p:spPr>
          <a:xfrm>
            <a:off x="680314" y="1823314"/>
            <a:ext cx="285293" cy="285293"/>
          </a:xfrm>
          <a:prstGeom prst="rect">
            <a:avLst/>
          </a:prstGeom>
        </p:spPr>
      </p:pic>
      <p:sp>
        <p:nvSpPr>
          <p:cNvPr id="6" name="Text 3"/>
          <p:cNvSpPr txBox="1"/>
          <p:nvPr/>
        </p:nvSpPr>
        <p:spPr>
          <a:xfrm>
            <a:off x="1298448" y="1673352"/>
            <a:ext cx="4187952" cy="1005840"/>
          </a:xfrm>
          <a:prstGeom prst="rect">
            <a:avLst/>
          </a:prstGeom>
          <a:noFill/>
          <a:ln/>
        </p:spPr>
        <p:txBody>
          <a:bodyPr wrap="square" lIns="0" tIns="0" rIns="0" bIns="0" rtlCol="0" anchor="t"/>
          <a:lstStyle/>
          <a:p>
            <a:pPr indent="0" marL="0">
              <a:spcAft>
                <a:spcPts val="300"/>
              </a:spcAft>
              <a:buNone/>
            </a:pPr>
            <a:r>
              <a:rPr lang="en-US" sz="1600" b="1" dirty="0">
                <a:solidFill>
                  <a:schemeClr val="bg1"/>
                </a:solidFill>
              </a:rPr>
              <a:t>Statistics find the biases</a:t>
            </a:r>
            <a:endParaRPr lang="en-US" sz="1500" dirty="0"/>
          </a:p>
          <a:p>
            <a:pPr indent="0" marL="0">
              <a:spcAft>
                <a:spcPts val="300"/>
              </a:spcAft>
              <a:buNone/>
            </a:pPr>
            <a:r>
              <a:rPr lang="en-US" sz="1250" dirty="0">
                <a:solidFill>
                  <a:schemeClr val="bg2"/>
                </a:solidFill>
              </a:rPr>
              <a:t>Tests on your own trail show which habits are real. Pure maths, on your device.</a:t>
            </a:r>
            <a:endParaRPr lang="en-US" sz="1500" dirty="0"/>
          </a:p>
        </p:txBody>
      </p:sp>
      <p:sp>
        <p:nvSpPr>
          <p:cNvPr id="7" name="icon circle"/>
          <p:cNvSpPr/>
          <p:nvPr/>
        </p:nvSpPr>
        <p:spPr>
          <a:xfrm>
            <a:off x="548640" y="2788920"/>
            <a:ext cx="548640" cy="548640"/>
          </a:xfrm>
          <a:prstGeom prst="ellipse">
            <a:avLst/>
          </a:prstGeom>
          <a:solidFill>
            <a:schemeClr val="accent5"/>
          </a:solidFill>
          <a:ln/>
        </p:spPr>
      </p:sp>
      <p:pic>
        <p:nvPicPr>
          <p:cNvPr id="8" name="LuBrain" descr="LuBrain">    </p:cNvPr>
          <p:cNvPicPr>
            <a:picLocks noChangeAspect="1"/>
          </p:cNvPicPr>
          <p:nvPr/>
        </p:nvPicPr>
        <p:blipFill>
          <a:blip r:embed="rId2"/>
          <a:stretch>
            <a:fillRect/>
          </a:stretch>
        </p:blipFill>
        <p:spPr>
          <a:xfrm>
            <a:off x="680314" y="2920594"/>
            <a:ext cx="285293" cy="285293"/>
          </a:xfrm>
          <a:prstGeom prst="rect">
            <a:avLst/>
          </a:prstGeom>
        </p:spPr>
      </p:pic>
      <p:sp>
        <p:nvSpPr>
          <p:cNvPr id="9" name="Text 5"/>
          <p:cNvSpPr txBox="1"/>
          <p:nvPr/>
        </p:nvSpPr>
        <p:spPr>
          <a:xfrm>
            <a:off x="1298448" y="2770632"/>
            <a:ext cx="4187952" cy="1005840"/>
          </a:xfrm>
          <a:prstGeom prst="rect">
            <a:avLst/>
          </a:prstGeom>
          <a:noFill/>
          <a:ln/>
        </p:spPr>
        <p:txBody>
          <a:bodyPr wrap="square" lIns="0" tIns="0" rIns="0" bIns="0" rtlCol="0" anchor="t"/>
          <a:lstStyle/>
          <a:p>
            <a:pPr indent="0" marL="0">
              <a:spcAft>
                <a:spcPts val="300"/>
              </a:spcAft>
              <a:buNone/>
            </a:pPr>
            <a:r>
              <a:rPr lang="en-US" sz="1600" b="1" dirty="0">
                <a:solidFill>
                  <a:schemeClr val="bg1"/>
                </a:solidFill>
              </a:rPr>
              <a:t>Then the AI decides</a:t>
            </a:r>
            <a:endParaRPr lang="en-US" sz="1500" dirty="0"/>
          </a:p>
          <a:p>
            <a:pPr indent="0" marL="0">
              <a:spcAft>
                <a:spcPts val="300"/>
              </a:spcAft>
              <a:buNone/>
            </a:pPr>
            <a:r>
              <a:rPr lang="en-US" sz="1250" dirty="0">
                <a:solidFill>
                  <a:schemeClr val="bg2"/>
                </a:solidFill>
              </a:rPr>
              <a:t>At each live moment the AI agent weighs the same facts you have: buy, wait or pass, with odds. It acts only on a choice of 60% or more, otherwise it asks again later.</a:t>
            </a:r>
            <a:endParaRPr lang="en-US" sz="1500" dirty="0"/>
          </a:p>
        </p:txBody>
      </p:sp>
      <p:sp>
        <p:nvSpPr>
          <p:cNvPr id="10" name="icon circle"/>
          <p:cNvSpPr/>
          <p:nvPr/>
        </p:nvSpPr>
        <p:spPr>
          <a:xfrm>
            <a:off x="548640" y="3886200"/>
            <a:ext cx="548640" cy="548640"/>
          </a:xfrm>
          <a:prstGeom prst="ellipse">
            <a:avLst/>
          </a:prstGeom>
          <a:solidFill>
            <a:schemeClr val="accent5"/>
          </a:solidFill>
          <a:ln/>
        </p:spPr>
      </p:sp>
      <p:pic>
        <p:nvPicPr>
          <p:cNvPr id="11" name="LuLock" descr="LuLock">    </p:cNvPr>
          <p:cNvPicPr>
            <a:picLocks noChangeAspect="1"/>
          </p:cNvPicPr>
          <p:nvPr/>
        </p:nvPicPr>
        <p:blipFill>
          <a:blip r:embed="rId3"/>
          <a:stretch>
            <a:fillRect/>
          </a:stretch>
        </p:blipFill>
        <p:spPr>
          <a:xfrm>
            <a:off x="680314" y="4017874"/>
            <a:ext cx="285293" cy="285293"/>
          </a:xfrm>
          <a:prstGeom prst="rect">
            <a:avLst/>
          </a:prstGeom>
        </p:spPr>
      </p:pic>
      <p:sp>
        <p:nvSpPr>
          <p:cNvPr id="12" name="Text 7"/>
          <p:cNvSpPr txBox="1"/>
          <p:nvPr/>
        </p:nvSpPr>
        <p:spPr>
          <a:xfrm>
            <a:off x="1298448" y="3867912"/>
            <a:ext cx="4187952" cy="1005840"/>
          </a:xfrm>
          <a:prstGeom prst="rect">
            <a:avLst/>
          </a:prstGeom>
          <a:noFill/>
          <a:ln/>
        </p:spPr>
        <p:txBody>
          <a:bodyPr wrap="square" lIns="0" tIns="0" rIns="0" bIns="0" rtlCol="0" anchor="t"/>
          <a:lstStyle/>
          <a:p>
            <a:pPr indent="0" marL="0">
              <a:spcAft>
                <a:spcPts val="300"/>
              </a:spcAft>
              <a:buNone/>
            </a:pPr>
            <a:r>
              <a:rPr lang="en-US" sz="1600" b="1" dirty="0">
                <a:solidFill>
                  <a:schemeClr val="bg1"/>
                </a:solidFill>
              </a:rPr>
              <a:t>Saved once, never revised</a:t>
            </a:r>
            <a:endParaRPr lang="en-US" sz="1500" dirty="0"/>
          </a:p>
          <a:p>
            <a:pPr indent="0" marL="0">
              <a:spcAft>
                <a:spcPts val="300"/>
              </a:spcAft>
              <a:buNone/>
            </a:pPr>
            <a:r>
              <a:rPr lang="en-US" sz="1250" dirty="0">
                <a:solidFill>
                  <a:schemeClr val="bg2"/>
                </a:solidFill>
              </a:rPr>
              <a:t>Every decision is stamped with its time. Live moments only: no backfilling, no hindsight. Hidden until you ask, so it never sways your call.</a:t>
            </a:r>
            <a:endParaRPr lang="en-US" sz="1500" dirty="0"/>
          </a:p>
        </p:txBody>
      </p:sp>
      <p:sp>
        <p:nvSpPr>
          <p:cNvPr id="13" name="icon circle"/>
          <p:cNvSpPr/>
          <p:nvPr/>
        </p:nvSpPr>
        <p:spPr>
          <a:xfrm>
            <a:off x="548640" y="4983480"/>
            <a:ext cx="548640" cy="548640"/>
          </a:xfrm>
          <a:prstGeom prst="ellipse">
            <a:avLst/>
          </a:prstGeom>
          <a:solidFill>
            <a:schemeClr val="accent5"/>
          </a:solidFill>
          <a:ln/>
        </p:spPr>
      </p:sp>
      <p:pic>
        <p:nvPicPr>
          <p:cNvPr id="14" name="LuHourglass" descr="LuHourglass">    </p:cNvPr>
          <p:cNvPicPr>
            <a:picLocks noChangeAspect="1"/>
          </p:cNvPicPr>
          <p:nvPr/>
        </p:nvPicPr>
        <p:blipFill>
          <a:blip r:embed="rId4"/>
          <a:stretch>
            <a:fillRect/>
          </a:stretch>
        </p:blipFill>
        <p:spPr>
          <a:xfrm>
            <a:off x="680314" y="5115154"/>
            <a:ext cx="285293" cy="285293"/>
          </a:xfrm>
          <a:prstGeom prst="rect">
            <a:avLst/>
          </a:prstGeom>
        </p:spPr>
      </p:pic>
      <p:sp>
        <p:nvSpPr>
          <p:cNvPr id="15" name="Text 9"/>
          <p:cNvSpPr txBox="1"/>
          <p:nvPr/>
        </p:nvSpPr>
        <p:spPr>
          <a:xfrm>
            <a:off x="1298448" y="4965192"/>
            <a:ext cx="4187952" cy="1005840"/>
          </a:xfrm>
          <a:prstGeom prst="rect">
            <a:avLst/>
          </a:prstGeom>
          <a:noFill/>
          <a:ln/>
        </p:spPr>
        <p:txBody>
          <a:bodyPr wrap="square" lIns="0" tIns="0" rIns="0" bIns="0" rtlCol="0" anchor="t"/>
          <a:lstStyle/>
          <a:p>
            <a:pPr indent="0" marL="0">
              <a:spcAft>
                <a:spcPts val="300"/>
              </a:spcAft>
              <a:buNone/>
            </a:pPr>
            <a:r>
              <a:rPr lang="en-US" sz="1600" b="1" dirty="0">
                <a:solidFill>
                  <a:schemeClr val="bg1"/>
                </a:solidFill>
              </a:rPr>
              <a:t>Time tells the result</a:t>
            </a:r>
            <a:endParaRPr lang="en-US" sz="1500" dirty="0"/>
          </a:p>
          <a:p>
            <a:pPr indent="0" marL="0">
              <a:spcAft>
                <a:spcPts val="300"/>
              </a:spcAft>
              <a:buNone/>
            </a:pPr>
            <a:r>
              <a:rPr lang="en-US" sz="1250" dirty="0">
                <a:solidFill>
                  <a:schemeClr val="bg2"/>
                </a:solidFill>
              </a:rPr>
              <a:t>Its paper portfolio runs next to yours and the rules agent's, against the NASDAQ.</a:t>
            </a:r>
            <a:endParaRPr lang="en-US" sz="1500" dirty="0"/>
          </a:p>
        </p:txBody>
      </p:sp>
      <p:sp>
        <p:nvSpPr>
          <p:cNvPr id="16" name="Decisions of the rules agent and the AI agent, side by side frame"/>
          <p:cNvSpPr/>
          <p:nvPr/>
        </p:nvSpPr>
        <p:spPr>
          <a:xfrm>
            <a:off x="5769864" y="1609344"/>
            <a:ext cx="5925312" cy="2398213"/>
          </a:xfrm>
          <a:prstGeom prst="roundRect">
            <a:avLst>
              <a:gd name="adj" fmla="val 3050"/>
            </a:avLst>
          </a:prstGeom>
          <a:solidFill>
            <a:schemeClr val="accent5"/>
          </a:solidFill>
          <a:ln w="12700">
            <a:solidFill>
              <a:schemeClr val="accent5"/>
            </a:solidFill>
            <a:prstDash val="solid"/>
          </a:ln>
          <a:effectLst>
            <a:outerShdw sx="100000" sy="100000" kx="0" ky="0" algn="bl" rotWithShape="0" blurRad="152400" dist="50800" dir="5400000">
              <a:srgbClr val="000000">
                <a:alpha val="45000"/>
              </a:srgbClr>
            </a:outerShdw>
          </a:effectLst>
        </p:spPr>
      </p:sp>
      <p:sp>
        <p:nvSpPr>
          <p:cNvPr id="17" name="Decisions of the rules agent and the AI agent, side by side dot"/>
          <p:cNvSpPr/>
          <p:nvPr/>
        </p:nvSpPr>
        <p:spPr>
          <a:xfrm>
            <a:off x="5897880" y="1700784"/>
            <a:ext cx="82296" cy="82296"/>
          </a:xfrm>
          <a:prstGeom prst="ellipse">
            <a:avLst/>
          </a:prstGeom>
          <a:solidFill>
            <a:schemeClr val="accent4"/>
          </a:solidFill>
          <a:ln/>
        </p:spPr>
      </p:sp>
      <p:sp>
        <p:nvSpPr>
          <p:cNvPr id="18" name="Decisions of the rules agent and the AI agent, side by side dot"/>
          <p:cNvSpPr/>
          <p:nvPr/>
        </p:nvSpPr>
        <p:spPr>
          <a:xfrm>
            <a:off x="6044184" y="1700784"/>
            <a:ext cx="82296" cy="82296"/>
          </a:xfrm>
          <a:prstGeom prst="ellipse">
            <a:avLst/>
          </a:prstGeom>
          <a:solidFill>
            <a:schemeClr val="accent3"/>
          </a:solidFill>
          <a:ln/>
        </p:spPr>
      </p:sp>
      <p:sp>
        <p:nvSpPr>
          <p:cNvPr id="19" name="Decisions of the rules agent and the AI agent, side by side dot"/>
          <p:cNvSpPr/>
          <p:nvPr/>
        </p:nvSpPr>
        <p:spPr>
          <a:xfrm>
            <a:off x="6190488" y="1700784"/>
            <a:ext cx="82296" cy="82296"/>
          </a:xfrm>
          <a:prstGeom prst="ellipse">
            <a:avLst/>
          </a:prstGeom>
          <a:solidFill>
            <a:schemeClr val="accent1"/>
          </a:solidFill>
          <a:ln/>
        </p:spPr>
      </p:sp>
      <p:pic>
        <p:nvPicPr>
          <p:cNvPr id="20" name="Decisions of the rules agent and the AI agent, side by side" descr="Decisions of the rules agent and the AI agent, side by side">    </p:cNvPr>
          <p:cNvPicPr>
            <a:picLocks noChangeAspect="1"/>
          </p:cNvPicPr>
          <p:nvPr/>
        </p:nvPicPr>
        <p:blipFill>
          <a:blip r:embed="rId5"/>
          <a:stretch>
            <a:fillRect/>
          </a:stretch>
        </p:blipFill>
        <p:spPr>
          <a:xfrm>
            <a:off x="5806440" y="1865376"/>
            <a:ext cx="5852160" cy="2105605"/>
          </a:xfrm>
          <a:prstGeom prst="rect">
            <a:avLst/>
          </a:prstGeom>
        </p:spPr>
      </p:pic>
      <p:sp>
        <p:nvSpPr>
          <p:cNvPr id="21" name="Paper portfolios: you, the rules agent, the AI agent and the NASDAQ frame"/>
          <p:cNvSpPr/>
          <p:nvPr/>
        </p:nvSpPr>
        <p:spPr>
          <a:xfrm>
            <a:off x="5769864" y="4208725"/>
            <a:ext cx="5925312" cy="1955517"/>
          </a:xfrm>
          <a:prstGeom prst="roundRect">
            <a:avLst>
              <a:gd name="adj" fmla="val 3741"/>
            </a:avLst>
          </a:prstGeom>
          <a:solidFill>
            <a:schemeClr val="accent5"/>
          </a:solidFill>
          <a:ln w="12700">
            <a:solidFill>
              <a:schemeClr val="accent5"/>
            </a:solidFill>
            <a:prstDash val="solid"/>
          </a:ln>
          <a:effectLst>
            <a:outerShdw sx="100000" sy="100000" kx="0" ky="0" algn="bl" rotWithShape="0" blurRad="152400" dist="50800" dir="5400000">
              <a:srgbClr val="000000">
                <a:alpha val="45000"/>
              </a:srgbClr>
            </a:outerShdw>
          </a:effectLst>
        </p:spPr>
      </p:sp>
      <p:sp>
        <p:nvSpPr>
          <p:cNvPr id="22" name="Paper portfolios: you, the rules agent, the AI agent and the NASDAQ dot"/>
          <p:cNvSpPr/>
          <p:nvPr/>
        </p:nvSpPr>
        <p:spPr>
          <a:xfrm>
            <a:off x="5897880" y="4300165"/>
            <a:ext cx="82296" cy="82296"/>
          </a:xfrm>
          <a:prstGeom prst="ellipse">
            <a:avLst/>
          </a:prstGeom>
          <a:solidFill>
            <a:schemeClr val="accent4"/>
          </a:solidFill>
          <a:ln/>
        </p:spPr>
      </p:sp>
      <p:sp>
        <p:nvSpPr>
          <p:cNvPr id="23" name="Paper portfolios: you, the rules agent, the AI agent and the NASDAQ dot"/>
          <p:cNvSpPr/>
          <p:nvPr/>
        </p:nvSpPr>
        <p:spPr>
          <a:xfrm>
            <a:off x="6044184" y="4300165"/>
            <a:ext cx="82296" cy="82296"/>
          </a:xfrm>
          <a:prstGeom prst="ellipse">
            <a:avLst/>
          </a:prstGeom>
          <a:solidFill>
            <a:schemeClr val="accent3"/>
          </a:solidFill>
          <a:ln/>
        </p:spPr>
      </p:sp>
      <p:sp>
        <p:nvSpPr>
          <p:cNvPr id="24" name="Paper portfolios: you, the rules agent, the AI agent and the NASDAQ dot"/>
          <p:cNvSpPr/>
          <p:nvPr/>
        </p:nvSpPr>
        <p:spPr>
          <a:xfrm>
            <a:off x="6190488" y="4300165"/>
            <a:ext cx="82296" cy="82296"/>
          </a:xfrm>
          <a:prstGeom prst="ellipse">
            <a:avLst/>
          </a:prstGeom>
          <a:solidFill>
            <a:schemeClr val="accent1"/>
          </a:solidFill>
          <a:ln/>
        </p:spPr>
      </p:sp>
      <p:pic>
        <p:nvPicPr>
          <p:cNvPr id="25" name="Paper portfolios: you, the rules agent, the AI agent and the NASDAQ" descr="Paper portfolios: you, the rules agent, the AI agent and the NASDAQ">    </p:cNvPr>
          <p:cNvPicPr>
            <a:picLocks noChangeAspect="1"/>
          </p:cNvPicPr>
          <p:nvPr/>
        </p:nvPicPr>
        <p:blipFill>
          <a:blip r:embed="rId6"/>
          <a:stretch>
            <a:fillRect/>
          </a:stretch>
        </p:blipFill>
        <p:spPr>
          <a:xfrm>
            <a:off x="5806440" y="4464757"/>
            <a:ext cx="5852160" cy="1662909"/>
          </a:xfrm>
          <a:prstGeom prst="rect">
            <a:avLst/>
          </a:prstGeom>
        </p:spPr>
      </p:pic>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algn="l" indent="0" marL="0">
              <a:buNone/>
            </a:pPr>
            <a:r>
              <a:rPr lang="en-US" sz="1200" b="1" spc="200" kern="0" dirty="0">
                <a:solidFill>
                  <a:schemeClr val="accent1"/>
                </a:solidFill>
              </a:rPr>
              <a:t>01 · THE PRODUCT · ASSISTANT</a:t>
            </a:r>
            <a:endParaRPr lang="en-US" sz="1200" dirty="0"/>
          </a:p>
        </p:txBody>
      </p:sp>
      <p:sp>
        <p:nvSpPr>
          <p:cNvPr id="3" name="Text 1"/>
          <p:cNvSpPr/>
          <p:nvPr>
            <p:ph idx="102" type="title" hasCustomPrompt="1"/>
          </p:nvPr>
        </p:nvSpPr>
        <p:spPr>
          <a:xfrm>
            <a:off x="548640" y="640080"/>
            <a:ext cx="11064240" cy="73152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Ask your data: an assistant that shows its work</a:t>
            </a:r>
            <a:endParaRPr lang="en-US" sz="3000" dirty="0"/>
          </a:p>
        </p:txBody>
      </p:sp>
      <p:sp>
        <p:nvSpPr>
          <p:cNvPr id="4" name="Assistant side panel frame"/>
          <p:cNvSpPr/>
          <p:nvPr/>
        </p:nvSpPr>
        <p:spPr>
          <a:xfrm>
            <a:off x="9290304" y="1563624"/>
            <a:ext cx="2084832" cy="4603351"/>
          </a:xfrm>
          <a:prstGeom prst="roundRect">
            <a:avLst>
              <a:gd name="adj" fmla="val 3509"/>
            </a:avLst>
          </a:prstGeom>
          <a:solidFill>
            <a:schemeClr val="accent5"/>
          </a:solidFill>
          <a:ln w="12700">
            <a:solidFill>
              <a:schemeClr val="accent5"/>
            </a:solidFill>
            <a:prstDash val="solid"/>
          </a:ln>
          <a:effectLst>
            <a:outerShdw sx="100000" sy="100000" kx="0" ky="0" algn="bl" rotWithShape="0" blurRad="152400" dist="50800" dir="5400000">
              <a:srgbClr val="000000">
                <a:alpha val="45000"/>
              </a:srgbClr>
            </a:outerShdw>
          </a:effectLst>
        </p:spPr>
      </p:sp>
      <p:sp>
        <p:nvSpPr>
          <p:cNvPr id="5" name="Assistant side panel dot"/>
          <p:cNvSpPr/>
          <p:nvPr/>
        </p:nvSpPr>
        <p:spPr>
          <a:xfrm>
            <a:off x="9418320" y="1655064"/>
            <a:ext cx="82296" cy="82296"/>
          </a:xfrm>
          <a:prstGeom prst="ellipse">
            <a:avLst/>
          </a:prstGeom>
          <a:solidFill>
            <a:schemeClr val="accent4"/>
          </a:solidFill>
          <a:ln/>
        </p:spPr>
      </p:sp>
      <p:sp>
        <p:nvSpPr>
          <p:cNvPr id="6" name="Assistant side panel dot"/>
          <p:cNvSpPr/>
          <p:nvPr/>
        </p:nvSpPr>
        <p:spPr>
          <a:xfrm>
            <a:off x="9564624" y="1655064"/>
            <a:ext cx="82296" cy="82296"/>
          </a:xfrm>
          <a:prstGeom prst="ellipse">
            <a:avLst/>
          </a:prstGeom>
          <a:solidFill>
            <a:schemeClr val="accent3"/>
          </a:solidFill>
          <a:ln/>
        </p:spPr>
      </p:sp>
      <p:sp>
        <p:nvSpPr>
          <p:cNvPr id="7" name="Assistant side panel dot"/>
          <p:cNvSpPr/>
          <p:nvPr/>
        </p:nvSpPr>
        <p:spPr>
          <a:xfrm>
            <a:off x="9710928" y="1655064"/>
            <a:ext cx="82296" cy="82296"/>
          </a:xfrm>
          <a:prstGeom prst="ellipse">
            <a:avLst/>
          </a:prstGeom>
          <a:solidFill>
            <a:schemeClr val="accent1"/>
          </a:solidFill>
          <a:ln/>
        </p:spPr>
      </p:sp>
      <p:pic>
        <p:nvPicPr>
          <p:cNvPr id="8" name="Assistant side panel" descr="Assistant side panel">    </p:cNvPr>
          <p:cNvPicPr>
            <a:picLocks noChangeAspect="1"/>
          </p:cNvPicPr>
          <p:nvPr/>
        </p:nvPicPr>
        <p:blipFill>
          <a:blip r:embed="rId1"/>
          <a:stretch>
            <a:fillRect/>
          </a:stretch>
        </p:blipFill>
        <p:spPr>
          <a:xfrm>
            <a:off x="9326880" y="1819656"/>
            <a:ext cx="2011680" cy="4310743"/>
          </a:xfrm>
          <a:prstGeom prst="rect">
            <a:avLst/>
          </a:prstGeom>
        </p:spPr>
      </p:pic>
      <p:sp>
        <p:nvSpPr>
          <p:cNvPr id="9" name="icon circle"/>
          <p:cNvSpPr/>
          <p:nvPr/>
        </p:nvSpPr>
        <p:spPr>
          <a:xfrm>
            <a:off x="548640" y="1737360"/>
            <a:ext cx="603504" cy="603504"/>
          </a:xfrm>
          <a:prstGeom prst="ellipse">
            <a:avLst/>
          </a:prstGeom>
          <a:solidFill>
            <a:schemeClr val="accent5"/>
          </a:solidFill>
          <a:ln/>
        </p:spPr>
      </p:sp>
      <p:pic>
        <p:nvPicPr>
          <p:cNvPr id="10" name="LuMessageSquare" descr="LuMessageSquare">    </p:cNvPr>
          <p:cNvPicPr>
            <a:picLocks noChangeAspect="1"/>
          </p:cNvPicPr>
          <p:nvPr/>
        </p:nvPicPr>
        <p:blipFill>
          <a:blip r:embed="rId2"/>
          <a:stretch>
            <a:fillRect/>
          </a:stretch>
        </p:blipFill>
        <p:spPr>
          <a:xfrm>
            <a:off x="693481" y="1882201"/>
            <a:ext cx="313822" cy="313822"/>
          </a:xfrm>
          <a:prstGeom prst="rect">
            <a:avLst/>
          </a:prstGeom>
        </p:spPr>
      </p:pic>
      <p:sp>
        <p:nvSpPr>
          <p:cNvPr id="11" name="Text 7"/>
          <p:cNvSpPr txBox="1"/>
          <p:nvPr/>
        </p:nvSpPr>
        <p:spPr>
          <a:xfrm>
            <a:off x="1353312" y="1719072"/>
            <a:ext cx="7059168" cy="914400"/>
          </a:xfrm>
          <a:prstGeom prst="rect">
            <a:avLst/>
          </a:prstGeom>
          <a:noFill/>
          <a:ln/>
        </p:spPr>
        <p:txBody>
          <a:bodyPr wrap="square" lIns="0" tIns="0" rIns="0" bIns="0" rtlCol="0" anchor="t"/>
          <a:lstStyle/>
          <a:p>
            <a:pPr indent="0" marL="0">
              <a:spcAft>
                <a:spcPts val="300"/>
              </a:spcAft>
              <a:buNone/>
            </a:pPr>
            <a:r>
              <a:rPr lang="en-US" sz="1900" b="1" dirty="0">
                <a:solidFill>
                  <a:schemeClr val="bg1"/>
                </a:solidFill>
              </a:rPr>
              <a:t>You ask in your own words</a:t>
            </a:r>
            <a:endParaRPr lang="en-US" sz="1500" dirty="0"/>
          </a:p>
          <a:p>
            <a:pPr indent="0" marL="0">
              <a:spcAft>
                <a:spcPts val="300"/>
              </a:spcAft>
              <a:buNone/>
            </a:pPr>
            <a:r>
              <a:rPr lang="en-US" sz="1500" dirty="0">
                <a:solidFill>
                  <a:schemeClr val="bg2"/>
                </a:solidFill>
              </a:rPr>
              <a:t>“Which rule should I adopt first?”</a:t>
            </a:r>
            <a:endParaRPr lang="en-US" sz="1500" dirty="0"/>
          </a:p>
        </p:txBody>
      </p:sp>
      <p:sp>
        <p:nvSpPr>
          <p:cNvPr id="12" name="icon circle"/>
          <p:cNvSpPr/>
          <p:nvPr/>
        </p:nvSpPr>
        <p:spPr>
          <a:xfrm>
            <a:off x="548640" y="2852928"/>
            <a:ext cx="603504" cy="603504"/>
          </a:xfrm>
          <a:prstGeom prst="ellipse">
            <a:avLst/>
          </a:prstGeom>
          <a:solidFill>
            <a:schemeClr val="accent5"/>
          </a:solidFill>
          <a:ln/>
        </p:spPr>
      </p:sp>
      <p:pic>
        <p:nvPicPr>
          <p:cNvPr id="13" name="LuDatabase" descr="LuDatabase">    </p:cNvPr>
          <p:cNvPicPr>
            <a:picLocks noChangeAspect="1"/>
          </p:cNvPicPr>
          <p:nvPr/>
        </p:nvPicPr>
        <p:blipFill>
          <a:blip r:embed="rId3"/>
          <a:stretch>
            <a:fillRect/>
          </a:stretch>
        </p:blipFill>
        <p:spPr>
          <a:xfrm>
            <a:off x="693481" y="2997769"/>
            <a:ext cx="313822" cy="313822"/>
          </a:xfrm>
          <a:prstGeom prst="rect">
            <a:avLst/>
          </a:prstGeom>
        </p:spPr>
      </p:pic>
      <p:sp>
        <p:nvSpPr>
          <p:cNvPr id="14" name="Text 9"/>
          <p:cNvSpPr txBox="1"/>
          <p:nvPr/>
        </p:nvSpPr>
        <p:spPr>
          <a:xfrm>
            <a:off x="1353312" y="2834640"/>
            <a:ext cx="7059168" cy="914400"/>
          </a:xfrm>
          <a:prstGeom prst="rect">
            <a:avLst/>
          </a:prstGeom>
          <a:noFill/>
          <a:ln/>
        </p:spPr>
        <p:txBody>
          <a:bodyPr wrap="square" lIns="0" tIns="0" rIns="0" bIns="0" rtlCol="0" anchor="t"/>
          <a:lstStyle/>
          <a:p>
            <a:pPr indent="0" marL="0">
              <a:spcAft>
                <a:spcPts val="300"/>
              </a:spcAft>
              <a:buNone/>
            </a:pPr>
            <a:r>
              <a:rPr lang="en-US" sz="1900" b="1" dirty="0">
                <a:solidFill>
                  <a:schemeClr val="bg1"/>
                </a:solidFill>
              </a:rPr>
              <a:t>It reads your results on the device</a:t>
            </a:r>
            <a:endParaRPr lang="en-US" sz="1500" dirty="0"/>
          </a:p>
          <a:p>
            <a:pPr indent="0" marL="0">
              <a:spcAft>
                <a:spcPts val="300"/>
              </a:spcAft>
              <a:buNone/>
            </a:pPr>
            <a:r>
              <a:rPr lang="en-US" sz="1500" dirty="0">
                <a:solidFill>
                  <a:schemeClr val="bg2"/>
                </a:solidFill>
              </a:rPr>
              <a:t>Read-only tools such as get_biases and get_rule; up to five steps of digging.</a:t>
            </a:r>
            <a:endParaRPr lang="en-US" sz="1500" dirty="0"/>
          </a:p>
        </p:txBody>
      </p:sp>
      <p:sp>
        <p:nvSpPr>
          <p:cNvPr id="15" name="icon circle"/>
          <p:cNvSpPr/>
          <p:nvPr/>
        </p:nvSpPr>
        <p:spPr>
          <a:xfrm>
            <a:off x="548640" y="3968496"/>
            <a:ext cx="603504" cy="603504"/>
          </a:xfrm>
          <a:prstGeom prst="ellipse">
            <a:avLst/>
          </a:prstGeom>
          <a:solidFill>
            <a:schemeClr val="accent5"/>
          </a:solidFill>
          <a:ln/>
        </p:spPr>
      </p:sp>
      <p:pic>
        <p:nvPicPr>
          <p:cNvPr id="16" name="LuCircleCheck" descr="LuCircleCheck">    </p:cNvPr>
          <p:cNvPicPr>
            <a:picLocks noChangeAspect="1"/>
          </p:cNvPicPr>
          <p:nvPr/>
        </p:nvPicPr>
        <p:blipFill>
          <a:blip r:embed="rId4"/>
          <a:stretch>
            <a:fillRect/>
          </a:stretch>
        </p:blipFill>
        <p:spPr>
          <a:xfrm>
            <a:off x="693481" y="4113337"/>
            <a:ext cx="313822" cy="313822"/>
          </a:xfrm>
          <a:prstGeom prst="rect">
            <a:avLst/>
          </a:prstGeom>
        </p:spPr>
      </p:pic>
      <p:sp>
        <p:nvSpPr>
          <p:cNvPr id="17" name="Text 11"/>
          <p:cNvSpPr txBox="1"/>
          <p:nvPr/>
        </p:nvSpPr>
        <p:spPr>
          <a:xfrm>
            <a:off x="1353312" y="3950208"/>
            <a:ext cx="7059168" cy="914400"/>
          </a:xfrm>
          <a:prstGeom prst="rect">
            <a:avLst/>
          </a:prstGeom>
          <a:noFill/>
          <a:ln/>
        </p:spPr>
        <p:txBody>
          <a:bodyPr wrap="square" lIns="0" tIns="0" rIns="0" bIns="0" rtlCol="0" anchor="t"/>
          <a:lstStyle/>
          <a:p>
            <a:pPr indent="0" marL="0">
              <a:spcAft>
                <a:spcPts val="300"/>
              </a:spcAft>
              <a:buNone/>
            </a:pPr>
            <a:r>
              <a:rPr lang="en-US" sz="1900" b="1" dirty="0">
                <a:solidFill>
                  <a:schemeClr val="bg1"/>
                </a:solidFill>
              </a:rPr>
              <a:t>Every number is checked</a:t>
            </a:r>
            <a:endParaRPr lang="en-US" sz="1500" dirty="0"/>
          </a:p>
          <a:p>
            <a:pPr indent="0" marL="0">
              <a:spcAft>
                <a:spcPts val="300"/>
              </a:spcAft>
              <a:buNone/>
            </a:pPr>
            <a:r>
              <a:rPr lang="en-US" sz="1500" dirty="0">
                <a:solidFill>
                  <a:schemeClr val="bg2"/>
                </a:solidFill>
              </a:rPr>
              <a:t>Numbers in the answer are matched against the results; the evidence is one click away.</a:t>
            </a:r>
            <a:endParaRPr lang="en-US" sz="1500" dirty="0"/>
          </a:p>
        </p:txBody>
      </p:sp>
      <p:sp>
        <p:nvSpPr>
          <p:cNvPr id="18" name="icon circle"/>
          <p:cNvSpPr/>
          <p:nvPr/>
        </p:nvSpPr>
        <p:spPr>
          <a:xfrm>
            <a:off x="548640" y="5084064"/>
            <a:ext cx="603504" cy="603504"/>
          </a:xfrm>
          <a:prstGeom prst="ellipse">
            <a:avLst/>
          </a:prstGeom>
          <a:solidFill>
            <a:schemeClr val="accent5"/>
          </a:solidFill>
          <a:ln/>
        </p:spPr>
      </p:sp>
      <p:pic>
        <p:nvPicPr>
          <p:cNvPr id="19" name="LuUserCheck" descr="LuUserCheck">    </p:cNvPr>
          <p:cNvPicPr>
            <a:picLocks noChangeAspect="1"/>
          </p:cNvPicPr>
          <p:nvPr/>
        </p:nvPicPr>
        <p:blipFill>
          <a:blip r:embed="rId5"/>
          <a:stretch>
            <a:fillRect/>
          </a:stretch>
        </p:blipFill>
        <p:spPr>
          <a:xfrm>
            <a:off x="693481" y="5228905"/>
            <a:ext cx="313822" cy="313822"/>
          </a:xfrm>
          <a:prstGeom prst="rect">
            <a:avLst/>
          </a:prstGeom>
        </p:spPr>
      </p:pic>
      <p:sp>
        <p:nvSpPr>
          <p:cNvPr id="20" name="Text 13"/>
          <p:cNvSpPr txBox="1"/>
          <p:nvPr/>
        </p:nvSpPr>
        <p:spPr>
          <a:xfrm>
            <a:off x="1353312" y="5065776"/>
            <a:ext cx="7059168" cy="914400"/>
          </a:xfrm>
          <a:prstGeom prst="rect">
            <a:avLst/>
          </a:prstGeom>
          <a:noFill/>
          <a:ln/>
        </p:spPr>
        <p:txBody>
          <a:bodyPr wrap="square" lIns="0" tIns="0" rIns="0" bIns="0" rtlCol="0" anchor="t"/>
          <a:lstStyle/>
          <a:p>
            <a:pPr indent="0" marL="0">
              <a:spcAft>
                <a:spcPts val="300"/>
              </a:spcAft>
              <a:buNone/>
            </a:pPr>
            <a:r>
              <a:rPr lang="en-US" sz="1900" b="1" dirty="0">
                <a:solidFill>
                  <a:schemeClr val="bg1"/>
                </a:solidFill>
              </a:rPr>
              <a:t>It proposes, you decide</a:t>
            </a:r>
            <a:endParaRPr lang="en-US" sz="1500" dirty="0"/>
          </a:p>
          <a:p>
            <a:pPr indent="0" marL="0">
              <a:spcAft>
                <a:spcPts val="300"/>
              </a:spcAft>
              <a:buNone/>
            </a:pPr>
            <a:r>
              <a:rPr lang="en-US" sz="1500" dirty="0">
                <a:solidFill>
                  <a:schemeClr val="bg2"/>
                </a:solidFill>
              </a:rPr>
              <a:t>Adopt, retune or retire a rule as a card. Nothing changes without your click.</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algn="l" indent="0" marL="0">
              <a:buNone/>
            </a:pPr>
            <a:r>
              <a:rPr lang="en-US" sz="1200" b="1" spc="200" kern="0" dirty="0">
                <a:solidFill>
                  <a:schemeClr val="accent1"/>
                </a:solidFill>
              </a:rPr>
              <a:t>01 · THE PRODUCT · COMMUNITY</a:t>
            </a:r>
            <a:endParaRPr lang="en-US" sz="1200" dirty="0"/>
          </a:p>
        </p:txBody>
      </p:sp>
      <p:sp>
        <p:nvSpPr>
          <p:cNvPr id="3" name="Text 1"/>
          <p:cNvSpPr/>
          <p:nvPr>
            <p:ph idx="102" type="title" hasCustomPrompt="1"/>
          </p:nvPr>
        </p:nvSpPr>
        <p:spPr>
          <a:xfrm>
            <a:off x="548640" y="640080"/>
            <a:ext cx="11064240" cy="73152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Community: you against the crowd</a:t>
            </a:r>
            <a:endParaRPr lang="en-US" sz="3000" dirty="0"/>
          </a:p>
        </p:txBody>
      </p:sp>
      <p:sp>
        <p:nvSpPr>
          <p:cNvPr id="4" name="You vs the crowd frame"/>
          <p:cNvSpPr/>
          <p:nvPr/>
        </p:nvSpPr>
        <p:spPr>
          <a:xfrm>
            <a:off x="512064" y="1609344"/>
            <a:ext cx="5193792" cy="2196846"/>
          </a:xfrm>
          <a:prstGeom prst="roundRect">
            <a:avLst>
              <a:gd name="adj" fmla="val 3330"/>
            </a:avLst>
          </a:prstGeom>
          <a:solidFill>
            <a:schemeClr val="accent5"/>
          </a:solidFill>
          <a:ln w="12700">
            <a:solidFill>
              <a:schemeClr val="accent5"/>
            </a:solidFill>
            <a:prstDash val="solid"/>
          </a:ln>
          <a:effectLst>
            <a:outerShdw sx="100000" sy="100000" kx="0" ky="0" algn="bl" rotWithShape="0" blurRad="152400" dist="50800" dir="5400000">
              <a:srgbClr val="000000">
                <a:alpha val="45000"/>
              </a:srgbClr>
            </a:outerShdw>
          </a:effectLst>
        </p:spPr>
      </p:sp>
      <p:sp>
        <p:nvSpPr>
          <p:cNvPr id="5" name="You vs the crowd dot"/>
          <p:cNvSpPr/>
          <p:nvPr/>
        </p:nvSpPr>
        <p:spPr>
          <a:xfrm>
            <a:off x="640080" y="1700784"/>
            <a:ext cx="82296" cy="82296"/>
          </a:xfrm>
          <a:prstGeom prst="ellipse">
            <a:avLst/>
          </a:prstGeom>
          <a:solidFill>
            <a:schemeClr val="accent4"/>
          </a:solidFill>
          <a:ln/>
        </p:spPr>
      </p:sp>
      <p:sp>
        <p:nvSpPr>
          <p:cNvPr id="6" name="You vs the crowd dot"/>
          <p:cNvSpPr/>
          <p:nvPr/>
        </p:nvSpPr>
        <p:spPr>
          <a:xfrm>
            <a:off x="786384" y="1700784"/>
            <a:ext cx="82296" cy="82296"/>
          </a:xfrm>
          <a:prstGeom prst="ellipse">
            <a:avLst/>
          </a:prstGeom>
          <a:solidFill>
            <a:schemeClr val="accent3"/>
          </a:solidFill>
          <a:ln/>
        </p:spPr>
      </p:sp>
      <p:sp>
        <p:nvSpPr>
          <p:cNvPr id="7" name="You vs the crowd dot"/>
          <p:cNvSpPr/>
          <p:nvPr/>
        </p:nvSpPr>
        <p:spPr>
          <a:xfrm>
            <a:off x="932688" y="1700784"/>
            <a:ext cx="82296" cy="82296"/>
          </a:xfrm>
          <a:prstGeom prst="ellipse">
            <a:avLst/>
          </a:prstGeom>
          <a:solidFill>
            <a:schemeClr val="accent1"/>
          </a:solidFill>
          <a:ln/>
        </p:spPr>
      </p:sp>
      <p:pic>
        <p:nvPicPr>
          <p:cNvPr id="8" name="You vs the crowd" descr="You vs the crowd">    </p:cNvPr>
          <p:cNvPicPr>
            <a:picLocks noChangeAspect="1"/>
          </p:cNvPicPr>
          <p:nvPr/>
        </p:nvPicPr>
        <p:blipFill>
          <a:blip r:embed="rId1"/>
          <a:stretch>
            <a:fillRect/>
          </a:stretch>
        </p:blipFill>
        <p:spPr>
          <a:xfrm>
            <a:off x="548640" y="1865376"/>
            <a:ext cx="5120640" cy="1904238"/>
          </a:xfrm>
          <a:prstGeom prst="rect">
            <a:avLst/>
          </a:prstGeom>
        </p:spPr>
      </p:pic>
      <p:sp>
        <p:nvSpPr>
          <p:cNvPr id="9" name="Community index frame"/>
          <p:cNvSpPr/>
          <p:nvPr/>
        </p:nvSpPr>
        <p:spPr>
          <a:xfrm>
            <a:off x="5907024" y="1609344"/>
            <a:ext cx="5788152" cy="2989374"/>
          </a:xfrm>
          <a:prstGeom prst="roundRect">
            <a:avLst>
              <a:gd name="adj" fmla="val 2447"/>
            </a:avLst>
          </a:prstGeom>
          <a:solidFill>
            <a:schemeClr val="accent5"/>
          </a:solidFill>
          <a:ln w="12700">
            <a:solidFill>
              <a:schemeClr val="accent5"/>
            </a:solidFill>
            <a:prstDash val="solid"/>
          </a:ln>
          <a:effectLst>
            <a:outerShdw sx="100000" sy="100000" kx="0" ky="0" algn="bl" rotWithShape="0" blurRad="152400" dist="50800" dir="5400000">
              <a:srgbClr val="000000">
                <a:alpha val="45000"/>
              </a:srgbClr>
            </a:outerShdw>
          </a:effectLst>
        </p:spPr>
      </p:sp>
      <p:sp>
        <p:nvSpPr>
          <p:cNvPr id="10" name="Community index dot"/>
          <p:cNvSpPr/>
          <p:nvPr/>
        </p:nvSpPr>
        <p:spPr>
          <a:xfrm>
            <a:off x="6035040" y="1700784"/>
            <a:ext cx="82296" cy="82296"/>
          </a:xfrm>
          <a:prstGeom prst="ellipse">
            <a:avLst/>
          </a:prstGeom>
          <a:solidFill>
            <a:schemeClr val="accent4"/>
          </a:solidFill>
          <a:ln/>
        </p:spPr>
      </p:sp>
      <p:sp>
        <p:nvSpPr>
          <p:cNvPr id="11" name="Community index dot"/>
          <p:cNvSpPr/>
          <p:nvPr/>
        </p:nvSpPr>
        <p:spPr>
          <a:xfrm>
            <a:off x="6181344" y="1700784"/>
            <a:ext cx="82296" cy="82296"/>
          </a:xfrm>
          <a:prstGeom prst="ellipse">
            <a:avLst/>
          </a:prstGeom>
          <a:solidFill>
            <a:schemeClr val="accent3"/>
          </a:solidFill>
          <a:ln/>
        </p:spPr>
      </p:sp>
      <p:sp>
        <p:nvSpPr>
          <p:cNvPr id="12" name="Community index dot"/>
          <p:cNvSpPr/>
          <p:nvPr/>
        </p:nvSpPr>
        <p:spPr>
          <a:xfrm>
            <a:off x="6327648" y="1700784"/>
            <a:ext cx="82296" cy="82296"/>
          </a:xfrm>
          <a:prstGeom prst="ellipse">
            <a:avLst/>
          </a:prstGeom>
          <a:solidFill>
            <a:schemeClr val="accent1"/>
          </a:solidFill>
          <a:ln/>
        </p:spPr>
      </p:sp>
      <p:pic>
        <p:nvPicPr>
          <p:cNvPr id="13" name="Community index" descr="Community index">    </p:cNvPr>
          <p:cNvPicPr>
            <a:picLocks noChangeAspect="1"/>
          </p:cNvPicPr>
          <p:nvPr/>
        </p:nvPicPr>
        <p:blipFill>
          <a:blip r:embed="rId2"/>
          <a:stretch>
            <a:fillRect/>
          </a:stretch>
        </p:blipFill>
        <p:spPr>
          <a:xfrm>
            <a:off x="5943600" y="1865376"/>
            <a:ext cx="5715000" cy="2696766"/>
          </a:xfrm>
          <a:prstGeom prst="rect">
            <a:avLst/>
          </a:prstGeom>
        </p:spPr>
      </p:pic>
      <p:sp>
        <p:nvSpPr>
          <p:cNvPr id="14" name="icon circle"/>
          <p:cNvSpPr/>
          <p:nvPr/>
        </p:nvSpPr>
        <p:spPr>
          <a:xfrm>
            <a:off x="548640" y="4983480"/>
            <a:ext cx="530352" cy="530352"/>
          </a:xfrm>
          <a:prstGeom prst="ellipse">
            <a:avLst/>
          </a:prstGeom>
          <a:solidFill>
            <a:schemeClr val="accent5"/>
          </a:solidFill>
          <a:ln/>
        </p:spPr>
      </p:sp>
      <p:pic>
        <p:nvPicPr>
          <p:cNvPr id="15" name="LuUsers" descr="LuUsers">    </p:cNvPr>
          <p:cNvPicPr>
            <a:picLocks noChangeAspect="1"/>
          </p:cNvPicPr>
          <p:nvPr/>
        </p:nvPicPr>
        <p:blipFill>
          <a:blip r:embed="rId3"/>
          <a:stretch>
            <a:fillRect/>
          </a:stretch>
        </p:blipFill>
        <p:spPr>
          <a:xfrm>
            <a:off x="675924" y="5110764"/>
            <a:ext cx="275783" cy="275783"/>
          </a:xfrm>
          <a:prstGeom prst="rect">
            <a:avLst/>
          </a:prstGeom>
        </p:spPr>
      </p:pic>
      <p:sp>
        <p:nvSpPr>
          <p:cNvPr id="16" name="Text 11"/>
          <p:cNvSpPr txBox="1"/>
          <p:nvPr/>
        </p:nvSpPr>
        <p:spPr>
          <a:xfrm>
            <a:off x="1280160" y="4965192"/>
            <a:ext cx="2834640" cy="1188720"/>
          </a:xfrm>
          <a:prstGeom prst="rect">
            <a:avLst/>
          </a:prstGeom>
          <a:noFill/>
          <a:ln/>
        </p:spPr>
        <p:txBody>
          <a:bodyPr wrap="square" lIns="0" tIns="0" rIns="0" bIns="0" rtlCol="0" anchor="t"/>
          <a:lstStyle/>
          <a:p>
            <a:pPr indent="0" marL="0">
              <a:spcAft>
                <a:spcPts val="300"/>
              </a:spcAft>
              <a:buNone/>
            </a:pPr>
            <a:r>
              <a:rPr lang="en-US" sz="1600" b="1" dirty="0">
                <a:solidFill>
                  <a:schemeClr val="bg1"/>
                </a:solidFill>
              </a:rPr>
              <a:t>Where you stand</a:t>
            </a:r>
            <a:endParaRPr lang="en-US" sz="1500" dirty="0"/>
          </a:p>
          <a:p>
            <a:pPr indent="0" marL="0">
              <a:spcAft>
                <a:spcPts val="300"/>
              </a:spcAft>
              <a:buNone/>
            </a:pPr>
            <a:r>
              <a:rPr lang="en-US" sz="1300" dirty="0">
                <a:solidFill>
                  <a:schemeClr val="bg2"/>
                </a:solidFill>
              </a:rPr>
              <a:t>Your research time, coverage and hit rate ranked among all active users.</a:t>
            </a:r>
            <a:endParaRPr lang="en-US" sz="1500" dirty="0"/>
          </a:p>
        </p:txBody>
      </p:sp>
      <p:sp>
        <p:nvSpPr>
          <p:cNvPr id="17" name="icon circle"/>
          <p:cNvSpPr/>
          <p:nvPr/>
        </p:nvSpPr>
        <p:spPr>
          <a:xfrm>
            <a:off x="4315968" y="4983480"/>
            <a:ext cx="530352" cy="530352"/>
          </a:xfrm>
          <a:prstGeom prst="ellipse">
            <a:avLst/>
          </a:prstGeom>
          <a:solidFill>
            <a:schemeClr val="accent5"/>
          </a:solidFill>
          <a:ln/>
        </p:spPr>
      </p:sp>
      <p:pic>
        <p:nvPicPr>
          <p:cNvPr id="18" name="LuGlobe" descr="LuGlobe">    </p:cNvPr>
          <p:cNvPicPr>
            <a:picLocks noChangeAspect="1"/>
          </p:cNvPicPr>
          <p:nvPr/>
        </p:nvPicPr>
        <p:blipFill>
          <a:blip r:embed="rId4"/>
          <a:stretch>
            <a:fillRect/>
          </a:stretch>
        </p:blipFill>
        <p:spPr>
          <a:xfrm>
            <a:off x="4443252" y="5110764"/>
            <a:ext cx="275783" cy="275783"/>
          </a:xfrm>
          <a:prstGeom prst="rect">
            <a:avLst/>
          </a:prstGeom>
        </p:spPr>
      </p:pic>
      <p:sp>
        <p:nvSpPr>
          <p:cNvPr id="19" name="Text 13"/>
          <p:cNvSpPr txBox="1"/>
          <p:nvPr/>
        </p:nvSpPr>
        <p:spPr>
          <a:xfrm>
            <a:off x="5047488" y="4965192"/>
            <a:ext cx="2834640" cy="1188720"/>
          </a:xfrm>
          <a:prstGeom prst="rect">
            <a:avLst/>
          </a:prstGeom>
          <a:noFill/>
          <a:ln/>
        </p:spPr>
        <p:txBody>
          <a:bodyPr wrap="square" lIns="0" tIns="0" rIns="0" bIns="0" rtlCol="0" anchor="t"/>
          <a:lstStyle/>
          <a:p>
            <a:pPr indent="0" marL="0">
              <a:spcAft>
                <a:spcPts val="300"/>
              </a:spcAft>
              <a:buNone/>
            </a:pPr>
            <a:r>
              <a:rPr lang="en-US" sz="1600" b="1" dirty="0">
                <a:solidFill>
                  <a:schemeClr val="bg1"/>
                </a:solidFill>
              </a:rPr>
              <a:t>Crowd overlap</a:t>
            </a:r>
            <a:endParaRPr lang="en-US" sz="1500" dirty="0"/>
          </a:p>
          <a:p>
            <a:pPr indent="0" marL="0">
              <a:spcAft>
                <a:spcPts val="300"/>
              </a:spcAft>
              <a:buNone/>
            </a:pPr>
            <a:r>
              <a:rPr lang="en-US" sz="1300" dirty="0">
                <a:solidFill>
                  <a:schemeClr val="bg2"/>
                </a:solidFill>
              </a:rPr>
              <a:t>How close your research is to the community and to Reddit, Stocktwits, Yahoo and Wikipedia attention.</a:t>
            </a:r>
            <a:endParaRPr lang="en-US" sz="1500" dirty="0"/>
          </a:p>
        </p:txBody>
      </p:sp>
      <p:sp>
        <p:nvSpPr>
          <p:cNvPr id="20" name="icon circle"/>
          <p:cNvSpPr/>
          <p:nvPr/>
        </p:nvSpPr>
        <p:spPr>
          <a:xfrm>
            <a:off x="8083296" y="4983480"/>
            <a:ext cx="530352" cy="530352"/>
          </a:xfrm>
          <a:prstGeom prst="ellipse">
            <a:avLst/>
          </a:prstGeom>
          <a:solidFill>
            <a:schemeClr val="accent5"/>
          </a:solidFill>
          <a:ln/>
        </p:spPr>
      </p:sp>
      <p:pic>
        <p:nvPicPr>
          <p:cNvPr id="21" name="LuShieldCheck" descr="LuShieldCheck">    </p:cNvPr>
          <p:cNvPicPr>
            <a:picLocks noChangeAspect="1"/>
          </p:cNvPicPr>
          <p:nvPr/>
        </p:nvPicPr>
        <p:blipFill>
          <a:blip r:embed="rId5"/>
          <a:stretch>
            <a:fillRect/>
          </a:stretch>
        </p:blipFill>
        <p:spPr>
          <a:xfrm>
            <a:off x="8210580" y="5110764"/>
            <a:ext cx="275783" cy="275783"/>
          </a:xfrm>
          <a:prstGeom prst="rect">
            <a:avLst/>
          </a:prstGeom>
        </p:spPr>
      </p:pic>
      <p:sp>
        <p:nvSpPr>
          <p:cNvPr id="22" name="Text 15"/>
          <p:cNvSpPr txBox="1"/>
          <p:nvPr/>
        </p:nvSpPr>
        <p:spPr>
          <a:xfrm>
            <a:off x="8814816" y="4965192"/>
            <a:ext cx="2834640" cy="1188720"/>
          </a:xfrm>
          <a:prstGeom prst="rect">
            <a:avLst/>
          </a:prstGeom>
          <a:noFill/>
          <a:ln/>
        </p:spPr>
        <p:txBody>
          <a:bodyPr wrap="square" lIns="0" tIns="0" rIns="0" bIns="0" rtlCol="0" anchor="t"/>
          <a:lstStyle/>
          <a:p>
            <a:pPr indent="0" marL="0">
              <a:spcAft>
                <a:spcPts val="300"/>
              </a:spcAft>
              <a:buNone/>
            </a:pPr>
            <a:r>
              <a:rPr lang="en-US" sz="1600" b="1" dirty="0">
                <a:solidFill>
                  <a:schemeClr val="bg1"/>
                </a:solidFill>
              </a:rPr>
              <a:t>Anonymous by design</a:t>
            </a:r>
            <a:endParaRPr lang="en-US" sz="1500" dirty="0"/>
          </a:p>
          <a:p>
            <a:pPr indent="0" marL="0">
              <a:spcAft>
                <a:spcPts val="300"/>
              </a:spcAft>
              <a:buNone/>
            </a:pPr>
            <a:r>
              <a:rPr lang="en-US" sz="1300" dirty="0">
                <a:solidFill>
                  <a:schemeClr val="bg2"/>
                </a:solidFill>
              </a:rPr>
              <a:t>Only aggregates with minimum group sizes are shown.</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822960" y="1828800"/>
            <a:ext cx="2743200" cy="1463040"/>
          </a:xfrm>
          <a:prstGeom prst="rect">
            <a:avLst/>
          </a:prstGeom>
          <a:noFill/>
          <a:ln/>
        </p:spPr>
        <p:txBody>
          <a:bodyPr wrap="square" lIns="0" tIns="0" rIns="0" bIns="0" rtlCol="0" anchor="b"/>
          <a:lstStyle/>
          <a:p>
            <a:pPr algn="l" indent="0" marL="0">
              <a:buNone/>
            </a:pPr>
            <a:r>
              <a:rPr lang="en-US" sz="9600" b="1" dirty="0">
                <a:solidFill>
                  <a:schemeClr val="accent1"/>
                </a:solidFill>
                <a:latin typeface="Arial" pitchFamily="34" charset="0"/>
                <a:ea typeface="Arial" pitchFamily="34" charset="-122"/>
                <a:cs typeface="Arial" pitchFamily="34" charset="-120"/>
              </a:rPr>
              <a:t>02</a:t>
            </a:r>
            <a:endParaRPr lang="en-US" sz="9600" dirty="0"/>
          </a:p>
        </p:txBody>
      </p:sp>
      <p:sp>
        <p:nvSpPr>
          <p:cNvPr id="3" name="Text 0"/>
          <p:cNvSpPr/>
          <p:nvPr>
            <p:ph idx="101" type="title" hasCustomPrompt="1"/>
          </p:nvPr>
        </p:nvSpPr>
        <p:spPr>
          <a:xfrm>
            <a:off x="822960" y="3383280"/>
            <a:ext cx="10515600" cy="914400"/>
          </a:xfrm>
          <a:prstGeom prst="rect">
            <a:avLst/>
          </a:prstGeom>
          <a:noFill/>
          <a:ln/>
        </p:spPr>
        <p:txBody>
          <a:bodyPr wrap="square" lIns="0" tIns="0" rIns="0" bIns="0" rtlCol="0" anchor="t"/>
          <a:lstStyle/>
          <a:p>
            <a:pPr algn="l" indent="0" marL="0">
              <a:buNone/>
            </a:pPr>
            <a:r>
              <a:rPr lang="en-US" sz="4400" b="1" dirty="0">
                <a:solidFill>
                  <a:schemeClr val="bg1"/>
                </a:solidFill>
                <a:latin typeface="Arial" pitchFamily="34" charset="0"/>
                <a:ea typeface="Arial" pitchFamily="34" charset="-122"/>
                <a:cs typeface="Arial" pitchFamily="34" charset="-120"/>
              </a:rPr>
              <a:t>System architecture</a:t>
            </a:r>
            <a:endParaRPr lang="en-US" sz="4400" dirty="0"/>
          </a:p>
        </p:txBody>
      </p:sp>
      <p:sp>
        <p:nvSpPr>
          <p:cNvPr id="4" name="Text 0"/>
          <p:cNvSpPr/>
          <p:nvPr>
            <p:ph idx="102" type="body" hasCustomPrompt="1"/>
          </p:nvPr>
        </p:nvSpPr>
        <p:spPr>
          <a:xfrm>
            <a:off x="822960" y="4297680"/>
            <a:ext cx="9144000" cy="731520"/>
          </a:xfrm>
          <a:prstGeom prst="rect">
            <a:avLst/>
          </a:prstGeom>
          <a:noFill/>
          <a:ln/>
        </p:spPr>
        <p:txBody>
          <a:bodyPr wrap="square" lIns="0" tIns="0" rIns="0" bIns="0" rtlCol="0" anchor="t"/>
          <a:lstStyle/>
          <a:p>
            <a:pPr algn="l" indent="0" marL="0">
              <a:buNone/>
            </a:pPr>
            <a:r>
              <a:rPr lang="en-US" sz="2000" dirty="0">
                <a:solidFill>
                  <a:schemeClr val="bg2"/>
                </a:solidFill>
              </a:rPr>
              <a:t>Heavy lifting on the device; the cloud only sees what it must</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algn="l" indent="0" marL="0">
              <a:buNone/>
            </a:pPr>
            <a:r>
              <a:rPr lang="en-US" sz="1200" b="1" spc="200" kern="0" dirty="0">
                <a:solidFill>
                  <a:schemeClr val="accent1"/>
                </a:solidFill>
              </a:rPr>
              <a:t>02 · SYSTEM ARCHITECTURE</a:t>
            </a:r>
            <a:endParaRPr lang="en-US" sz="1200" dirty="0"/>
          </a:p>
        </p:txBody>
      </p:sp>
      <p:sp>
        <p:nvSpPr>
          <p:cNvPr id="3" name="Text 1"/>
          <p:cNvSpPr/>
          <p:nvPr>
            <p:ph idx="102" type="title" hasCustomPrompt="1"/>
          </p:nvPr>
        </p:nvSpPr>
        <p:spPr>
          <a:xfrm>
            <a:off x="548640" y="640080"/>
            <a:ext cx="11064240" cy="73152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The device does the thinking; only de-identified results leave</a:t>
            </a:r>
            <a:endParaRPr lang="en-US" sz="3000" dirty="0"/>
          </a:p>
        </p:txBody>
      </p:sp>
      <p:sp>
        <p:nvSpPr>
          <p:cNvPr id="4" name="device zone"/>
          <p:cNvSpPr/>
          <p:nvPr/>
        </p:nvSpPr>
        <p:spPr>
          <a:xfrm>
            <a:off x="548640" y="1600200"/>
            <a:ext cx="11109960" cy="2514600"/>
          </a:xfrm>
          <a:prstGeom prst="roundRect">
            <a:avLst>
              <a:gd name="adj" fmla="val 4364"/>
            </a:avLst>
          </a:prstGeom>
          <a:solidFill>
            <a:srgbClr val="1B2A26"/>
          </a:solidFill>
          <a:ln w="12700">
            <a:solidFill>
              <a:srgbClr val="2F5A45"/>
            </a:solidFill>
            <a:prstDash val="solid"/>
          </a:ln>
        </p:spPr>
      </p:sp>
      <p:sp>
        <p:nvSpPr>
          <p:cNvPr id="5" name="Text 3"/>
          <p:cNvSpPr txBox="1"/>
          <p:nvPr/>
        </p:nvSpPr>
        <p:spPr>
          <a:xfrm>
            <a:off x="777240" y="1719072"/>
            <a:ext cx="82296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ON YOUR DEVICE  ·  Chrome extension · web app · Android app</a:t>
            </a:r>
            <a:endParaRPr lang="en-US" sz="1200" dirty="0"/>
          </a:p>
        </p:txBody>
      </p:sp>
      <p:sp>
        <p:nvSpPr>
          <p:cNvPr id="6" name="Capture"/>
          <p:cNvSpPr/>
          <p:nvPr/>
        </p:nvSpPr>
        <p:spPr>
          <a:xfrm>
            <a:off x="777240" y="2103120"/>
            <a:ext cx="2103120" cy="777240"/>
          </a:xfrm>
          <a:prstGeom prst="roundRect">
            <a:avLst>
              <a:gd name="adj" fmla="val 9412"/>
            </a:avLst>
          </a:prstGeom>
          <a:solidFill>
            <a:schemeClr val="tx2"/>
          </a:solidFill>
          <a:ln w="12700">
            <a:solidFill>
              <a:schemeClr val="accent5"/>
            </a:solidFill>
            <a:prstDash val="solid"/>
          </a:ln>
        </p:spPr>
      </p:sp>
      <p:sp>
        <p:nvSpPr>
          <p:cNvPr id="7" name="Text 5"/>
          <p:cNvSpPr txBox="1"/>
          <p:nvPr/>
        </p:nvSpPr>
        <p:spPr>
          <a:xfrm>
            <a:off x="868680" y="2103120"/>
            <a:ext cx="1920240" cy="777240"/>
          </a:xfrm>
          <a:prstGeom prst="rect">
            <a:avLst/>
          </a:prstGeom>
          <a:noFill/>
          <a:ln/>
        </p:spPr>
        <p:txBody>
          <a:bodyPr wrap="square" lIns="0" tIns="0" rIns="0" bIns="0" rtlCol="0" anchor="ctr"/>
          <a:lstStyle/>
          <a:p>
            <a:pPr algn="ctr" indent="0" marL="0">
              <a:buNone/>
            </a:pPr>
            <a:r>
              <a:rPr lang="en-US" sz="1400" b="1" dirty="0">
                <a:solidFill>
                  <a:schemeClr val="bg1"/>
                </a:solidFill>
              </a:rPr>
              <a:t>Capture</a:t>
            </a:r>
            <a:endParaRPr lang="en-US" sz="1500" dirty="0"/>
          </a:p>
          <a:p>
            <a:pPr algn="ctr" indent="0" marL="0">
              <a:buNone/>
            </a:pPr>
            <a:r>
              <a:rPr lang="en-US" sz="1150" dirty="0">
                <a:solidFill>
                  <a:schemeClr val="bg2"/>
                </a:solidFill>
              </a:rPr>
              <a:t>15+ portals, views, labels</a:t>
            </a:r>
            <a:endParaRPr lang="en-US" sz="1500" dirty="0"/>
          </a:p>
        </p:txBody>
      </p:sp>
      <p:sp>
        <p:nvSpPr>
          <p:cNvPr id="8" name="flow"/>
          <p:cNvSpPr/>
          <p:nvPr/>
        </p:nvSpPr>
        <p:spPr>
          <a:xfrm>
            <a:off x="2926080" y="2395728"/>
            <a:ext cx="274320" cy="201168"/>
          </a:xfrm>
          <a:prstGeom prst="rightArrow">
            <a:avLst/>
          </a:prstGeom>
          <a:solidFill>
            <a:schemeClr val="bg2"/>
          </a:solidFill>
          <a:ln/>
        </p:spPr>
      </p:sp>
      <p:sp>
        <p:nvSpPr>
          <p:cNvPr id="9" name="Attention store"/>
          <p:cNvSpPr/>
          <p:nvPr/>
        </p:nvSpPr>
        <p:spPr>
          <a:xfrm>
            <a:off x="3246120" y="2103120"/>
            <a:ext cx="2103120" cy="777240"/>
          </a:xfrm>
          <a:prstGeom prst="roundRect">
            <a:avLst>
              <a:gd name="adj" fmla="val 9412"/>
            </a:avLst>
          </a:prstGeom>
          <a:solidFill>
            <a:schemeClr val="tx2"/>
          </a:solidFill>
          <a:ln w="12700">
            <a:solidFill>
              <a:schemeClr val="accent5"/>
            </a:solidFill>
            <a:prstDash val="solid"/>
          </a:ln>
        </p:spPr>
      </p:sp>
      <p:sp>
        <p:nvSpPr>
          <p:cNvPr id="10" name="Text 8"/>
          <p:cNvSpPr txBox="1"/>
          <p:nvPr/>
        </p:nvSpPr>
        <p:spPr>
          <a:xfrm>
            <a:off x="3337560" y="2103120"/>
            <a:ext cx="1920240" cy="777240"/>
          </a:xfrm>
          <a:prstGeom prst="rect">
            <a:avLst/>
          </a:prstGeom>
          <a:noFill/>
          <a:ln/>
        </p:spPr>
        <p:txBody>
          <a:bodyPr wrap="square" lIns="0" tIns="0" rIns="0" bIns="0" rtlCol="0" anchor="ctr"/>
          <a:lstStyle/>
          <a:p>
            <a:pPr algn="ctr" indent="0" marL="0">
              <a:buNone/>
            </a:pPr>
            <a:r>
              <a:rPr lang="en-US" sz="1400" b="1" dirty="0">
                <a:solidFill>
                  <a:schemeClr val="bg1"/>
                </a:solidFill>
              </a:rPr>
              <a:t>Attention store</a:t>
            </a:r>
            <a:endParaRPr lang="en-US" sz="1500" dirty="0"/>
          </a:p>
          <a:p>
            <a:pPr algn="ctr" indent="0" marL="0">
              <a:buNone/>
            </a:pPr>
            <a:r>
              <a:rPr lang="en-US" sz="1150" dirty="0">
                <a:solidFill>
                  <a:schemeClr val="bg2"/>
                </a:solidFill>
              </a:rPr>
              <a:t>local, offline-first</a:t>
            </a:r>
            <a:endParaRPr lang="en-US" sz="1500" dirty="0"/>
          </a:p>
        </p:txBody>
      </p:sp>
      <p:sp>
        <p:nvSpPr>
          <p:cNvPr id="11" name="Broker import"/>
          <p:cNvSpPr/>
          <p:nvPr/>
        </p:nvSpPr>
        <p:spPr>
          <a:xfrm>
            <a:off x="777240" y="3108960"/>
            <a:ext cx="2103120" cy="777240"/>
          </a:xfrm>
          <a:prstGeom prst="roundRect">
            <a:avLst>
              <a:gd name="adj" fmla="val 9412"/>
            </a:avLst>
          </a:prstGeom>
          <a:solidFill>
            <a:schemeClr val="tx2"/>
          </a:solidFill>
          <a:ln w="12700">
            <a:solidFill>
              <a:schemeClr val="accent5"/>
            </a:solidFill>
            <a:prstDash val="solid"/>
          </a:ln>
        </p:spPr>
      </p:sp>
      <p:sp>
        <p:nvSpPr>
          <p:cNvPr id="12" name="Text 10"/>
          <p:cNvSpPr txBox="1"/>
          <p:nvPr/>
        </p:nvSpPr>
        <p:spPr>
          <a:xfrm>
            <a:off x="868680" y="3108960"/>
            <a:ext cx="1920240" cy="777240"/>
          </a:xfrm>
          <a:prstGeom prst="rect">
            <a:avLst/>
          </a:prstGeom>
          <a:noFill/>
          <a:ln/>
        </p:spPr>
        <p:txBody>
          <a:bodyPr wrap="square" lIns="0" tIns="0" rIns="0" bIns="0" rtlCol="0" anchor="ctr"/>
          <a:lstStyle/>
          <a:p>
            <a:pPr algn="ctr" indent="0" marL="0">
              <a:buNone/>
            </a:pPr>
            <a:r>
              <a:rPr lang="en-US" sz="1400" b="1" dirty="0">
                <a:solidFill>
                  <a:schemeClr val="bg1"/>
                </a:solidFill>
              </a:rPr>
              <a:t>Broker import</a:t>
            </a:r>
            <a:endParaRPr lang="en-US" sz="1500" dirty="0"/>
          </a:p>
          <a:p>
            <a:pPr algn="ctr" indent="0" marL="0">
              <a:buNone/>
            </a:pPr>
            <a:r>
              <a:rPr lang="en-US" sz="1150" dirty="0">
                <a:solidFill>
                  <a:schemeClr val="bg2"/>
                </a:solidFill>
              </a:rPr>
              <a:t>CSV / XML, 10+ brokers</a:t>
            </a:r>
            <a:endParaRPr lang="en-US" sz="1500" dirty="0"/>
          </a:p>
        </p:txBody>
      </p:sp>
      <p:sp>
        <p:nvSpPr>
          <p:cNvPr id="13" name="flow"/>
          <p:cNvSpPr/>
          <p:nvPr/>
        </p:nvSpPr>
        <p:spPr>
          <a:xfrm>
            <a:off x="2926080" y="3401568"/>
            <a:ext cx="274320" cy="201168"/>
          </a:xfrm>
          <a:prstGeom prst="rightArrow">
            <a:avLst/>
          </a:prstGeom>
          <a:solidFill>
            <a:schemeClr val="bg2"/>
          </a:solidFill>
          <a:ln/>
        </p:spPr>
      </p:sp>
      <p:sp>
        <p:nvSpPr>
          <p:cNvPr id="14" name="Trade ledger"/>
          <p:cNvSpPr/>
          <p:nvPr/>
        </p:nvSpPr>
        <p:spPr>
          <a:xfrm>
            <a:off x="3246120" y="3108960"/>
            <a:ext cx="2103120" cy="777240"/>
          </a:xfrm>
          <a:prstGeom prst="roundRect">
            <a:avLst>
              <a:gd name="adj" fmla="val 9412"/>
            </a:avLst>
          </a:prstGeom>
          <a:solidFill>
            <a:schemeClr val="tx2"/>
          </a:solidFill>
          <a:ln w="19050">
            <a:solidFill>
              <a:schemeClr val="accent4"/>
            </a:solidFill>
            <a:prstDash val="solid"/>
          </a:ln>
        </p:spPr>
      </p:sp>
      <p:sp>
        <p:nvSpPr>
          <p:cNvPr id="15" name="Text 13"/>
          <p:cNvSpPr txBox="1"/>
          <p:nvPr/>
        </p:nvSpPr>
        <p:spPr>
          <a:xfrm>
            <a:off x="3337560" y="3108960"/>
            <a:ext cx="1920240" cy="777240"/>
          </a:xfrm>
          <a:prstGeom prst="rect">
            <a:avLst/>
          </a:prstGeom>
          <a:noFill/>
          <a:ln/>
        </p:spPr>
        <p:txBody>
          <a:bodyPr wrap="square" lIns="0" tIns="0" rIns="0" bIns="0" rtlCol="0" anchor="ctr"/>
          <a:lstStyle/>
          <a:p>
            <a:pPr algn="ctr" indent="0" marL="0">
              <a:buNone/>
            </a:pPr>
            <a:r>
              <a:rPr lang="en-US" sz="1400" b="1" dirty="0">
                <a:solidFill>
                  <a:schemeClr val="bg1"/>
                </a:solidFill>
              </a:rPr>
              <a:t>Trade ledger</a:t>
            </a:r>
            <a:endParaRPr lang="en-US" sz="1500" dirty="0"/>
          </a:p>
          <a:p>
            <a:pPr algn="ctr" indent="0" marL="0">
              <a:buNone/>
            </a:pPr>
            <a:r>
              <a:rPr lang="en-US" sz="1150" dirty="0">
                <a:solidFill>
                  <a:schemeClr val="bg2"/>
                </a:solidFill>
              </a:rPr>
              <a:t>never synced</a:t>
            </a:r>
            <a:endParaRPr lang="en-US" sz="1500" dirty="0"/>
          </a:p>
        </p:txBody>
      </p:sp>
      <p:sp>
        <p:nvSpPr>
          <p:cNvPr id="16" name="flow"/>
          <p:cNvSpPr/>
          <p:nvPr/>
        </p:nvSpPr>
        <p:spPr>
          <a:xfrm>
            <a:off x="5394960" y="2898648"/>
            <a:ext cx="274320" cy="201168"/>
          </a:xfrm>
          <a:prstGeom prst="rightArrow">
            <a:avLst/>
          </a:prstGeom>
          <a:solidFill>
            <a:schemeClr val="bg2"/>
          </a:solidFill>
          <a:ln/>
        </p:spPr>
      </p:sp>
      <p:sp>
        <p:nvSpPr>
          <p:cNvPr id="17" name="Analytics core"/>
          <p:cNvSpPr/>
          <p:nvPr/>
        </p:nvSpPr>
        <p:spPr>
          <a:xfrm>
            <a:off x="5715000" y="2103120"/>
            <a:ext cx="2697480" cy="1783080"/>
          </a:xfrm>
          <a:prstGeom prst="roundRect">
            <a:avLst>
              <a:gd name="adj" fmla="val 4103"/>
            </a:avLst>
          </a:prstGeom>
          <a:solidFill>
            <a:schemeClr val="tx2"/>
          </a:solidFill>
          <a:ln w="19050">
            <a:solidFill>
              <a:schemeClr val="accent1"/>
            </a:solidFill>
            <a:prstDash val="solid"/>
          </a:ln>
        </p:spPr>
      </p:sp>
      <p:sp>
        <p:nvSpPr>
          <p:cNvPr id="18" name="Text 16"/>
          <p:cNvSpPr txBox="1"/>
          <p:nvPr/>
        </p:nvSpPr>
        <p:spPr>
          <a:xfrm>
            <a:off x="5806440" y="2103120"/>
            <a:ext cx="2514600" cy="1783080"/>
          </a:xfrm>
          <a:prstGeom prst="rect">
            <a:avLst/>
          </a:prstGeom>
          <a:noFill/>
          <a:ln/>
        </p:spPr>
        <p:txBody>
          <a:bodyPr wrap="square" lIns="0" tIns="0" rIns="0" bIns="0" rtlCol="0" anchor="ctr"/>
          <a:lstStyle/>
          <a:p>
            <a:pPr algn="ctr" indent="0" marL="0">
              <a:buNone/>
            </a:pPr>
            <a:r>
              <a:rPr lang="en-US" sz="1400" b="1" dirty="0">
                <a:solidFill>
                  <a:schemeClr val="bg1"/>
                </a:solidFill>
              </a:rPr>
              <a:t>Analytics core</a:t>
            </a:r>
            <a:endParaRPr lang="en-US" sz="1500" dirty="0"/>
          </a:p>
          <a:p>
            <a:pPr algn="ctr" indent="0" marL="0">
              <a:buNone/>
            </a:pPr>
            <a:r>
              <a:rPr lang="en-US" sz="1150" dirty="0">
                <a:solidFill>
                  <a:schemeClr val="bg2"/>
                </a:solidFill>
              </a:rPr>
              <a:t>decisions, bias tests, rules, agents. Pure code, no model.</a:t>
            </a:r>
            <a:endParaRPr lang="en-US" sz="1500" dirty="0"/>
          </a:p>
        </p:txBody>
      </p:sp>
      <p:sp>
        <p:nvSpPr>
          <p:cNvPr id="19" name="flow"/>
          <p:cNvSpPr/>
          <p:nvPr/>
        </p:nvSpPr>
        <p:spPr>
          <a:xfrm>
            <a:off x="8458200" y="2898648"/>
            <a:ext cx="274320" cy="201168"/>
          </a:xfrm>
          <a:prstGeom prst="rightArrow">
            <a:avLst/>
          </a:prstGeom>
          <a:solidFill>
            <a:schemeClr val="bg2"/>
          </a:solidFill>
          <a:ln/>
        </p:spPr>
      </p:sp>
      <p:sp>
        <p:nvSpPr>
          <p:cNvPr id="20" name="Dashboard"/>
          <p:cNvSpPr/>
          <p:nvPr/>
        </p:nvSpPr>
        <p:spPr>
          <a:xfrm>
            <a:off x="8778240" y="2103120"/>
            <a:ext cx="2651760" cy="777240"/>
          </a:xfrm>
          <a:prstGeom prst="roundRect">
            <a:avLst>
              <a:gd name="adj" fmla="val 9412"/>
            </a:avLst>
          </a:prstGeom>
          <a:solidFill>
            <a:schemeClr val="tx2"/>
          </a:solidFill>
          <a:ln w="12700">
            <a:solidFill>
              <a:schemeClr val="accent5"/>
            </a:solidFill>
            <a:prstDash val="solid"/>
          </a:ln>
        </p:spPr>
      </p:sp>
      <p:sp>
        <p:nvSpPr>
          <p:cNvPr id="21" name="Text 19"/>
          <p:cNvSpPr txBox="1"/>
          <p:nvPr/>
        </p:nvSpPr>
        <p:spPr>
          <a:xfrm>
            <a:off x="8869680" y="2103120"/>
            <a:ext cx="2468880" cy="777240"/>
          </a:xfrm>
          <a:prstGeom prst="rect">
            <a:avLst/>
          </a:prstGeom>
          <a:noFill/>
          <a:ln/>
        </p:spPr>
        <p:txBody>
          <a:bodyPr wrap="square" lIns="0" tIns="0" rIns="0" bIns="0" rtlCol="0" anchor="ctr"/>
          <a:lstStyle/>
          <a:p>
            <a:pPr algn="ctr" indent="0" marL="0">
              <a:buNone/>
            </a:pPr>
            <a:r>
              <a:rPr lang="en-US" sz="1400" b="1" dirty="0">
                <a:solidFill>
                  <a:schemeClr val="bg1"/>
                </a:solidFill>
              </a:rPr>
              <a:t>Dashboard</a:t>
            </a:r>
            <a:endParaRPr lang="en-US" sz="1500" dirty="0"/>
          </a:p>
          <a:p>
            <a:pPr algn="ctr" indent="0" marL="0">
              <a:buNone/>
            </a:pPr>
            <a:r>
              <a:rPr lang="en-US" sz="1150" dirty="0">
                <a:solidFill>
                  <a:schemeClr val="bg2"/>
                </a:solidFill>
              </a:rPr>
              <a:t>coach, check a buy</a:t>
            </a:r>
            <a:endParaRPr lang="en-US" sz="1500" dirty="0"/>
          </a:p>
        </p:txBody>
      </p:sp>
      <p:sp>
        <p:nvSpPr>
          <p:cNvPr id="22" name="AI client + privacy filter"/>
          <p:cNvSpPr/>
          <p:nvPr/>
        </p:nvSpPr>
        <p:spPr>
          <a:xfrm>
            <a:off x="8778240" y="3108960"/>
            <a:ext cx="2651760" cy="777240"/>
          </a:xfrm>
          <a:prstGeom prst="roundRect">
            <a:avLst>
              <a:gd name="adj" fmla="val 9412"/>
            </a:avLst>
          </a:prstGeom>
          <a:solidFill>
            <a:schemeClr val="tx2"/>
          </a:solidFill>
          <a:ln w="19050">
            <a:solidFill>
              <a:schemeClr val="accent1"/>
            </a:solidFill>
            <a:prstDash val="solid"/>
          </a:ln>
        </p:spPr>
      </p:sp>
      <p:sp>
        <p:nvSpPr>
          <p:cNvPr id="23" name="Text 21"/>
          <p:cNvSpPr txBox="1"/>
          <p:nvPr/>
        </p:nvSpPr>
        <p:spPr>
          <a:xfrm>
            <a:off x="8869680" y="3108960"/>
            <a:ext cx="2468880" cy="777240"/>
          </a:xfrm>
          <a:prstGeom prst="rect">
            <a:avLst/>
          </a:prstGeom>
          <a:noFill/>
          <a:ln/>
        </p:spPr>
        <p:txBody>
          <a:bodyPr wrap="square" lIns="0" tIns="0" rIns="0" bIns="0" rtlCol="0" anchor="ctr"/>
          <a:lstStyle/>
          <a:p>
            <a:pPr algn="ctr" indent="0" marL="0">
              <a:buNone/>
            </a:pPr>
            <a:r>
              <a:rPr lang="en-US" sz="1400" b="1" dirty="0">
                <a:solidFill>
                  <a:schemeClr val="bg1"/>
                </a:solidFill>
              </a:rPr>
              <a:t>AI client + privacy filter</a:t>
            </a:r>
            <a:endParaRPr lang="en-US" sz="1500" dirty="0"/>
          </a:p>
          <a:p>
            <a:pPr algn="ctr" indent="0" marL="0">
              <a:buNone/>
            </a:pPr>
            <a:r>
              <a:rPr lang="en-US" sz="1150" dirty="0">
                <a:solidFill>
                  <a:schemeClr val="bg2"/>
                </a:solidFill>
              </a:rPr>
              <a:t>aliases, ratios, months</a:t>
            </a:r>
            <a:endParaRPr lang="en-US" sz="1500" dirty="0"/>
          </a:p>
        </p:txBody>
      </p:sp>
      <p:sp>
        <p:nvSpPr>
          <p:cNvPr id="24" name="to cloud"/>
          <p:cNvSpPr/>
          <p:nvPr/>
        </p:nvSpPr>
        <p:spPr>
          <a:xfrm>
            <a:off x="9985248" y="3959352"/>
            <a:ext cx="237744" cy="502920"/>
          </a:xfrm>
          <a:prstGeom prst="downArrow">
            <a:avLst/>
          </a:prstGeom>
          <a:solidFill>
            <a:schemeClr val="accent1"/>
          </a:solidFill>
          <a:ln/>
        </p:spPr>
      </p:sp>
      <p:sp>
        <p:nvSpPr>
          <p:cNvPr id="25" name="Text 23"/>
          <p:cNvSpPr txBox="1"/>
          <p:nvPr/>
        </p:nvSpPr>
        <p:spPr>
          <a:xfrm>
            <a:off x="7315200" y="4114800"/>
            <a:ext cx="2560320" cy="274320"/>
          </a:xfrm>
          <a:prstGeom prst="rect">
            <a:avLst/>
          </a:prstGeom>
          <a:noFill/>
          <a:ln/>
        </p:spPr>
        <p:txBody>
          <a:bodyPr wrap="square" lIns="0" tIns="0" rIns="0" bIns="0" rtlCol="0" anchor="t"/>
          <a:lstStyle/>
          <a:p>
            <a:pPr algn="r" indent="0" marL="0">
              <a:buNone/>
            </a:pPr>
            <a:r>
              <a:rPr lang="en-US" sz="1150" dirty="0">
                <a:solidFill>
                  <a:schemeClr val="accent1"/>
                </a:solidFill>
              </a:rPr>
              <a:t>de-identified results only</a:t>
            </a:r>
            <a:endParaRPr lang="en-US" sz="1150" dirty="0"/>
          </a:p>
        </p:txBody>
      </p:sp>
      <p:sp>
        <p:nvSpPr>
          <p:cNvPr id="26" name="sync"/>
          <p:cNvSpPr/>
          <p:nvPr/>
        </p:nvSpPr>
        <p:spPr>
          <a:xfrm>
            <a:off x="4160520" y="3959352"/>
            <a:ext cx="237744" cy="502920"/>
          </a:xfrm>
          <a:prstGeom prst="downArrow">
            <a:avLst/>
          </a:prstGeom>
          <a:solidFill>
            <a:schemeClr val="bg2"/>
          </a:solidFill>
          <a:ln/>
        </p:spPr>
      </p:sp>
      <p:sp>
        <p:nvSpPr>
          <p:cNvPr id="27" name="Text 25"/>
          <p:cNvSpPr txBox="1"/>
          <p:nvPr/>
        </p:nvSpPr>
        <p:spPr>
          <a:xfrm>
            <a:off x="4526280" y="4114800"/>
            <a:ext cx="2743200" cy="274320"/>
          </a:xfrm>
          <a:prstGeom prst="rect">
            <a:avLst/>
          </a:prstGeom>
          <a:noFill/>
          <a:ln/>
        </p:spPr>
        <p:txBody>
          <a:bodyPr wrap="square" lIns="0" tIns="0" rIns="0" bIns="0" rtlCol="0" anchor="t"/>
          <a:lstStyle/>
          <a:p>
            <a:pPr indent="0" marL="0">
              <a:buNone/>
            </a:pPr>
            <a:r>
              <a:rPr lang="en-US" sz="1150" dirty="0">
                <a:solidFill>
                  <a:schemeClr val="bg2"/>
                </a:solidFill>
              </a:rPr>
              <a:t>own attention rows (optional sync)</a:t>
            </a:r>
            <a:endParaRPr lang="en-US" sz="1150" dirty="0"/>
          </a:p>
        </p:txBody>
      </p:sp>
      <p:sp>
        <p:nvSpPr>
          <p:cNvPr id="28" name="cloud zone"/>
          <p:cNvSpPr/>
          <p:nvPr/>
        </p:nvSpPr>
        <p:spPr>
          <a:xfrm>
            <a:off x="548640" y="4526280"/>
            <a:ext cx="11109960" cy="1691640"/>
          </a:xfrm>
          <a:prstGeom prst="roundRect">
            <a:avLst>
              <a:gd name="adj" fmla="val 6486"/>
            </a:avLst>
          </a:prstGeom>
          <a:solidFill>
            <a:srgbClr val="1C2133"/>
          </a:solidFill>
          <a:ln w="12700">
            <a:solidFill>
              <a:srgbClr val="343C54"/>
            </a:solidFill>
            <a:prstDash val="solid"/>
          </a:ln>
        </p:spPr>
      </p:sp>
      <p:sp>
        <p:nvSpPr>
          <p:cNvPr id="29" name="Text 27"/>
          <p:cNvSpPr txBox="1"/>
          <p:nvPr/>
        </p:nvSpPr>
        <p:spPr>
          <a:xfrm>
            <a:off x="777240" y="4617720"/>
            <a:ext cx="822960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CLOUD  ·  Supabase, EU region  ·  JWT on every call  ·  row-level security</a:t>
            </a:r>
            <a:endParaRPr lang="en-US" sz="1200" dirty="0"/>
          </a:p>
        </p:txBody>
      </p:sp>
      <p:sp>
        <p:nvSpPr>
          <p:cNvPr id="30" name="Sign-in"/>
          <p:cNvSpPr/>
          <p:nvPr/>
        </p:nvSpPr>
        <p:spPr>
          <a:xfrm>
            <a:off x="777240" y="5029200"/>
            <a:ext cx="2377440" cy="914400"/>
          </a:xfrm>
          <a:prstGeom prst="roundRect">
            <a:avLst>
              <a:gd name="adj" fmla="val 8000"/>
            </a:avLst>
          </a:prstGeom>
          <a:solidFill>
            <a:schemeClr val="tx2"/>
          </a:solidFill>
          <a:ln w="12700">
            <a:solidFill>
              <a:schemeClr val="accent5"/>
            </a:solidFill>
            <a:prstDash val="solid"/>
          </a:ln>
        </p:spPr>
      </p:sp>
      <p:sp>
        <p:nvSpPr>
          <p:cNvPr id="31" name="Text 29"/>
          <p:cNvSpPr txBox="1"/>
          <p:nvPr/>
        </p:nvSpPr>
        <p:spPr>
          <a:xfrm>
            <a:off x="868680" y="5029200"/>
            <a:ext cx="2194560" cy="914400"/>
          </a:xfrm>
          <a:prstGeom prst="rect">
            <a:avLst/>
          </a:prstGeom>
          <a:noFill/>
          <a:ln/>
        </p:spPr>
        <p:txBody>
          <a:bodyPr wrap="square" lIns="0" tIns="0" rIns="0" bIns="0" rtlCol="0" anchor="ctr"/>
          <a:lstStyle/>
          <a:p>
            <a:pPr algn="ctr" indent="0" marL="0">
              <a:buNone/>
            </a:pPr>
            <a:r>
              <a:rPr lang="en-US" sz="1400" b="1" dirty="0">
                <a:solidFill>
                  <a:schemeClr val="bg1"/>
                </a:solidFill>
              </a:rPr>
              <a:t>Sign-in</a:t>
            </a:r>
            <a:endParaRPr lang="en-US" sz="1500" dirty="0"/>
          </a:p>
          <a:p>
            <a:pPr algn="ctr" indent="0" marL="0">
              <a:buNone/>
            </a:pPr>
            <a:r>
              <a:rPr lang="en-US" sz="1150" dirty="0">
                <a:solidFill>
                  <a:schemeClr val="bg2"/>
                </a:solidFill>
              </a:rPr>
              <a:t>Google OAuth</a:t>
            </a:r>
            <a:endParaRPr lang="en-US" sz="1500" dirty="0"/>
          </a:p>
        </p:txBody>
      </p:sp>
      <p:sp>
        <p:nvSpPr>
          <p:cNvPr id="32" name="Postgres"/>
          <p:cNvSpPr/>
          <p:nvPr/>
        </p:nvSpPr>
        <p:spPr>
          <a:xfrm>
            <a:off x="3337560" y="5029200"/>
            <a:ext cx="2377440" cy="914400"/>
          </a:xfrm>
          <a:prstGeom prst="roundRect">
            <a:avLst>
              <a:gd name="adj" fmla="val 8000"/>
            </a:avLst>
          </a:prstGeom>
          <a:solidFill>
            <a:schemeClr val="tx2"/>
          </a:solidFill>
          <a:ln w="12700">
            <a:solidFill>
              <a:schemeClr val="accent5"/>
            </a:solidFill>
            <a:prstDash val="solid"/>
          </a:ln>
        </p:spPr>
      </p:sp>
      <p:sp>
        <p:nvSpPr>
          <p:cNvPr id="33" name="Text 31"/>
          <p:cNvSpPr txBox="1"/>
          <p:nvPr/>
        </p:nvSpPr>
        <p:spPr>
          <a:xfrm>
            <a:off x="3429000" y="5029200"/>
            <a:ext cx="2194560" cy="914400"/>
          </a:xfrm>
          <a:prstGeom prst="rect">
            <a:avLst/>
          </a:prstGeom>
          <a:noFill/>
          <a:ln/>
        </p:spPr>
        <p:txBody>
          <a:bodyPr wrap="square" lIns="0" tIns="0" rIns="0" bIns="0" rtlCol="0" anchor="ctr"/>
          <a:lstStyle/>
          <a:p>
            <a:pPr algn="ctr" indent="0" marL="0">
              <a:buNone/>
            </a:pPr>
            <a:r>
              <a:rPr lang="en-US" sz="1400" b="1" dirty="0">
                <a:solidFill>
                  <a:schemeClr val="bg1"/>
                </a:solidFill>
              </a:rPr>
              <a:t>Postgres</a:t>
            </a:r>
            <a:endParaRPr lang="en-US" sz="1500" dirty="0"/>
          </a:p>
          <a:p>
            <a:pPr algn="ctr" indent="0" marL="0">
              <a:buNone/>
            </a:pPr>
            <a:r>
              <a:rPr lang="en-US" sz="1150" dirty="0">
                <a:solidFill>
                  <a:schemeClr val="bg2"/>
                </a:solidFill>
              </a:rPr>
              <a:t>your attention, isolated per user</a:t>
            </a:r>
            <a:endParaRPr lang="en-US" sz="1500" dirty="0"/>
          </a:p>
        </p:txBody>
      </p:sp>
      <p:sp>
        <p:nvSpPr>
          <p:cNvPr id="34" name="Community"/>
          <p:cNvSpPr/>
          <p:nvPr/>
        </p:nvSpPr>
        <p:spPr>
          <a:xfrm>
            <a:off x="5897880" y="5029200"/>
            <a:ext cx="2377440" cy="914400"/>
          </a:xfrm>
          <a:prstGeom prst="roundRect">
            <a:avLst>
              <a:gd name="adj" fmla="val 8000"/>
            </a:avLst>
          </a:prstGeom>
          <a:solidFill>
            <a:schemeClr val="tx2"/>
          </a:solidFill>
          <a:ln w="12700">
            <a:solidFill>
              <a:schemeClr val="accent5"/>
            </a:solidFill>
            <a:prstDash val="solid"/>
          </a:ln>
        </p:spPr>
      </p:sp>
      <p:sp>
        <p:nvSpPr>
          <p:cNvPr id="35" name="Text 33"/>
          <p:cNvSpPr txBox="1"/>
          <p:nvPr/>
        </p:nvSpPr>
        <p:spPr>
          <a:xfrm>
            <a:off x="5989320" y="5029200"/>
            <a:ext cx="2194560" cy="914400"/>
          </a:xfrm>
          <a:prstGeom prst="rect">
            <a:avLst/>
          </a:prstGeom>
          <a:noFill/>
          <a:ln/>
        </p:spPr>
        <p:txBody>
          <a:bodyPr wrap="square" lIns="0" tIns="0" rIns="0" bIns="0" rtlCol="0" anchor="ctr"/>
          <a:lstStyle/>
          <a:p>
            <a:pPr algn="ctr" indent="0" marL="0">
              <a:buNone/>
            </a:pPr>
            <a:r>
              <a:rPr lang="en-US" sz="1400" b="1" dirty="0">
                <a:solidFill>
                  <a:schemeClr val="bg1"/>
                </a:solidFill>
              </a:rPr>
              <a:t>Community</a:t>
            </a:r>
            <a:endParaRPr lang="en-US" sz="1500" dirty="0"/>
          </a:p>
          <a:p>
            <a:pPr algn="ctr" indent="0" marL="0">
              <a:buNone/>
            </a:pPr>
            <a:r>
              <a:rPr lang="en-US" sz="1150" dirty="0">
                <a:solidFill>
                  <a:schemeClr val="bg2"/>
                </a:solidFill>
              </a:rPr>
              <a:t>aggregates with group-size floors</a:t>
            </a:r>
            <a:endParaRPr lang="en-US" sz="1500" dirty="0"/>
          </a:p>
        </p:txBody>
      </p:sp>
      <p:sp>
        <p:nvSpPr>
          <p:cNvPr id="36" name="Edge functions"/>
          <p:cNvSpPr/>
          <p:nvPr/>
        </p:nvSpPr>
        <p:spPr>
          <a:xfrm>
            <a:off x="8458200" y="5029200"/>
            <a:ext cx="2971800" cy="914400"/>
          </a:xfrm>
          <a:prstGeom prst="roundRect">
            <a:avLst>
              <a:gd name="adj" fmla="val 8000"/>
            </a:avLst>
          </a:prstGeom>
          <a:solidFill>
            <a:schemeClr val="tx2"/>
          </a:solidFill>
          <a:ln w="12700">
            <a:solidFill>
              <a:schemeClr val="accent5"/>
            </a:solidFill>
            <a:prstDash val="solid"/>
          </a:ln>
        </p:spPr>
      </p:sp>
      <p:sp>
        <p:nvSpPr>
          <p:cNvPr id="37" name="Text 35"/>
          <p:cNvSpPr txBox="1"/>
          <p:nvPr/>
        </p:nvSpPr>
        <p:spPr>
          <a:xfrm>
            <a:off x="8549640" y="5029200"/>
            <a:ext cx="2788920" cy="914400"/>
          </a:xfrm>
          <a:prstGeom prst="rect">
            <a:avLst/>
          </a:prstGeom>
          <a:noFill/>
          <a:ln/>
        </p:spPr>
        <p:txBody>
          <a:bodyPr wrap="square" lIns="0" tIns="0" rIns="0" bIns="0" rtlCol="0" anchor="ctr"/>
          <a:lstStyle/>
          <a:p>
            <a:pPr algn="ctr" indent="0" marL="0">
              <a:buNone/>
            </a:pPr>
            <a:r>
              <a:rPr lang="en-US" sz="1400" b="1" dirty="0">
                <a:solidFill>
                  <a:schemeClr val="bg1"/>
                </a:solidFill>
              </a:rPr>
              <a:t>Edge functions</a:t>
            </a:r>
            <a:endParaRPr lang="en-US" sz="1500" dirty="0"/>
          </a:p>
          <a:p>
            <a:pPr algn="ctr" indent="0" marL="0">
              <a:buNone/>
            </a:pPr>
            <a:r>
              <a:rPr lang="en-US" sz="1150" dirty="0">
                <a:solidFill>
                  <a:schemeClr val="bg2"/>
                </a:solidFill>
              </a:rPr>
              <a:t>AI coach · prices · trending</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822960" y="1828800"/>
            <a:ext cx="2743200" cy="1463040"/>
          </a:xfrm>
          <a:prstGeom prst="rect">
            <a:avLst/>
          </a:prstGeom>
          <a:noFill/>
          <a:ln/>
        </p:spPr>
        <p:txBody>
          <a:bodyPr wrap="square" lIns="0" tIns="0" rIns="0" bIns="0" rtlCol="0" anchor="b"/>
          <a:lstStyle/>
          <a:p>
            <a:pPr algn="l" indent="0" marL="0">
              <a:buNone/>
            </a:pPr>
            <a:r>
              <a:rPr lang="en-US" sz="9600" b="1" dirty="0">
                <a:solidFill>
                  <a:schemeClr val="accent1"/>
                </a:solidFill>
                <a:latin typeface="Arial" pitchFamily="34" charset="0"/>
                <a:ea typeface="Arial" pitchFamily="34" charset="-122"/>
                <a:cs typeface="Arial" pitchFamily="34" charset="-120"/>
              </a:rPr>
              <a:t>03</a:t>
            </a:r>
            <a:endParaRPr lang="en-US" sz="9600" dirty="0"/>
          </a:p>
        </p:txBody>
      </p:sp>
      <p:sp>
        <p:nvSpPr>
          <p:cNvPr id="3" name="Text 0"/>
          <p:cNvSpPr/>
          <p:nvPr>
            <p:ph idx="101" type="title" hasCustomPrompt="1"/>
          </p:nvPr>
        </p:nvSpPr>
        <p:spPr>
          <a:xfrm>
            <a:off x="822960" y="3383280"/>
            <a:ext cx="10515600" cy="914400"/>
          </a:xfrm>
          <a:prstGeom prst="rect">
            <a:avLst/>
          </a:prstGeom>
          <a:noFill/>
          <a:ln/>
        </p:spPr>
        <p:txBody>
          <a:bodyPr wrap="square" lIns="0" tIns="0" rIns="0" bIns="0" rtlCol="0" anchor="t"/>
          <a:lstStyle/>
          <a:p>
            <a:pPr algn="l" indent="0" marL="0">
              <a:buNone/>
            </a:pPr>
            <a:r>
              <a:rPr lang="en-US" sz="4400" b="1" dirty="0">
                <a:solidFill>
                  <a:schemeClr val="bg1"/>
                </a:solidFill>
                <a:latin typeface="Arial" pitchFamily="34" charset="0"/>
                <a:ea typeface="Arial" pitchFamily="34" charset="-122"/>
                <a:cs typeface="Arial" pitchFamily="34" charset="-120"/>
              </a:rPr>
              <a:t>Core algorithms</a:t>
            </a:r>
            <a:endParaRPr lang="en-US" sz="4400" dirty="0"/>
          </a:p>
        </p:txBody>
      </p:sp>
      <p:sp>
        <p:nvSpPr>
          <p:cNvPr id="4" name="Text 0"/>
          <p:cNvSpPr/>
          <p:nvPr>
            <p:ph idx="102" type="body" hasCustomPrompt="1"/>
          </p:nvPr>
        </p:nvSpPr>
        <p:spPr>
          <a:xfrm>
            <a:off x="822960" y="4297680"/>
            <a:ext cx="9144000" cy="731520"/>
          </a:xfrm>
          <a:prstGeom prst="rect">
            <a:avLst/>
          </a:prstGeom>
          <a:noFill/>
          <a:ln/>
        </p:spPr>
        <p:txBody>
          <a:bodyPr wrap="square" lIns="0" tIns="0" rIns="0" bIns="0" rtlCol="0" anchor="t"/>
          <a:lstStyle/>
          <a:p>
            <a:pPr algn="l" indent="0" marL="0">
              <a:buNone/>
            </a:pPr>
            <a:r>
              <a:rPr lang="en-US" sz="2000" dirty="0">
                <a:solidFill>
                  <a:schemeClr val="bg2"/>
                </a:solidFill>
              </a:rPr>
              <a:t>Statistics find the biases and prove the rules, in code that never guesses</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algn="l" indent="0" marL="0">
              <a:buNone/>
            </a:pPr>
            <a:r>
              <a:rPr lang="en-US" sz="1200" b="1" spc="200" kern="0" dirty="0">
                <a:solidFill>
                  <a:schemeClr val="accent1"/>
                </a:solidFill>
              </a:rPr>
              <a:t>03 · CORE ALGORITHMS · PIPELINE</a:t>
            </a:r>
            <a:endParaRPr lang="en-US" sz="1200" dirty="0"/>
          </a:p>
        </p:txBody>
      </p:sp>
      <p:sp>
        <p:nvSpPr>
          <p:cNvPr id="3" name="Text 1"/>
          <p:cNvSpPr/>
          <p:nvPr>
            <p:ph idx="102" type="title" hasCustomPrompt="1"/>
          </p:nvPr>
        </p:nvSpPr>
        <p:spPr>
          <a:xfrm>
            <a:off x="548640" y="640080"/>
            <a:ext cx="11064240" cy="73152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From raw trades to a verdict in five steps</a:t>
            </a:r>
            <a:endParaRPr lang="en-US" sz="3000" dirty="0"/>
          </a:p>
        </p:txBody>
      </p:sp>
      <p:sp>
        <p:nvSpPr>
          <p:cNvPr id="4" name="card"/>
          <p:cNvSpPr/>
          <p:nvPr/>
        </p:nvSpPr>
        <p:spPr>
          <a:xfrm>
            <a:off x="548640" y="1691640"/>
            <a:ext cx="2075688" cy="2880360"/>
          </a:xfrm>
          <a:prstGeom prst="roundRect">
            <a:avLst>
              <a:gd name="adj" fmla="val 5286"/>
            </a:avLst>
          </a:prstGeom>
          <a:solidFill>
            <a:schemeClr val="tx2"/>
          </a:solidFill>
          <a:ln w="12700">
            <a:solidFill>
              <a:schemeClr val="accent5"/>
            </a:solidFill>
            <a:prstDash val="solid"/>
          </a:ln>
          <a:effectLst>
            <a:outerShdw sx="100000" sy="100000" kx="0" ky="0" algn="bl" rotWithShape="0" blurRad="152400" dist="50800" dir="5400000">
              <a:srgbClr val="000000">
                <a:alpha val="45000"/>
              </a:srgbClr>
            </a:outerShdw>
          </a:effectLst>
        </p:spPr>
      </p:sp>
      <p:sp>
        <p:nvSpPr>
          <p:cNvPr id="5" name="step"/>
          <p:cNvSpPr/>
          <p:nvPr/>
        </p:nvSpPr>
        <p:spPr>
          <a:xfrm>
            <a:off x="749808" y="1920240"/>
            <a:ext cx="457200" cy="457200"/>
          </a:xfrm>
          <a:prstGeom prst="ellipse">
            <a:avLst/>
          </a:prstGeom>
          <a:solidFill>
            <a:schemeClr val="accent1"/>
          </a:solidFill>
          <a:ln/>
        </p:spPr>
      </p:sp>
      <p:sp>
        <p:nvSpPr>
          <p:cNvPr id="6" name="Text 4"/>
          <p:cNvSpPr txBox="1"/>
          <p:nvPr/>
        </p:nvSpPr>
        <p:spPr>
          <a:xfrm>
            <a:off x="749808" y="192024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7" name="Text 5"/>
          <p:cNvSpPr txBox="1"/>
          <p:nvPr/>
        </p:nvSpPr>
        <p:spPr>
          <a:xfrm>
            <a:off x="749808" y="2514600"/>
            <a:ext cx="1709928" cy="365760"/>
          </a:xfrm>
          <a:prstGeom prst="rect">
            <a:avLst/>
          </a:prstGeom>
          <a:noFill/>
          <a:ln/>
        </p:spPr>
        <p:txBody>
          <a:bodyPr wrap="square" lIns="0" tIns="0" rIns="0" bIns="0" rtlCol="0" anchor="t"/>
          <a:lstStyle/>
          <a:p>
            <a:pPr indent="0" marL="0">
              <a:buNone/>
            </a:pPr>
            <a:r>
              <a:rPr lang="en-US" sz="1800" b="1" dirty="0">
                <a:solidFill>
                  <a:schemeClr val="bg1"/>
                </a:solidFill>
              </a:rPr>
              <a:t>Decisions</a:t>
            </a:r>
            <a:endParaRPr lang="en-US" sz="1800" dirty="0"/>
          </a:p>
        </p:txBody>
      </p:sp>
      <p:sp>
        <p:nvSpPr>
          <p:cNvPr id="8" name="Text 6"/>
          <p:cNvSpPr txBox="1"/>
          <p:nvPr/>
        </p:nvSpPr>
        <p:spPr>
          <a:xfrm>
            <a:off x="749808" y="2926080"/>
            <a:ext cx="1709928" cy="1554480"/>
          </a:xfrm>
          <a:prstGeom prst="rect">
            <a:avLst/>
          </a:prstGeom>
          <a:noFill/>
          <a:ln/>
        </p:spPr>
        <p:txBody>
          <a:bodyPr wrap="square" lIns="0" tIns="0" rIns="0" bIns="0" rtlCol="0" anchor="t"/>
          <a:lstStyle/>
          <a:p>
            <a:pPr indent="0" marL="0">
              <a:buNone/>
            </a:pPr>
            <a:r>
              <a:rPr lang="en-US" sz="1300" dirty="0">
                <a:solidFill>
                  <a:schemeClr val="bg2"/>
                </a:solidFill>
              </a:rPr>
              <a:t>All fills of one stock, one side, one day form one decision. Outcome: return against the NASDAQ one and three months later.</a:t>
            </a:r>
            <a:endParaRPr lang="en-US" sz="1300" dirty="0"/>
          </a:p>
        </p:txBody>
      </p:sp>
      <p:sp>
        <p:nvSpPr>
          <p:cNvPr id="9" name="card"/>
          <p:cNvSpPr/>
          <p:nvPr/>
        </p:nvSpPr>
        <p:spPr>
          <a:xfrm>
            <a:off x="2807208" y="1691640"/>
            <a:ext cx="2075688" cy="2880360"/>
          </a:xfrm>
          <a:prstGeom prst="roundRect">
            <a:avLst>
              <a:gd name="adj" fmla="val 5286"/>
            </a:avLst>
          </a:prstGeom>
          <a:solidFill>
            <a:schemeClr val="tx2"/>
          </a:solidFill>
          <a:ln w="12700">
            <a:solidFill>
              <a:schemeClr val="accent5"/>
            </a:solidFill>
            <a:prstDash val="solid"/>
          </a:ln>
          <a:effectLst>
            <a:outerShdw sx="100000" sy="100000" kx="0" ky="0" algn="bl" rotWithShape="0" blurRad="152400" dist="50800" dir="5400000">
              <a:srgbClr val="000000">
                <a:alpha val="45000"/>
              </a:srgbClr>
            </a:outerShdw>
          </a:effectLst>
        </p:spPr>
      </p:sp>
      <p:sp>
        <p:nvSpPr>
          <p:cNvPr id="10" name="step"/>
          <p:cNvSpPr/>
          <p:nvPr/>
        </p:nvSpPr>
        <p:spPr>
          <a:xfrm>
            <a:off x="3008376" y="1920240"/>
            <a:ext cx="457200" cy="457200"/>
          </a:xfrm>
          <a:prstGeom prst="ellipse">
            <a:avLst/>
          </a:prstGeom>
          <a:solidFill>
            <a:schemeClr val="accent1"/>
          </a:solidFill>
          <a:ln/>
        </p:spPr>
      </p:sp>
      <p:sp>
        <p:nvSpPr>
          <p:cNvPr id="11" name="Text 9"/>
          <p:cNvSpPr txBox="1"/>
          <p:nvPr/>
        </p:nvSpPr>
        <p:spPr>
          <a:xfrm>
            <a:off x="3008376" y="192024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2" name="Text 10"/>
          <p:cNvSpPr txBox="1"/>
          <p:nvPr/>
        </p:nvSpPr>
        <p:spPr>
          <a:xfrm>
            <a:off x="3008376" y="2514600"/>
            <a:ext cx="1709928" cy="365760"/>
          </a:xfrm>
          <a:prstGeom prst="rect">
            <a:avLst/>
          </a:prstGeom>
          <a:noFill/>
          <a:ln/>
        </p:spPr>
        <p:txBody>
          <a:bodyPr wrap="square" lIns="0" tIns="0" rIns="0" bIns="0" rtlCol="0" anchor="t"/>
          <a:lstStyle/>
          <a:p>
            <a:pPr indent="0" marL="0">
              <a:buNone/>
            </a:pPr>
            <a:r>
              <a:rPr lang="en-US" sz="1800" b="1" dirty="0">
                <a:solidFill>
                  <a:schemeClr val="bg1"/>
                </a:solidFill>
              </a:rPr>
              <a:t>Context</a:t>
            </a:r>
            <a:endParaRPr lang="en-US" sz="1800" dirty="0"/>
          </a:p>
        </p:txBody>
      </p:sp>
      <p:sp>
        <p:nvSpPr>
          <p:cNvPr id="13" name="Text 11"/>
          <p:cNvSpPr txBox="1"/>
          <p:nvPr/>
        </p:nvSpPr>
        <p:spPr>
          <a:xfrm>
            <a:off x="3008376" y="2926080"/>
            <a:ext cx="1709928" cy="1554480"/>
          </a:xfrm>
          <a:prstGeom prst="rect">
            <a:avLst/>
          </a:prstGeom>
          <a:noFill/>
          <a:ln/>
        </p:spPr>
        <p:txBody>
          <a:bodyPr wrap="square" lIns="0" tIns="0" rIns="0" bIns="0" rtlCol="0" anchor="t"/>
          <a:lstStyle/>
          <a:p>
            <a:pPr indent="0" marL="0">
              <a:buNone/>
            </a:pPr>
            <a:r>
              <a:rPr lang="en-US" sz="1300" dirty="0">
                <a:solidFill>
                  <a:schemeClr val="bg2"/>
                </a:solidFill>
              </a:rPr>
              <a:t>What was true before the buy: recent rise, market turbulence, time of day, research done, size against your usual buy.</a:t>
            </a:r>
            <a:endParaRPr lang="en-US" sz="1300" dirty="0"/>
          </a:p>
        </p:txBody>
      </p:sp>
      <p:sp>
        <p:nvSpPr>
          <p:cNvPr id="14" name="card"/>
          <p:cNvSpPr/>
          <p:nvPr/>
        </p:nvSpPr>
        <p:spPr>
          <a:xfrm>
            <a:off x="5065776" y="1691640"/>
            <a:ext cx="2075688" cy="2880360"/>
          </a:xfrm>
          <a:prstGeom prst="roundRect">
            <a:avLst>
              <a:gd name="adj" fmla="val 5286"/>
            </a:avLst>
          </a:prstGeom>
          <a:solidFill>
            <a:schemeClr val="tx2"/>
          </a:solidFill>
          <a:ln w="12700">
            <a:solidFill>
              <a:schemeClr val="accent5"/>
            </a:solidFill>
            <a:prstDash val="solid"/>
          </a:ln>
          <a:effectLst>
            <a:outerShdw sx="100000" sy="100000" kx="0" ky="0" algn="bl" rotWithShape="0" blurRad="152400" dist="50800" dir="5400000">
              <a:srgbClr val="000000">
                <a:alpha val="45000"/>
              </a:srgbClr>
            </a:outerShdw>
          </a:effectLst>
        </p:spPr>
      </p:sp>
      <p:sp>
        <p:nvSpPr>
          <p:cNvPr id="15" name="step"/>
          <p:cNvSpPr/>
          <p:nvPr/>
        </p:nvSpPr>
        <p:spPr>
          <a:xfrm>
            <a:off x="5266944" y="1920240"/>
            <a:ext cx="457200" cy="457200"/>
          </a:xfrm>
          <a:prstGeom prst="ellipse">
            <a:avLst/>
          </a:prstGeom>
          <a:solidFill>
            <a:schemeClr val="accent1"/>
          </a:solidFill>
          <a:ln/>
        </p:spPr>
      </p:sp>
      <p:sp>
        <p:nvSpPr>
          <p:cNvPr id="16" name="Text 14"/>
          <p:cNvSpPr txBox="1"/>
          <p:nvPr/>
        </p:nvSpPr>
        <p:spPr>
          <a:xfrm>
            <a:off x="5266944" y="192024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7" name="Text 15"/>
          <p:cNvSpPr txBox="1"/>
          <p:nvPr/>
        </p:nvSpPr>
        <p:spPr>
          <a:xfrm>
            <a:off x="5266944" y="2514600"/>
            <a:ext cx="1709928" cy="365760"/>
          </a:xfrm>
          <a:prstGeom prst="rect">
            <a:avLst/>
          </a:prstGeom>
          <a:noFill/>
          <a:ln/>
        </p:spPr>
        <p:txBody>
          <a:bodyPr wrap="square" lIns="0" tIns="0" rIns="0" bIns="0" rtlCol="0" anchor="t"/>
          <a:lstStyle/>
          <a:p>
            <a:pPr indent="0" marL="0">
              <a:buNone/>
            </a:pPr>
            <a:r>
              <a:rPr lang="en-US" sz="1800" b="1" dirty="0">
                <a:solidFill>
                  <a:schemeClr val="bg1"/>
                </a:solidFill>
              </a:rPr>
              <a:t>Bias tests</a:t>
            </a:r>
            <a:endParaRPr lang="en-US" sz="1800" dirty="0"/>
          </a:p>
        </p:txBody>
      </p:sp>
      <p:sp>
        <p:nvSpPr>
          <p:cNvPr id="18" name="Text 16"/>
          <p:cNvSpPr txBox="1"/>
          <p:nvPr/>
        </p:nvSpPr>
        <p:spPr>
          <a:xfrm>
            <a:off x="5266944" y="2926080"/>
            <a:ext cx="1709928" cy="1554480"/>
          </a:xfrm>
          <a:prstGeom prst="rect">
            <a:avLst/>
          </a:prstGeom>
          <a:noFill/>
          <a:ln/>
        </p:spPr>
        <p:txBody>
          <a:bodyPr wrap="square" lIns="0" tIns="0" rIns="0" bIns="0" rtlCol="0" anchor="t"/>
          <a:lstStyle/>
          <a:p>
            <a:pPr indent="0" marL="0">
              <a:buNone/>
            </a:pPr>
            <a:r>
              <a:rPr lang="en-US" sz="1300" dirty="0">
                <a:solidFill>
                  <a:schemeClr val="bg2"/>
                </a:solidFill>
              </a:rPr>
              <a:t>Eleven questions. A calendar-shift test asks: could chance alone produce this pattern?</a:t>
            </a:r>
            <a:endParaRPr lang="en-US" sz="1300" dirty="0"/>
          </a:p>
        </p:txBody>
      </p:sp>
      <p:sp>
        <p:nvSpPr>
          <p:cNvPr id="19" name="card"/>
          <p:cNvSpPr/>
          <p:nvPr/>
        </p:nvSpPr>
        <p:spPr>
          <a:xfrm>
            <a:off x="7324344" y="1691640"/>
            <a:ext cx="2075688" cy="2880360"/>
          </a:xfrm>
          <a:prstGeom prst="roundRect">
            <a:avLst>
              <a:gd name="adj" fmla="val 5286"/>
            </a:avLst>
          </a:prstGeom>
          <a:solidFill>
            <a:schemeClr val="tx2"/>
          </a:solidFill>
          <a:ln w="12700">
            <a:solidFill>
              <a:schemeClr val="accent5"/>
            </a:solidFill>
            <a:prstDash val="solid"/>
          </a:ln>
          <a:effectLst>
            <a:outerShdw sx="100000" sy="100000" kx="0" ky="0" algn="bl" rotWithShape="0" blurRad="152400" dist="50800" dir="5400000">
              <a:srgbClr val="000000">
                <a:alpha val="45000"/>
              </a:srgbClr>
            </a:outerShdw>
          </a:effectLst>
        </p:spPr>
      </p:sp>
      <p:sp>
        <p:nvSpPr>
          <p:cNvPr id="20" name="step"/>
          <p:cNvSpPr/>
          <p:nvPr/>
        </p:nvSpPr>
        <p:spPr>
          <a:xfrm>
            <a:off x="7525512" y="1920240"/>
            <a:ext cx="457200" cy="457200"/>
          </a:xfrm>
          <a:prstGeom prst="ellipse">
            <a:avLst/>
          </a:prstGeom>
          <a:solidFill>
            <a:schemeClr val="accent1"/>
          </a:solidFill>
          <a:ln/>
        </p:spPr>
      </p:sp>
      <p:sp>
        <p:nvSpPr>
          <p:cNvPr id="21" name="Text 19"/>
          <p:cNvSpPr txBox="1"/>
          <p:nvPr/>
        </p:nvSpPr>
        <p:spPr>
          <a:xfrm>
            <a:off x="7525512" y="192024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22" name="Text 20"/>
          <p:cNvSpPr txBox="1"/>
          <p:nvPr/>
        </p:nvSpPr>
        <p:spPr>
          <a:xfrm>
            <a:off x="7525512" y="2514600"/>
            <a:ext cx="1709928" cy="365760"/>
          </a:xfrm>
          <a:prstGeom prst="rect">
            <a:avLst/>
          </a:prstGeom>
          <a:noFill/>
          <a:ln/>
        </p:spPr>
        <p:txBody>
          <a:bodyPr wrap="square" lIns="0" tIns="0" rIns="0" bIns="0" rtlCol="0" anchor="t"/>
          <a:lstStyle/>
          <a:p>
            <a:pPr indent="0" marL="0">
              <a:buNone/>
            </a:pPr>
            <a:r>
              <a:rPr lang="en-US" sz="1800" b="1" dirty="0">
                <a:solidFill>
                  <a:schemeClr val="bg1"/>
                </a:solidFill>
              </a:rPr>
              <a:t>Rules</a:t>
            </a:r>
            <a:endParaRPr lang="en-US" sz="1800" dirty="0"/>
          </a:p>
        </p:txBody>
      </p:sp>
      <p:sp>
        <p:nvSpPr>
          <p:cNvPr id="23" name="Text 21"/>
          <p:cNvSpPr txBox="1"/>
          <p:nvPr/>
        </p:nvSpPr>
        <p:spPr>
          <a:xfrm>
            <a:off x="7525512" y="2926080"/>
            <a:ext cx="1709928" cy="1554480"/>
          </a:xfrm>
          <a:prstGeom prst="rect">
            <a:avLst/>
          </a:prstGeom>
          <a:noFill/>
          <a:ln/>
        </p:spPr>
        <p:txBody>
          <a:bodyPr wrap="square" lIns="0" tIns="0" rIns="0" bIns="0" rtlCol="0" anchor="t"/>
          <a:lstStyle/>
          <a:p>
            <a:pPr indent="0" marL="0">
              <a:buNone/>
            </a:pPr>
            <a:r>
              <a:rPr lang="en-US" sz="1300" dirty="0">
                <a:solidFill>
                  <a:schemeClr val="bg2"/>
                </a:solidFill>
              </a:rPr>
              <a:t>Each bias becomes a concrete rule with a setting, fitted only on outcomes known at the time.</a:t>
            </a:r>
            <a:endParaRPr lang="en-US" sz="1300" dirty="0"/>
          </a:p>
        </p:txBody>
      </p:sp>
      <p:sp>
        <p:nvSpPr>
          <p:cNvPr id="24" name="card"/>
          <p:cNvSpPr/>
          <p:nvPr/>
        </p:nvSpPr>
        <p:spPr>
          <a:xfrm>
            <a:off x="9582912" y="1691640"/>
            <a:ext cx="2075688" cy="2880360"/>
          </a:xfrm>
          <a:prstGeom prst="roundRect">
            <a:avLst>
              <a:gd name="adj" fmla="val 5286"/>
            </a:avLst>
          </a:prstGeom>
          <a:solidFill>
            <a:schemeClr val="tx2"/>
          </a:solidFill>
          <a:ln w="12700">
            <a:solidFill>
              <a:schemeClr val="accent1"/>
            </a:solidFill>
            <a:prstDash val="solid"/>
          </a:ln>
          <a:effectLst>
            <a:outerShdw sx="100000" sy="100000" kx="0" ky="0" algn="bl" rotWithShape="0" blurRad="152400" dist="50800" dir="5400000">
              <a:srgbClr val="000000">
                <a:alpha val="45000"/>
              </a:srgbClr>
            </a:outerShdw>
          </a:effectLst>
        </p:spPr>
      </p:sp>
      <p:sp>
        <p:nvSpPr>
          <p:cNvPr id="25" name="step"/>
          <p:cNvSpPr/>
          <p:nvPr/>
        </p:nvSpPr>
        <p:spPr>
          <a:xfrm>
            <a:off x="9784080" y="1920240"/>
            <a:ext cx="457200" cy="457200"/>
          </a:xfrm>
          <a:prstGeom prst="ellipse">
            <a:avLst/>
          </a:prstGeom>
          <a:solidFill>
            <a:schemeClr val="accent1"/>
          </a:solidFill>
          <a:ln/>
        </p:spPr>
      </p:sp>
      <p:sp>
        <p:nvSpPr>
          <p:cNvPr id="26" name="Text 24"/>
          <p:cNvSpPr txBox="1"/>
          <p:nvPr/>
        </p:nvSpPr>
        <p:spPr>
          <a:xfrm>
            <a:off x="9784080" y="192024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27" name="Text 25"/>
          <p:cNvSpPr txBox="1"/>
          <p:nvPr/>
        </p:nvSpPr>
        <p:spPr>
          <a:xfrm>
            <a:off x="9784080" y="2514600"/>
            <a:ext cx="1709928" cy="365760"/>
          </a:xfrm>
          <a:prstGeom prst="rect">
            <a:avLst/>
          </a:prstGeom>
          <a:noFill/>
          <a:ln/>
        </p:spPr>
        <p:txBody>
          <a:bodyPr wrap="square" lIns="0" tIns="0" rIns="0" bIns="0" rtlCol="0" anchor="t"/>
          <a:lstStyle/>
          <a:p>
            <a:pPr indent="0" marL="0">
              <a:buNone/>
            </a:pPr>
            <a:r>
              <a:rPr lang="en-US" sz="1800" b="1" dirty="0">
                <a:solidFill>
                  <a:schemeClr val="bg1"/>
                </a:solidFill>
              </a:rPr>
              <a:t>Verdict</a:t>
            </a:r>
            <a:endParaRPr lang="en-US" sz="1800" dirty="0"/>
          </a:p>
        </p:txBody>
      </p:sp>
      <p:sp>
        <p:nvSpPr>
          <p:cNvPr id="28" name="Text 26"/>
          <p:cNvSpPr txBox="1"/>
          <p:nvPr/>
        </p:nvSpPr>
        <p:spPr>
          <a:xfrm>
            <a:off x="9784080" y="2926080"/>
            <a:ext cx="1709928" cy="1554480"/>
          </a:xfrm>
          <a:prstGeom prst="rect">
            <a:avLst/>
          </a:prstGeom>
          <a:noFill/>
          <a:ln/>
        </p:spPr>
        <p:txBody>
          <a:bodyPr wrap="square" lIns="0" tIns="0" rIns="0" bIns="0" rtlCol="0" anchor="t"/>
          <a:lstStyle/>
          <a:p>
            <a:pPr indent="0" marL="0">
              <a:buNone/>
            </a:pPr>
            <a:r>
              <a:rPr lang="en-US" sz="1300" dirty="0">
                <a:solidFill>
                  <a:schemeClr val="bg2"/>
                </a:solidFill>
              </a:rPr>
              <a:t>Supported, indicative, unclear or untested, with the range shown to the user.</a:t>
            </a:r>
            <a:endParaRPr lang="en-US" sz="1300" dirty="0"/>
          </a:p>
        </p:txBody>
      </p:sp>
      <p:sp>
        <p:nvSpPr>
          <p:cNvPr id="29" name="card"/>
          <p:cNvSpPr/>
          <p:nvPr/>
        </p:nvSpPr>
        <p:spPr>
          <a:xfrm>
            <a:off x="548640" y="4892040"/>
            <a:ext cx="3520440" cy="1051560"/>
          </a:xfrm>
          <a:prstGeom prst="roundRect">
            <a:avLst>
              <a:gd name="adj" fmla="val 10435"/>
            </a:avLst>
          </a:prstGeom>
          <a:solidFill>
            <a:srgbClr val="1B2A26"/>
          </a:solidFill>
          <a:ln w="12700">
            <a:solidFill>
              <a:schemeClr val="accent1"/>
            </a:solidFill>
            <a:prstDash val="solid"/>
          </a:ln>
        </p:spPr>
      </p:sp>
      <p:sp>
        <p:nvSpPr>
          <p:cNvPr id="30" name="icon circle"/>
          <p:cNvSpPr/>
          <p:nvPr/>
        </p:nvSpPr>
        <p:spPr>
          <a:xfrm>
            <a:off x="731520" y="5029200"/>
            <a:ext cx="502920" cy="502920"/>
          </a:xfrm>
          <a:prstGeom prst="ellipse">
            <a:avLst/>
          </a:prstGeom>
          <a:solidFill>
            <a:schemeClr val="accent5"/>
          </a:solidFill>
          <a:ln/>
        </p:spPr>
      </p:sp>
      <p:pic>
        <p:nvPicPr>
          <p:cNvPr id="31" name="LuMousePointerClick" descr="LuMousePointerClick">    </p:cNvPr>
          <p:cNvPicPr>
            <a:picLocks noChangeAspect="1"/>
          </p:cNvPicPr>
          <p:nvPr/>
        </p:nvPicPr>
        <p:blipFill>
          <a:blip r:embed="rId1"/>
          <a:stretch>
            <a:fillRect/>
          </a:stretch>
        </p:blipFill>
        <p:spPr>
          <a:xfrm>
            <a:off x="852221" y="5149901"/>
            <a:ext cx="261518" cy="261518"/>
          </a:xfrm>
          <a:prstGeom prst="rect">
            <a:avLst/>
          </a:prstGeom>
        </p:spPr>
      </p:pic>
      <p:sp>
        <p:nvSpPr>
          <p:cNvPr id="32" name="Text 29"/>
          <p:cNvSpPr txBox="1"/>
          <p:nvPr/>
        </p:nvSpPr>
        <p:spPr>
          <a:xfrm>
            <a:off x="1435608" y="5010912"/>
            <a:ext cx="2496312" cy="822960"/>
          </a:xfrm>
          <a:prstGeom prst="rect">
            <a:avLst/>
          </a:prstGeom>
          <a:noFill/>
          <a:ln/>
        </p:spPr>
        <p:txBody>
          <a:bodyPr wrap="square" lIns="0" tIns="0" rIns="0" bIns="0" rtlCol="0" anchor="t"/>
          <a:lstStyle/>
          <a:p>
            <a:pPr indent="0" marL="0">
              <a:spcAft>
                <a:spcPts val="300"/>
              </a:spcAft>
              <a:buNone/>
            </a:pPr>
            <a:r>
              <a:rPr lang="en-US" sz="1600" b="1" dirty="0">
                <a:solidFill>
                  <a:schemeClr val="bg1"/>
                </a:solidFill>
              </a:rPr>
              <a:t>Adopt</a:t>
            </a:r>
            <a:endParaRPr lang="en-US" sz="1500" dirty="0"/>
          </a:p>
          <a:p>
            <a:pPr indent="0" marL="0">
              <a:spcAft>
                <a:spcPts val="300"/>
              </a:spcAft>
              <a:buNone/>
            </a:pPr>
            <a:r>
              <a:rPr lang="en-US" sz="1300" dirty="0">
                <a:solidFill>
                  <a:schemeClr val="bg2"/>
                </a:solidFill>
              </a:rPr>
              <a:t>one click by you</a:t>
            </a:r>
            <a:endParaRPr lang="en-US" sz="1500" dirty="0"/>
          </a:p>
        </p:txBody>
      </p:sp>
      <p:sp>
        <p:nvSpPr>
          <p:cNvPr id="33" name="arrow"/>
          <p:cNvSpPr/>
          <p:nvPr/>
        </p:nvSpPr>
        <p:spPr>
          <a:xfrm>
            <a:off x="4096512" y="5321808"/>
            <a:ext cx="182880" cy="201168"/>
          </a:xfrm>
          <a:prstGeom prst="rightArrow">
            <a:avLst/>
          </a:prstGeom>
          <a:solidFill>
            <a:schemeClr val="accent1"/>
          </a:solidFill>
          <a:ln/>
        </p:spPr>
      </p:sp>
      <p:sp>
        <p:nvSpPr>
          <p:cNvPr id="34" name="card"/>
          <p:cNvSpPr/>
          <p:nvPr/>
        </p:nvSpPr>
        <p:spPr>
          <a:xfrm>
            <a:off x="4297680" y="4892040"/>
            <a:ext cx="3520440" cy="1051560"/>
          </a:xfrm>
          <a:prstGeom prst="roundRect">
            <a:avLst>
              <a:gd name="adj" fmla="val 10435"/>
            </a:avLst>
          </a:prstGeom>
          <a:solidFill>
            <a:srgbClr val="1B2A26"/>
          </a:solidFill>
          <a:ln w="12700">
            <a:solidFill>
              <a:schemeClr val="accent1"/>
            </a:solidFill>
            <a:prstDash val="solid"/>
          </a:ln>
        </p:spPr>
      </p:sp>
      <p:sp>
        <p:nvSpPr>
          <p:cNvPr id="35" name="icon circle"/>
          <p:cNvSpPr/>
          <p:nvPr/>
        </p:nvSpPr>
        <p:spPr>
          <a:xfrm>
            <a:off x="4480560" y="5029200"/>
            <a:ext cx="502920" cy="502920"/>
          </a:xfrm>
          <a:prstGeom prst="ellipse">
            <a:avLst/>
          </a:prstGeom>
          <a:solidFill>
            <a:schemeClr val="accent5"/>
          </a:solidFill>
          <a:ln/>
        </p:spPr>
      </p:sp>
      <p:pic>
        <p:nvPicPr>
          <p:cNvPr id="36" name="LuRepeat" descr="LuRepeat">    </p:cNvPr>
          <p:cNvPicPr>
            <a:picLocks noChangeAspect="1"/>
          </p:cNvPicPr>
          <p:nvPr/>
        </p:nvPicPr>
        <p:blipFill>
          <a:blip r:embed="rId2"/>
          <a:stretch>
            <a:fillRect/>
          </a:stretch>
        </p:blipFill>
        <p:spPr>
          <a:xfrm>
            <a:off x="4601261" y="5149901"/>
            <a:ext cx="261518" cy="261518"/>
          </a:xfrm>
          <a:prstGeom prst="rect">
            <a:avLst/>
          </a:prstGeom>
        </p:spPr>
      </p:pic>
      <p:sp>
        <p:nvSpPr>
          <p:cNvPr id="37" name="Text 33"/>
          <p:cNvSpPr txBox="1"/>
          <p:nvPr/>
        </p:nvSpPr>
        <p:spPr>
          <a:xfrm>
            <a:off x="5184648" y="5010912"/>
            <a:ext cx="2496312" cy="822960"/>
          </a:xfrm>
          <a:prstGeom prst="rect">
            <a:avLst/>
          </a:prstGeom>
          <a:noFill/>
          <a:ln/>
        </p:spPr>
        <p:txBody>
          <a:bodyPr wrap="square" lIns="0" tIns="0" rIns="0" bIns="0" rtlCol="0" anchor="t"/>
          <a:lstStyle/>
          <a:p>
            <a:pPr indent="0" marL="0">
              <a:spcAft>
                <a:spcPts val="300"/>
              </a:spcAft>
              <a:buNone/>
            </a:pPr>
            <a:r>
              <a:rPr lang="en-US" sz="1600" b="1" dirty="0">
                <a:solidFill>
                  <a:schemeClr val="bg1"/>
                </a:solidFill>
              </a:rPr>
              <a:t>Adherence</a:t>
            </a:r>
            <a:endParaRPr lang="en-US" sz="1500" dirty="0"/>
          </a:p>
          <a:p>
            <a:pPr indent="0" marL="0">
              <a:spcAft>
                <a:spcPts val="300"/>
              </a:spcAft>
              <a:buNone/>
            </a:pPr>
            <a:r>
              <a:rPr lang="en-US" sz="1300" dirty="0">
                <a:solidFill>
                  <a:schemeClr val="bg2"/>
                </a:solidFill>
              </a:rPr>
              <a:t>kept vs broken, results of each</a:t>
            </a:r>
            <a:endParaRPr lang="en-US" sz="1500" dirty="0"/>
          </a:p>
        </p:txBody>
      </p:sp>
      <p:sp>
        <p:nvSpPr>
          <p:cNvPr id="38" name="arrow"/>
          <p:cNvSpPr/>
          <p:nvPr/>
        </p:nvSpPr>
        <p:spPr>
          <a:xfrm>
            <a:off x="7845552" y="5321808"/>
            <a:ext cx="182880" cy="201168"/>
          </a:xfrm>
          <a:prstGeom prst="rightArrow">
            <a:avLst/>
          </a:prstGeom>
          <a:solidFill>
            <a:schemeClr val="accent1"/>
          </a:solidFill>
          <a:ln/>
        </p:spPr>
      </p:sp>
      <p:sp>
        <p:nvSpPr>
          <p:cNvPr id="39" name="card"/>
          <p:cNvSpPr/>
          <p:nvPr/>
        </p:nvSpPr>
        <p:spPr>
          <a:xfrm>
            <a:off x="8046720" y="4892040"/>
            <a:ext cx="3520440" cy="1051560"/>
          </a:xfrm>
          <a:prstGeom prst="roundRect">
            <a:avLst>
              <a:gd name="adj" fmla="val 10435"/>
            </a:avLst>
          </a:prstGeom>
          <a:solidFill>
            <a:srgbClr val="1B2A26"/>
          </a:solidFill>
          <a:ln w="12700">
            <a:solidFill>
              <a:schemeClr val="accent1"/>
            </a:solidFill>
            <a:prstDash val="solid"/>
          </a:ln>
        </p:spPr>
      </p:sp>
      <p:sp>
        <p:nvSpPr>
          <p:cNvPr id="40" name="icon circle"/>
          <p:cNvSpPr/>
          <p:nvPr/>
        </p:nvSpPr>
        <p:spPr>
          <a:xfrm>
            <a:off x="8229600" y="5029200"/>
            <a:ext cx="502920" cy="502920"/>
          </a:xfrm>
          <a:prstGeom prst="ellipse">
            <a:avLst/>
          </a:prstGeom>
          <a:solidFill>
            <a:schemeClr val="accent5"/>
          </a:solidFill>
          <a:ln/>
        </p:spPr>
      </p:sp>
      <p:pic>
        <p:nvPicPr>
          <p:cNvPr id="41" name="LuShieldCheck" descr="LuShieldCheck">    </p:cNvPr>
          <p:cNvPicPr>
            <a:picLocks noChangeAspect="1"/>
          </p:cNvPicPr>
          <p:nvPr/>
        </p:nvPicPr>
        <p:blipFill>
          <a:blip r:embed="rId3"/>
          <a:stretch>
            <a:fillRect/>
          </a:stretch>
        </p:blipFill>
        <p:spPr>
          <a:xfrm>
            <a:off x="8350301" y="5149901"/>
            <a:ext cx="261518" cy="261518"/>
          </a:xfrm>
          <a:prstGeom prst="rect">
            <a:avLst/>
          </a:prstGeom>
        </p:spPr>
      </p:pic>
      <p:sp>
        <p:nvSpPr>
          <p:cNvPr id="42" name="Text 37"/>
          <p:cNvSpPr txBox="1"/>
          <p:nvPr/>
        </p:nvSpPr>
        <p:spPr>
          <a:xfrm>
            <a:off x="8933688" y="5010912"/>
            <a:ext cx="2496312" cy="822960"/>
          </a:xfrm>
          <a:prstGeom prst="rect">
            <a:avLst/>
          </a:prstGeom>
          <a:noFill/>
          <a:ln/>
        </p:spPr>
        <p:txBody>
          <a:bodyPr wrap="square" lIns="0" tIns="0" rIns="0" bIns="0" rtlCol="0" anchor="t"/>
          <a:lstStyle/>
          <a:p>
            <a:pPr indent="0" marL="0">
              <a:spcAft>
                <a:spcPts val="300"/>
              </a:spcAft>
              <a:buNone/>
            </a:pPr>
            <a:r>
              <a:rPr lang="en-US" sz="1600" b="1" dirty="0">
                <a:solidFill>
                  <a:schemeClr val="bg1"/>
                </a:solidFill>
              </a:rPr>
              <a:t>Pre-trade check</a:t>
            </a:r>
            <a:endParaRPr lang="en-US" sz="1500" dirty="0"/>
          </a:p>
          <a:p>
            <a:pPr indent="0" marL="0">
              <a:spcAft>
                <a:spcPts val="300"/>
              </a:spcAft>
              <a:buNone/>
            </a:pPr>
            <a:r>
              <a:rPr lang="en-US" sz="1300" dirty="0">
                <a:solidFill>
                  <a:schemeClr val="bg2"/>
                </a:solidFill>
              </a:rPr>
              <a:t>your next buy against your rules</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algn="l" indent="0" marL="0">
              <a:buNone/>
            </a:pPr>
            <a:r>
              <a:rPr lang="en-US" sz="1200" b="1" spc="200" kern="0" dirty="0">
                <a:solidFill>
                  <a:schemeClr val="accent1"/>
                </a:solidFill>
              </a:rPr>
              <a:t>03 · CORE ALGORITHMS · VALIDATION</a:t>
            </a:r>
            <a:endParaRPr lang="en-US" sz="1200" dirty="0"/>
          </a:p>
        </p:txBody>
      </p:sp>
      <p:sp>
        <p:nvSpPr>
          <p:cNvPr id="3" name="Text 1"/>
          <p:cNvSpPr/>
          <p:nvPr>
            <p:ph idx="102" type="title" hasCustomPrompt="1"/>
          </p:nvPr>
        </p:nvSpPr>
        <p:spPr>
          <a:xfrm>
            <a:off x="548640" y="640080"/>
            <a:ext cx="11064240" cy="73152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A rule must work on trades it has never seen</a:t>
            </a:r>
            <a:endParaRPr lang="en-US" sz="3000" dirty="0"/>
          </a:p>
        </p:txBody>
      </p:sp>
      <p:pic>
        <p:nvPicPr>
          <p:cNvPr id="4" name="Walk-forward validation diagram" descr="Walk-forward validation: fit on known outcomes, embargo, apply to unseen block">    </p:cNvPr>
          <p:cNvPicPr>
            <a:picLocks noChangeAspect="1"/>
          </p:cNvPicPr>
          <p:nvPr/>
        </p:nvPicPr>
        <p:blipFill>
          <a:blip r:embed="rId1"/>
          <a:stretch>
            <a:fillRect/>
          </a:stretch>
        </p:blipFill>
        <p:spPr>
          <a:xfrm>
            <a:off x="548640" y="1600200"/>
            <a:ext cx="6949440" cy="2439253"/>
          </a:xfrm>
          <a:prstGeom prst="rect">
            <a:avLst/>
          </a:prstGeom>
        </p:spPr>
      </p:pic>
      <p:sp>
        <p:nvSpPr>
          <p:cNvPr id="5" name="Text 2"/>
          <p:cNvSpPr txBox="1"/>
          <p:nvPr/>
        </p:nvSpPr>
        <p:spPr>
          <a:xfrm>
            <a:off x="548640" y="4206240"/>
            <a:ext cx="6949440" cy="914400"/>
          </a:xfrm>
          <a:prstGeom prst="rect">
            <a:avLst/>
          </a:prstGeom>
          <a:noFill/>
          <a:ln/>
        </p:spPr>
        <p:txBody>
          <a:bodyPr wrap="square" lIns="0" tIns="0" rIns="0" bIns="0" rtlCol="0" anchor="t"/>
          <a:lstStyle/>
          <a:p>
            <a:pPr indent="0" marL="0">
              <a:buNone/>
            </a:pPr>
            <a:r>
              <a:rPr lang="en-US" sz="1400" b="1" dirty="0">
                <a:solidFill>
                  <a:schemeClr val="bg1"/>
                </a:solidFill>
              </a:rPr>
              <a:t>Walk-forward with an embargo. </a:t>
            </a:r>
            <a:pPr indent="0" marL="0">
              <a:buNone/>
            </a:pPr>
            <a:r>
              <a:rPr lang="en-US" sz="1400" dirty="0">
                <a:solidFill>
                  <a:schemeClr val="bg2"/>
                </a:solidFill>
              </a:rPr>
              <a:t>The rule is fitted on the past, applied to the next block, and the window moves on. Trades whose outcome was still unknown are held back, so the future never leaks into the fit.</a:t>
            </a:r>
            <a:endParaRPr lang="en-US" sz="1400" dirty="0"/>
          </a:p>
        </p:txBody>
      </p:sp>
      <p:sp>
        <p:nvSpPr>
          <p:cNvPr id="6" name="Text 3"/>
          <p:cNvSpPr txBox="1"/>
          <p:nvPr/>
        </p:nvSpPr>
        <p:spPr>
          <a:xfrm>
            <a:off x="548640" y="5120640"/>
            <a:ext cx="6949440" cy="914400"/>
          </a:xfrm>
          <a:prstGeom prst="rect">
            <a:avLst/>
          </a:prstGeom>
          <a:noFill/>
          <a:ln/>
        </p:spPr>
        <p:txBody>
          <a:bodyPr wrap="square" lIns="0" tIns="0" rIns="0" bIns="0" rtlCol="0" anchor="t"/>
          <a:lstStyle/>
          <a:p>
            <a:pPr indent="0" marL="0">
              <a:buNone/>
            </a:pPr>
            <a:r>
              <a:rPr lang="en-US" sz="1400" b="1" dirty="0">
                <a:solidFill>
                  <a:schemeClr val="bg1"/>
                </a:solidFill>
              </a:rPr>
              <a:t>Shift test against chance. </a:t>
            </a:r>
            <a:pPr indent="0" marL="0">
              <a:buNone/>
            </a:pPr>
            <a:r>
              <a:rPr lang="en-US" sz="1400" dirty="0">
                <a:solidFill>
                  <a:schemeClr val="bg2"/>
                </a:solidFill>
              </a:rPr>
              <a:t>Your buying pattern is slid along the calendar to see what luck alone would produce, keeping calm and turbulent market stretches intact.</a:t>
            </a:r>
            <a:endParaRPr lang="en-US" sz="1400" dirty="0"/>
          </a:p>
        </p:txBody>
      </p:sp>
      <p:sp>
        <p:nvSpPr>
          <p:cNvPr id="7" name="card"/>
          <p:cNvSpPr/>
          <p:nvPr/>
        </p:nvSpPr>
        <p:spPr>
          <a:xfrm>
            <a:off x="7909560" y="1600200"/>
            <a:ext cx="3749040" cy="1371600"/>
          </a:xfrm>
          <a:prstGeom prst="roundRect">
            <a:avLst>
              <a:gd name="adj" fmla="val 8000"/>
            </a:avLst>
          </a:prstGeom>
          <a:solidFill>
            <a:schemeClr val="tx2"/>
          </a:solidFill>
          <a:ln w="12700">
            <a:solidFill>
              <a:schemeClr val="accent5"/>
            </a:solidFill>
            <a:prstDash val="solid"/>
          </a:ln>
          <a:effectLst>
            <a:outerShdw sx="100000" sy="100000" kx="0" ky="0" algn="bl" rotWithShape="0" blurRad="152400" dist="50800" dir="5400000">
              <a:srgbClr val="000000">
                <a:alpha val="45000"/>
              </a:srgbClr>
            </a:outerShdw>
          </a:effectLst>
        </p:spPr>
      </p:sp>
      <p:sp>
        <p:nvSpPr>
          <p:cNvPr id="8" name="Text 5"/>
          <p:cNvSpPr txBox="1"/>
          <p:nvPr/>
        </p:nvSpPr>
        <p:spPr>
          <a:xfrm>
            <a:off x="8138160" y="1737360"/>
            <a:ext cx="3383280" cy="685800"/>
          </a:xfrm>
          <a:prstGeom prst="rect">
            <a:avLst/>
          </a:prstGeom>
          <a:noFill/>
          <a:ln/>
        </p:spPr>
        <p:txBody>
          <a:bodyPr wrap="square" lIns="0" tIns="0" rIns="0" bIns="0" rtlCol="0" anchor="t"/>
          <a:lstStyle/>
          <a:p>
            <a:pPr indent="0" marL="0">
              <a:buNone/>
            </a:pPr>
            <a:r>
              <a:rPr lang="en-US" sz="3800" b="1" dirty="0">
                <a:solidFill>
                  <a:schemeClr val="accent1"/>
                </a:solidFill>
                <a:latin typeface="Arial" pitchFamily="34" charset="0"/>
                <a:ea typeface="Arial" pitchFamily="34" charset="-122"/>
                <a:cs typeface="Arial" pitchFamily="34" charset="-120"/>
              </a:rPr>
              <a:t>0 of 216</a:t>
            </a:r>
            <a:endParaRPr lang="en-US" sz="3800" dirty="0"/>
          </a:p>
        </p:txBody>
      </p:sp>
      <p:sp>
        <p:nvSpPr>
          <p:cNvPr id="9" name="Text 6"/>
          <p:cNvSpPr txBox="1"/>
          <p:nvPr/>
        </p:nvSpPr>
        <p:spPr>
          <a:xfrm>
            <a:off x="8138160" y="2423160"/>
            <a:ext cx="3383280" cy="502920"/>
          </a:xfrm>
          <a:prstGeom prst="rect">
            <a:avLst/>
          </a:prstGeom>
          <a:noFill/>
          <a:ln/>
        </p:spPr>
        <p:txBody>
          <a:bodyPr wrap="square" lIns="0" tIns="0" rIns="0" bIns="0" rtlCol="0" anchor="t"/>
          <a:lstStyle/>
          <a:p>
            <a:pPr indent="0" marL="0">
              <a:buNone/>
            </a:pPr>
            <a:r>
              <a:rPr lang="en-US" sz="1250" dirty="0">
                <a:solidFill>
                  <a:schemeClr val="bg2"/>
                </a:solidFill>
              </a:rPr>
              <a:t>rules recommended in simulated markets with no real effect</a:t>
            </a:r>
            <a:endParaRPr lang="en-US" sz="1250" dirty="0"/>
          </a:p>
        </p:txBody>
      </p:sp>
      <p:sp>
        <p:nvSpPr>
          <p:cNvPr id="10" name="card"/>
          <p:cNvSpPr/>
          <p:nvPr/>
        </p:nvSpPr>
        <p:spPr>
          <a:xfrm>
            <a:off x="7909560" y="3136392"/>
            <a:ext cx="3749040" cy="1371600"/>
          </a:xfrm>
          <a:prstGeom prst="roundRect">
            <a:avLst>
              <a:gd name="adj" fmla="val 8000"/>
            </a:avLst>
          </a:prstGeom>
          <a:solidFill>
            <a:schemeClr val="tx2"/>
          </a:solidFill>
          <a:ln w="12700">
            <a:solidFill>
              <a:schemeClr val="accent5"/>
            </a:solidFill>
            <a:prstDash val="solid"/>
          </a:ln>
          <a:effectLst>
            <a:outerShdw sx="100000" sy="100000" kx="0" ky="0" algn="bl" rotWithShape="0" blurRad="152400" dist="50800" dir="5400000">
              <a:srgbClr val="000000">
                <a:alpha val="45000"/>
              </a:srgbClr>
            </a:outerShdw>
          </a:effectLst>
        </p:spPr>
      </p:sp>
      <p:sp>
        <p:nvSpPr>
          <p:cNvPr id="11" name="Text 8"/>
          <p:cNvSpPr txBox="1"/>
          <p:nvPr/>
        </p:nvSpPr>
        <p:spPr>
          <a:xfrm>
            <a:off x="8138160" y="3273552"/>
            <a:ext cx="3383280" cy="685800"/>
          </a:xfrm>
          <a:prstGeom prst="rect">
            <a:avLst/>
          </a:prstGeom>
          <a:noFill/>
          <a:ln/>
        </p:spPr>
        <p:txBody>
          <a:bodyPr wrap="square" lIns="0" tIns="0" rIns="0" bIns="0" rtlCol="0" anchor="t"/>
          <a:lstStyle/>
          <a:p>
            <a:pPr indent="0" marL="0">
              <a:buNone/>
            </a:pPr>
            <a:r>
              <a:rPr lang="en-US" sz="3800" b="1" dirty="0">
                <a:solidFill>
                  <a:schemeClr val="accent3"/>
                </a:solidFill>
                <a:latin typeface="Arial" pitchFamily="34" charset="0"/>
                <a:ea typeface="Arial" pitchFamily="34" charset="-122"/>
                <a:cs typeface="Arial" pitchFamily="34" charset="-120"/>
              </a:rPr>
              <a:t>48 of 50</a:t>
            </a:r>
            <a:endParaRPr lang="en-US" sz="3800" dirty="0"/>
          </a:p>
        </p:txBody>
      </p:sp>
      <p:sp>
        <p:nvSpPr>
          <p:cNvPr id="12" name="Text 9"/>
          <p:cNvSpPr txBox="1"/>
          <p:nvPr/>
        </p:nvSpPr>
        <p:spPr>
          <a:xfrm>
            <a:off x="8138160" y="3959352"/>
            <a:ext cx="3383280" cy="502920"/>
          </a:xfrm>
          <a:prstGeom prst="rect">
            <a:avLst/>
          </a:prstGeom>
          <a:noFill/>
          <a:ln/>
        </p:spPr>
        <p:txBody>
          <a:bodyPr wrap="square" lIns="0" tIns="0" rIns="0" bIns="0" rtlCol="0" anchor="t"/>
          <a:lstStyle/>
          <a:p>
            <a:pPr indent="0" marL="0">
              <a:buNone/>
            </a:pPr>
            <a:r>
              <a:rPr lang="en-US" sz="1250" dirty="0">
                <a:solidFill>
                  <a:schemeClr val="bg2"/>
                </a:solidFill>
              </a:rPr>
              <a:t>planted habits found: 5 investor profiles × 10 random seeds</a:t>
            </a:r>
            <a:endParaRPr lang="en-US" sz="1250" dirty="0"/>
          </a:p>
        </p:txBody>
      </p:sp>
      <p:sp>
        <p:nvSpPr>
          <p:cNvPr id="13" name="card"/>
          <p:cNvSpPr/>
          <p:nvPr/>
        </p:nvSpPr>
        <p:spPr>
          <a:xfrm>
            <a:off x="7909560" y="4672584"/>
            <a:ext cx="3749040" cy="1371600"/>
          </a:xfrm>
          <a:prstGeom prst="roundRect">
            <a:avLst>
              <a:gd name="adj" fmla="val 8000"/>
            </a:avLst>
          </a:prstGeom>
          <a:solidFill>
            <a:schemeClr val="tx2"/>
          </a:solidFill>
          <a:ln w="12700">
            <a:solidFill>
              <a:schemeClr val="accent5"/>
            </a:solidFill>
            <a:prstDash val="solid"/>
          </a:ln>
          <a:effectLst>
            <a:outerShdw sx="100000" sy="100000" kx="0" ky="0" algn="bl" rotWithShape="0" blurRad="152400" dist="50800" dir="5400000">
              <a:srgbClr val="000000">
                <a:alpha val="45000"/>
              </a:srgbClr>
            </a:outerShdw>
          </a:effectLst>
        </p:spPr>
      </p:sp>
      <p:sp>
        <p:nvSpPr>
          <p:cNvPr id="14" name="Text 11"/>
          <p:cNvSpPr txBox="1"/>
          <p:nvPr/>
        </p:nvSpPr>
        <p:spPr>
          <a:xfrm>
            <a:off x="8138160" y="4809744"/>
            <a:ext cx="3383280" cy="685800"/>
          </a:xfrm>
          <a:prstGeom prst="rect">
            <a:avLst/>
          </a:prstGeom>
          <a:noFill/>
          <a:ln/>
        </p:spPr>
        <p:txBody>
          <a:bodyPr wrap="square" lIns="0" tIns="0" rIns="0" bIns="0" rtlCol="0" anchor="t"/>
          <a:lstStyle/>
          <a:p>
            <a:pPr indent="0" marL="0">
              <a:buNone/>
            </a:pPr>
            <a:r>
              <a:rPr lang="en-US" sz="3800" b="1" dirty="0">
                <a:solidFill>
                  <a:schemeClr val="accent2"/>
                </a:solidFill>
                <a:latin typeface="Arial" pitchFamily="34" charset="0"/>
                <a:ea typeface="Arial" pitchFamily="34" charset="-122"/>
                <a:cs typeface="Arial" pitchFamily="34" charset="-120"/>
              </a:rPr>
              <a:t>+16.3 pts</a:t>
            </a:r>
            <a:endParaRPr lang="en-US" sz="3800" dirty="0"/>
          </a:p>
        </p:txBody>
      </p:sp>
      <p:sp>
        <p:nvSpPr>
          <p:cNvPr id="15" name="Text 12"/>
          <p:cNvSpPr txBox="1"/>
          <p:nvPr/>
        </p:nvSpPr>
        <p:spPr>
          <a:xfrm>
            <a:off x="8138160" y="5495544"/>
            <a:ext cx="3383280" cy="502920"/>
          </a:xfrm>
          <a:prstGeom prst="rect">
            <a:avLst/>
          </a:prstGeom>
          <a:noFill/>
          <a:ln/>
        </p:spPr>
        <p:txBody>
          <a:bodyPr wrap="square" lIns="0" tIns="0" rIns="0" bIns="0" rtlCol="0" anchor="t"/>
          <a:lstStyle/>
          <a:p>
            <a:pPr indent="0" marL="0">
              <a:buNone/>
            </a:pPr>
            <a:r>
              <a:rPr lang="en-US" sz="1250" dirty="0">
                <a:solidFill>
                  <a:schemeClr val="bg2"/>
                </a:solidFill>
              </a:rPr>
              <a:t>per flagged buy, out of sample, for “Wait after a run-up”</a:t>
            </a:r>
            <a:endParaRPr lang="en-US" sz="125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822960" y="1828800"/>
            <a:ext cx="2743200" cy="1463040"/>
          </a:xfrm>
          <a:prstGeom prst="rect">
            <a:avLst/>
          </a:prstGeom>
          <a:noFill/>
          <a:ln/>
        </p:spPr>
        <p:txBody>
          <a:bodyPr wrap="square" lIns="0" tIns="0" rIns="0" bIns="0" rtlCol="0" anchor="b"/>
          <a:lstStyle/>
          <a:p>
            <a:pPr algn="l" indent="0" marL="0">
              <a:buNone/>
            </a:pPr>
            <a:r>
              <a:rPr lang="en-US" sz="9600" b="1" dirty="0">
                <a:solidFill>
                  <a:schemeClr val="accent1"/>
                </a:solidFill>
                <a:latin typeface="Arial" pitchFamily="34" charset="0"/>
                <a:ea typeface="Arial" pitchFamily="34" charset="-122"/>
                <a:cs typeface="Arial" pitchFamily="34" charset="-120"/>
              </a:rPr>
              <a:t>04</a:t>
            </a:r>
            <a:endParaRPr lang="en-US" sz="9600" dirty="0"/>
          </a:p>
        </p:txBody>
      </p:sp>
      <p:sp>
        <p:nvSpPr>
          <p:cNvPr id="3" name="Text 0"/>
          <p:cNvSpPr/>
          <p:nvPr>
            <p:ph idx="101" type="title" hasCustomPrompt="1"/>
          </p:nvPr>
        </p:nvSpPr>
        <p:spPr>
          <a:xfrm>
            <a:off x="822960" y="3383280"/>
            <a:ext cx="10515600" cy="914400"/>
          </a:xfrm>
          <a:prstGeom prst="rect">
            <a:avLst/>
          </a:prstGeom>
          <a:noFill/>
          <a:ln/>
        </p:spPr>
        <p:txBody>
          <a:bodyPr wrap="square" lIns="0" tIns="0" rIns="0" bIns="0" rtlCol="0" anchor="t"/>
          <a:lstStyle/>
          <a:p>
            <a:pPr algn="l" indent="0" marL="0">
              <a:buNone/>
            </a:pPr>
            <a:r>
              <a:rPr lang="en-US" sz="4400" b="1" dirty="0">
                <a:solidFill>
                  <a:schemeClr val="bg1"/>
                </a:solidFill>
                <a:latin typeface="Arial" pitchFamily="34" charset="0"/>
                <a:ea typeface="Arial" pitchFamily="34" charset="-122"/>
                <a:cs typeface="Arial" pitchFamily="34" charset="-120"/>
              </a:rPr>
              <a:t>Security design</a:t>
            </a:r>
            <a:endParaRPr lang="en-US" sz="4400" dirty="0"/>
          </a:p>
        </p:txBody>
      </p:sp>
      <p:sp>
        <p:nvSpPr>
          <p:cNvPr id="4" name="Text 0"/>
          <p:cNvSpPr/>
          <p:nvPr>
            <p:ph idx="102" type="body" hasCustomPrompt="1"/>
          </p:nvPr>
        </p:nvSpPr>
        <p:spPr>
          <a:xfrm>
            <a:off x="822960" y="4297680"/>
            <a:ext cx="9144000" cy="731520"/>
          </a:xfrm>
          <a:prstGeom prst="rect">
            <a:avLst/>
          </a:prstGeom>
          <a:noFill/>
          <a:ln/>
        </p:spPr>
        <p:txBody>
          <a:bodyPr wrap="square" lIns="0" tIns="0" rIns="0" bIns="0" rtlCol="0" anchor="t"/>
          <a:lstStyle/>
          <a:p>
            <a:pPr algn="l" indent="0" marL="0">
              <a:buNone/>
            </a:pPr>
            <a:r>
              <a:rPr lang="en-US" sz="2000" dirty="0">
                <a:solidFill>
                  <a:schemeClr val="bg2"/>
                </a:solidFill>
              </a:rPr>
              <a:t>Private by construction, not by promise</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algn="l" indent="0" marL="0">
              <a:buNone/>
            </a:pPr>
            <a:r>
              <a:rPr lang="en-US" sz="1200" b="1" spc="200" kern="0" dirty="0">
                <a:solidFill>
                  <a:schemeClr val="accent1"/>
                </a:solidFill>
              </a:rPr>
              <a:t>04 · SECURITY DESIGN · DATA MINIMISATION</a:t>
            </a:r>
            <a:endParaRPr lang="en-US" sz="1200" dirty="0"/>
          </a:p>
        </p:txBody>
      </p:sp>
      <p:sp>
        <p:nvSpPr>
          <p:cNvPr id="3" name="Text 1"/>
          <p:cNvSpPr/>
          <p:nvPr>
            <p:ph idx="102" type="title" hasCustomPrompt="1"/>
          </p:nvPr>
        </p:nvSpPr>
        <p:spPr>
          <a:xfrm>
            <a:off x="548640" y="640080"/>
            <a:ext cx="11064240" cy="73152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Your trades stay home. Only anonymous facts may leave</a:t>
            </a:r>
            <a:endParaRPr lang="en-US" sz="3000" dirty="0"/>
          </a:p>
        </p:txBody>
      </p:sp>
      <p:sp>
        <p:nvSpPr>
          <p:cNvPr id="4" name="card"/>
          <p:cNvSpPr/>
          <p:nvPr/>
        </p:nvSpPr>
        <p:spPr>
          <a:xfrm>
            <a:off x="548640" y="1691640"/>
            <a:ext cx="5394960" cy="3154680"/>
          </a:xfrm>
          <a:prstGeom prst="roundRect">
            <a:avLst>
              <a:gd name="adj" fmla="val 3478"/>
            </a:avLst>
          </a:prstGeom>
          <a:solidFill>
            <a:schemeClr val="tx2"/>
          </a:solidFill>
          <a:ln w="12700">
            <a:solidFill>
              <a:schemeClr val="accent4"/>
            </a:solidFill>
            <a:prstDash val="solid"/>
          </a:ln>
          <a:effectLst>
            <a:outerShdw sx="100000" sy="100000" kx="0" ky="0" algn="bl" rotWithShape="0" blurRad="152400" dist="50800" dir="5400000">
              <a:srgbClr val="000000">
                <a:alpha val="45000"/>
              </a:srgbClr>
            </a:outerShdw>
          </a:effectLst>
        </p:spPr>
      </p:sp>
      <p:sp>
        <p:nvSpPr>
          <p:cNvPr id="5" name="icon circle"/>
          <p:cNvSpPr/>
          <p:nvPr/>
        </p:nvSpPr>
        <p:spPr>
          <a:xfrm>
            <a:off x="822960" y="1920240"/>
            <a:ext cx="566928" cy="566928"/>
          </a:xfrm>
          <a:prstGeom prst="ellipse">
            <a:avLst/>
          </a:prstGeom>
          <a:solidFill>
            <a:schemeClr val="accent5"/>
          </a:solidFill>
          <a:ln/>
        </p:spPr>
      </p:sp>
      <p:pic>
        <p:nvPicPr>
          <p:cNvPr id="6" name="LuLock" descr="LuLock">    </p:cNvPr>
          <p:cNvPicPr>
            <a:picLocks noChangeAspect="1"/>
          </p:cNvPicPr>
          <p:nvPr/>
        </p:nvPicPr>
        <p:blipFill>
          <a:blip r:embed="rId1"/>
          <a:stretch>
            <a:fillRect/>
          </a:stretch>
        </p:blipFill>
        <p:spPr>
          <a:xfrm>
            <a:off x="959023" y="2056303"/>
            <a:ext cx="294803" cy="294803"/>
          </a:xfrm>
          <a:prstGeom prst="rect">
            <a:avLst/>
          </a:prstGeom>
        </p:spPr>
      </p:pic>
      <p:sp>
        <p:nvSpPr>
          <p:cNvPr id="7" name="Text 4"/>
          <p:cNvSpPr txBox="1"/>
          <p:nvPr/>
        </p:nvSpPr>
        <p:spPr>
          <a:xfrm>
            <a:off x="1554480" y="2011680"/>
            <a:ext cx="4206240" cy="411480"/>
          </a:xfrm>
          <a:prstGeom prst="rect">
            <a:avLst/>
          </a:prstGeom>
          <a:noFill/>
          <a:ln/>
        </p:spPr>
        <p:txBody>
          <a:bodyPr wrap="square" lIns="0" tIns="0" rIns="0" bIns="0" rtlCol="0" anchor="t"/>
          <a:lstStyle/>
          <a:p>
            <a:pPr indent="0" marL="0">
              <a:buNone/>
            </a:pPr>
            <a:r>
              <a:rPr lang="en-US" sz="1900" b="1" dirty="0">
                <a:solidFill>
                  <a:schemeClr val="bg1"/>
                </a:solidFill>
              </a:rPr>
              <a:t>Never leaves your device</a:t>
            </a:r>
            <a:endParaRPr lang="en-US" sz="1900" dirty="0"/>
          </a:p>
        </p:txBody>
      </p:sp>
      <p:sp>
        <p:nvSpPr>
          <p:cNvPr id="8" name="Text 5"/>
          <p:cNvSpPr txBox="1"/>
          <p:nvPr/>
        </p:nvSpPr>
        <p:spPr>
          <a:xfrm>
            <a:off x="868680" y="2697480"/>
            <a:ext cx="4846320" cy="20116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1"/>
                </a:solidFill>
              </a:rPr>
              <a:t>Imported broker files and the trade ledger</a:t>
            </a:r>
            <a:endParaRPr lang="en-US" sz="1600" dirty="0"/>
          </a:p>
          <a:p>
            <a:pPr marL="342900" indent="-342900">
              <a:spcAft>
                <a:spcPts val="800"/>
              </a:spcAft>
              <a:buSzPct val="100000"/>
              <a:buChar char="•"/>
            </a:pPr>
            <a:r>
              <a:rPr lang="en-US" sz="1600" dirty="0">
                <a:solidFill>
                  <a:schemeClr val="bg1"/>
                </a:solidFill>
              </a:rPr>
              <a:t>Amounts, quantities and prices paid</a:t>
            </a:r>
            <a:endParaRPr lang="en-US" sz="1600" dirty="0"/>
          </a:p>
          <a:p>
            <a:pPr marL="342900" indent="-342900">
              <a:spcAft>
                <a:spcPts val="800"/>
              </a:spcAft>
              <a:buSzPct val="100000"/>
              <a:buChar char="•"/>
            </a:pPr>
            <a:r>
              <a:rPr lang="en-US" sz="1600" dirty="0">
                <a:solidFill>
                  <a:schemeClr val="bg1"/>
                </a:solidFill>
              </a:rPr>
              <a:t>ISINs, broker and account details</a:t>
            </a:r>
            <a:endParaRPr lang="en-US" sz="1600" dirty="0"/>
          </a:p>
          <a:p>
            <a:pPr marL="342900" indent="-342900">
              <a:spcAft>
                <a:spcPts val="800"/>
              </a:spcAft>
              <a:buSzPct val="100000"/>
              <a:buChar char="•"/>
            </a:pPr>
            <a:r>
              <a:rPr lang="en-US" sz="1600" dirty="0">
                <a:solidFill>
                  <a:schemeClr val="bg1"/>
                </a:solidFill>
              </a:rPr>
              <a:t>Real stock names (unless you opt in)</a:t>
            </a:r>
            <a:endParaRPr lang="en-US" sz="1600" dirty="0"/>
          </a:p>
          <a:p>
            <a:pPr marL="342900" indent="-342900">
              <a:spcAft>
                <a:spcPts val="800"/>
              </a:spcAft>
              <a:buSzPct val="100000"/>
              <a:buChar char="•"/>
            </a:pPr>
            <a:r>
              <a:rPr lang="en-US" sz="1600" dirty="0">
                <a:solidFill>
                  <a:schemeClr val="bg1"/>
                </a:solidFill>
              </a:rPr>
              <a:t>Your notes, until you preview and approve</a:t>
            </a:r>
            <a:endParaRPr lang="en-US" sz="1600" dirty="0"/>
          </a:p>
        </p:txBody>
      </p:sp>
      <p:sp>
        <p:nvSpPr>
          <p:cNvPr id="9" name="card"/>
          <p:cNvSpPr/>
          <p:nvPr/>
        </p:nvSpPr>
        <p:spPr>
          <a:xfrm>
            <a:off x="6263640" y="1691640"/>
            <a:ext cx="5394960" cy="3154680"/>
          </a:xfrm>
          <a:prstGeom prst="roundRect">
            <a:avLst>
              <a:gd name="adj" fmla="val 3478"/>
            </a:avLst>
          </a:prstGeom>
          <a:solidFill>
            <a:schemeClr val="tx2"/>
          </a:solidFill>
          <a:ln w="12700">
            <a:solidFill>
              <a:schemeClr val="accent1"/>
            </a:solidFill>
            <a:prstDash val="solid"/>
          </a:ln>
          <a:effectLst>
            <a:outerShdw sx="100000" sy="100000" kx="0" ky="0" algn="bl" rotWithShape="0" blurRad="152400" dist="50800" dir="5400000">
              <a:srgbClr val="000000">
                <a:alpha val="45000"/>
              </a:srgbClr>
            </a:outerShdw>
          </a:effectLst>
        </p:spPr>
      </p:sp>
      <p:sp>
        <p:nvSpPr>
          <p:cNvPr id="10" name="icon circle"/>
          <p:cNvSpPr/>
          <p:nvPr/>
        </p:nvSpPr>
        <p:spPr>
          <a:xfrm>
            <a:off x="6537960" y="1920240"/>
            <a:ext cx="566928" cy="566928"/>
          </a:xfrm>
          <a:prstGeom prst="ellipse">
            <a:avLst/>
          </a:prstGeom>
          <a:solidFill>
            <a:schemeClr val="accent5"/>
          </a:solidFill>
          <a:ln/>
        </p:spPr>
      </p:sp>
      <p:pic>
        <p:nvPicPr>
          <p:cNvPr id="11" name="LuEyeOff" descr="LuEyeOff">    </p:cNvPr>
          <p:cNvPicPr>
            <a:picLocks noChangeAspect="1"/>
          </p:cNvPicPr>
          <p:nvPr/>
        </p:nvPicPr>
        <p:blipFill>
          <a:blip r:embed="rId2"/>
          <a:stretch>
            <a:fillRect/>
          </a:stretch>
        </p:blipFill>
        <p:spPr>
          <a:xfrm>
            <a:off x="6674023" y="2056303"/>
            <a:ext cx="294803" cy="294803"/>
          </a:xfrm>
          <a:prstGeom prst="rect">
            <a:avLst/>
          </a:prstGeom>
        </p:spPr>
      </p:pic>
      <p:sp>
        <p:nvSpPr>
          <p:cNvPr id="12" name="Text 8"/>
          <p:cNvSpPr txBox="1"/>
          <p:nvPr/>
        </p:nvSpPr>
        <p:spPr>
          <a:xfrm>
            <a:off x="7269480" y="2011680"/>
            <a:ext cx="4206240" cy="411480"/>
          </a:xfrm>
          <a:prstGeom prst="rect">
            <a:avLst/>
          </a:prstGeom>
          <a:noFill/>
          <a:ln/>
        </p:spPr>
        <p:txBody>
          <a:bodyPr wrap="square" lIns="0" tIns="0" rIns="0" bIns="0" rtlCol="0" anchor="t"/>
          <a:lstStyle/>
          <a:p>
            <a:pPr indent="0" marL="0">
              <a:buNone/>
            </a:pPr>
            <a:r>
              <a:rPr lang="en-US" sz="1900" b="1" dirty="0">
                <a:solidFill>
                  <a:schemeClr val="bg1"/>
                </a:solidFill>
              </a:rPr>
              <a:t>May leave, only with your consent</a:t>
            </a:r>
            <a:endParaRPr lang="en-US" sz="1900" dirty="0"/>
          </a:p>
        </p:txBody>
      </p:sp>
      <p:sp>
        <p:nvSpPr>
          <p:cNvPr id="13" name="Text 9"/>
          <p:cNvSpPr txBox="1"/>
          <p:nvPr/>
        </p:nvSpPr>
        <p:spPr>
          <a:xfrm>
            <a:off x="6583680" y="2697480"/>
            <a:ext cx="4846320" cy="20116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1"/>
                </a:solidFill>
              </a:rPr>
              <a:t>Counts, shares and results as plain facts</a:t>
            </a:r>
            <a:endParaRPr lang="en-US" sz="1600" dirty="0"/>
          </a:p>
          <a:p>
            <a:pPr marL="342900" indent="-342900">
              <a:spcAft>
                <a:spcPts val="800"/>
              </a:spcAft>
              <a:buSzPct val="100000"/>
              <a:buChar char="•"/>
            </a:pPr>
            <a:r>
              <a:rPr lang="en-US" sz="1600" dirty="0">
                <a:solidFill>
                  <a:schemeClr val="bg1"/>
                </a:solidFill>
              </a:rPr>
              <a:t>Aliases: “Stock 3” instead of a ticker</a:t>
            </a:r>
            <a:endParaRPr lang="en-US" sz="1600" dirty="0"/>
          </a:p>
          <a:p>
            <a:pPr marL="342900" indent="-342900">
              <a:spcAft>
                <a:spcPts val="800"/>
              </a:spcAft>
              <a:buSzPct val="100000"/>
              <a:buChar char="•"/>
            </a:pPr>
            <a:r>
              <a:rPr lang="en-US" sz="1600" dirty="0">
                <a:solidFill>
                  <a:schemeClr val="bg1"/>
                </a:solidFill>
              </a:rPr>
              <a:t>Ratios: “2.2× your usual buy”</a:t>
            </a:r>
            <a:endParaRPr lang="en-US" sz="1600" dirty="0"/>
          </a:p>
          <a:p>
            <a:pPr marL="342900" indent="-342900">
              <a:spcAft>
                <a:spcPts val="800"/>
              </a:spcAft>
              <a:buSzPct val="100000"/>
              <a:buChar char="•"/>
            </a:pPr>
            <a:r>
              <a:rPr lang="en-US" sz="1600" dirty="0">
                <a:solidFill>
                  <a:schemeClr val="bg1"/>
                </a:solidFill>
              </a:rPr>
              <a:t>Months instead of exact dates</a:t>
            </a:r>
            <a:endParaRPr lang="en-US" sz="1600" dirty="0"/>
          </a:p>
          <a:p>
            <a:pPr marL="342900" indent="-342900">
              <a:spcAft>
                <a:spcPts val="800"/>
              </a:spcAft>
              <a:buSzPct val="100000"/>
              <a:buChar char="•"/>
            </a:pPr>
            <a:r>
              <a:rPr lang="en-US" sz="1600" dirty="0">
                <a:solidFill>
                  <a:schemeClr val="bg1"/>
                </a:solidFill>
              </a:rPr>
              <a:t>Redacted notes, classified once and cached</a:t>
            </a:r>
            <a:endParaRPr lang="en-US" sz="1600" dirty="0"/>
          </a:p>
        </p:txBody>
      </p:sp>
      <p:sp>
        <p:nvSpPr>
          <p:cNvPr id="14" name="card"/>
          <p:cNvSpPr/>
          <p:nvPr/>
        </p:nvSpPr>
        <p:spPr>
          <a:xfrm>
            <a:off x="548640" y="5120640"/>
            <a:ext cx="11109960" cy="868680"/>
          </a:xfrm>
          <a:prstGeom prst="roundRect">
            <a:avLst>
              <a:gd name="adj" fmla="val 12632"/>
            </a:avLst>
          </a:prstGeom>
          <a:solidFill>
            <a:schemeClr val="tx2"/>
          </a:solidFill>
          <a:ln w="12700">
            <a:solidFill>
              <a:schemeClr val="accent5"/>
            </a:solidFill>
            <a:prstDash val="solid"/>
          </a:ln>
        </p:spPr>
      </p:sp>
      <p:sp>
        <p:nvSpPr>
          <p:cNvPr id="15" name="icon circle"/>
          <p:cNvSpPr/>
          <p:nvPr/>
        </p:nvSpPr>
        <p:spPr>
          <a:xfrm>
            <a:off x="731520" y="5266944"/>
            <a:ext cx="566928" cy="566928"/>
          </a:xfrm>
          <a:prstGeom prst="ellipse">
            <a:avLst/>
          </a:prstGeom>
          <a:solidFill>
            <a:schemeClr val="accent5"/>
          </a:solidFill>
          <a:ln/>
        </p:spPr>
      </p:sp>
      <p:pic>
        <p:nvPicPr>
          <p:cNvPr id="16" name="LuFingerprint" descr="LuFingerprint">    </p:cNvPr>
          <p:cNvPicPr>
            <a:picLocks noChangeAspect="1"/>
          </p:cNvPicPr>
          <p:nvPr/>
        </p:nvPicPr>
        <p:blipFill>
          <a:blip r:embed="rId3"/>
          <a:stretch>
            <a:fillRect/>
          </a:stretch>
        </p:blipFill>
        <p:spPr>
          <a:xfrm>
            <a:off x="867583" y="5403007"/>
            <a:ext cx="294803" cy="294803"/>
          </a:xfrm>
          <a:prstGeom prst="rect">
            <a:avLst/>
          </a:prstGeom>
        </p:spPr>
      </p:pic>
      <p:sp>
        <p:nvSpPr>
          <p:cNvPr id="17" name="Text 12"/>
          <p:cNvSpPr txBox="1"/>
          <p:nvPr/>
        </p:nvSpPr>
        <p:spPr>
          <a:xfrm>
            <a:off x="1463040" y="5193792"/>
            <a:ext cx="10058400" cy="731520"/>
          </a:xfrm>
          <a:prstGeom prst="rect">
            <a:avLst/>
          </a:prstGeom>
          <a:noFill/>
          <a:ln/>
        </p:spPr>
        <p:txBody>
          <a:bodyPr wrap="square" lIns="0" tIns="0" rIns="0" bIns="0" rtlCol="0" anchor="ctr"/>
          <a:lstStyle/>
          <a:p>
            <a:pPr indent="0" marL="0">
              <a:buNone/>
            </a:pPr>
            <a:r>
              <a:rPr lang="en-US" sz="1600" b="1" dirty="0">
                <a:solidFill>
                  <a:schemeClr val="accent3"/>
                </a:solidFill>
              </a:rPr>
              <a:t>Checked twice, tested always:  </a:t>
            </a:r>
            <a:pPr indent="0" marL="0">
              <a:buNone/>
            </a:pPr>
            <a:r>
              <a:rPr lang="en-US" sz="1600" dirty="0">
                <a:solidFill>
                  <a:schemeClr val="bg1"/>
                </a:solidFill>
              </a:rPr>
              <a:t>a privacy filter in the browser, a second check on the server that refuses private data, and a test that scans every request.</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algn="l" indent="0" marL="0">
              <a:buNone/>
            </a:pPr>
            <a:r>
              <a:rPr lang="en-US" sz="1200" b="1" spc="200" kern="0" dirty="0">
                <a:solidFill>
                  <a:schemeClr val="accent1"/>
                </a:solidFill>
              </a:rPr>
              <a:t>04 · SECURITY DESIGN · PERMISSIONS</a:t>
            </a:r>
            <a:endParaRPr lang="en-US" sz="1200" dirty="0"/>
          </a:p>
        </p:txBody>
      </p:sp>
      <p:sp>
        <p:nvSpPr>
          <p:cNvPr id="3" name="Text 1"/>
          <p:cNvSpPr/>
          <p:nvPr>
            <p:ph idx="102" type="title" hasCustomPrompt="1"/>
          </p:nvPr>
        </p:nvSpPr>
        <p:spPr>
          <a:xfrm>
            <a:off x="548640" y="640080"/>
            <a:ext cx="11064240" cy="73152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Three permission tiers, and the agent can never trade</a:t>
            </a:r>
            <a:endParaRPr lang="en-US" sz="3000" dirty="0"/>
          </a:p>
        </p:txBody>
      </p:sp>
      <p:sp>
        <p:nvSpPr>
          <p:cNvPr id="4" name="card"/>
          <p:cNvSpPr/>
          <p:nvPr/>
        </p:nvSpPr>
        <p:spPr>
          <a:xfrm>
            <a:off x="548640" y="1691640"/>
            <a:ext cx="3520440" cy="2331720"/>
          </a:xfrm>
          <a:prstGeom prst="roundRect">
            <a:avLst>
              <a:gd name="adj" fmla="val 4706"/>
            </a:avLst>
          </a:prstGeom>
          <a:solidFill>
            <a:schemeClr val="tx2"/>
          </a:solidFill>
          <a:ln w="12700">
            <a:solidFill>
              <a:schemeClr val="accent1"/>
            </a:solidFill>
            <a:prstDash val="solid"/>
          </a:ln>
          <a:effectLst>
            <a:outerShdw sx="100000" sy="100000" kx="0" ky="0" algn="bl" rotWithShape="0" blurRad="152400" dist="50800" dir="5400000">
              <a:srgbClr val="000000">
                <a:alpha val="45000"/>
              </a:srgbClr>
            </a:outerShdw>
          </a:effectLst>
        </p:spPr>
      </p:sp>
      <p:sp>
        <p:nvSpPr>
          <p:cNvPr id="5" name="Text 3"/>
          <p:cNvSpPr txBox="1"/>
          <p:nvPr/>
        </p:nvSpPr>
        <p:spPr>
          <a:xfrm>
            <a:off x="822960" y="1874520"/>
            <a:ext cx="1280160" cy="731520"/>
          </a:xfrm>
          <a:prstGeom prst="rect">
            <a:avLst/>
          </a:prstGeom>
          <a:noFill/>
          <a:ln/>
        </p:spPr>
        <p:txBody>
          <a:bodyPr wrap="square" lIns="0" tIns="0" rIns="0" bIns="0" rtlCol="0" anchor="t"/>
          <a:lstStyle/>
          <a:p>
            <a:pPr indent="0" marL="0">
              <a:buNone/>
            </a:pPr>
            <a:r>
              <a:rPr lang="en-US" sz="4000" b="1" dirty="0">
                <a:solidFill>
                  <a:schemeClr val="accent1"/>
                </a:solidFill>
                <a:latin typeface="Arial" pitchFamily="34" charset="0"/>
                <a:ea typeface="Arial" pitchFamily="34" charset="-122"/>
                <a:cs typeface="Arial" pitchFamily="34" charset="-120"/>
              </a:rPr>
              <a:t>T0</a:t>
            </a:r>
            <a:endParaRPr lang="en-US" sz="4000" dirty="0"/>
          </a:p>
        </p:txBody>
      </p:sp>
      <p:sp>
        <p:nvSpPr>
          <p:cNvPr id="6" name="Text 4"/>
          <p:cNvSpPr txBox="1"/>
          <p:nvPr/>
        </p:nvSpPr>
        <p:spPr>
          <a:xfrm>
            <a:off x="1965960" y="2057400"/>
            <a:ext cx="1920240" cy="411480"/>
          </a:xfrm>
          <a:prstGeom prst="rect">
            <a:avLst/>
          </a:prstGeom>
          <a:noFill/>
          <a:ln/>
        </p:spPr>
        <p:txBody>
          <a:bodyPr wrap="square" lIns="0" tIns="0" rIns="0" bIns="0" rtlCol="0" anchor="t"/>
          <a:lstStyle/>
          <a:p>
            <a:pPr indent="0" marL="0">
              <a:buNone/>
            </a:pPr>
            <a:r>
              <a:rPr lang="en-US" sz="1800" b="1" dirty="0">
                <a:solidFill>
                  <a:schemeClr val="bg1"/>
                </a:solidFill>
              </a:rPr>
              <a:t>Read only</a:t>
            </a:r>
            <a:endParaRPr lang="en-US" sz="1800" dirty="0"/>
          </a:p>
        </p:txBody>
      </p:sp>
      <p:sp>
        <p:nvSpPr>
          <p:cNvPr id="7" name="Text 5"/>
          <p:cNvSpPr txBox="1"/>
          <p:nvPr/>
        </p:nvSpPr>
        <p:spPr>
          <a:xfrm>
            <a:off x="822960" y="2697480"/>
            <a:ext cx="3017520" cy="1234440"/>
          </a:xfrm>
          <a:prstGeom prst="rect">
            <a:avLst/>
          </a:prstGeom>
          <a:noFill/>
          <a:ln/>
        </p:spPr>
        <p:txBody>
          <a:bodyPr wrap="square" lIns="0" tIns="0" rIns="0" bIns="0" rtlCol="0" anchor="t"/>
          <a:lstStyle/>
          <a:p>
            <a:pPr indent="0" marL="0">
              <a:buNone/>
            </a:pPr>
            <a:r>
              <a:rPr lang="en-US" sz="1500" dirty="0">
                <a:solidFill>
                  <a:schemeClr val="bg2"/>
                </a:solidFill>
              </a:rPr>
              <a:t>Names tools from a fixed catalogue that read results on your device. Every argument is checked.</a:t>
            </a:r>
            <a:endParaRPr lang="en-US" sz="1500" dirty="0"/>
          </a:p>
        </p:txBody>
      </p:sp>
      <p:sp>
        <p:nvSpPr>
          <p:cNvPr id="8" name="card"/>
          <p:cNvSpPr/>
          <p:nvPr/>
        </p:nvSpPr>
        <p:spPr>
          <a:xfrm>
            <a:off x="4297680" y="1691640"/>
            <a:ext cx="3520440" cy="2331720"/>
          </a:xfrm>
          <a:prstGeom prst="roundRect">
            <a:avLst>
              <a:gd name="adj" fmla="val 4706"/>
            </a:avLst>
          </a:prstGeom>
          <a:solidFill>
            <a:schemeClr val="tx2"/>
          </a:solidFill>
          <a:ln w="12700">
            <a:solidFill>
              <a:schemeClr val="accent3"/>
            </a:solidFill>
            <a:prstDash val="solid"/>
          </a:ln>
          <a:effectLst>
            <a:outerShdw sx="100000" sy="100000" kx="0" ky="0" algn="bl" rotWithShape="0" blurRad="152400" dist="50800" dir="5400000">
              <a:srgbClr val="000000">
                <a:alpha val="45000"/>
              </a:srgbClr>
            </a:outerShdw>
          </a:effectLst>
        </p:spPr>
      </p:sp>
      <p:sp>
        <p:nvSpPr>
          <p:cNvPr id="9" name="Text 7"/>
          <p:cNvSpPr txBox="1"/>
          <p:nvPr/>
        </p:nvSpPr>
        <p:spPr>
          <a:xfrm>
            <a:off x="4572000" y="1874520"/>
            <a:ext cx="1280160" cy="731520"/>
          </a:xfrm>
          <a:prstGeom prst="rect">
            <a:avLst/>
          </a:prstGeom>
          <a:noFill/>
          <a:ln/>
        </p:spPr>
        <p:txBody>
          <a:bodyPr wrap="square" lIns="0" tIns="0" rIns="0" bIns="0" rtlCol="0" anchor="t"/>
          <a:lstStyle/>
          <a:p>
            <a:pPr indent="0" marL="0">
              <a:buNone/>
            </a:pPr>
            <a:r>
              <a:rPr lang="en-US" sz="4000" b="1" dirty="0">
                <a:solidFill>
                  <a:schemeClr val="accent3"/>
                </a:solidFill>
                <a:latin typeface="Arial" pitchFamily="34" charset="0"/>
                <a:ea typeface="Arial" pitchFamily="34" charset="-122"/>
                <a:cs typeface="Arial" pitchFamily="34" charset="-120"/>
              </a:rPr>
              <a:t>T1</a:t>
            </a:r>
            <a:endParaRPr lang="en-US" sz="4000" dirty="0"/>
          </a:p>
        </p:txBody>
      </p:sp>
      <p:sp>
        <p:nvSpPr>
          <p:cNvPr id="10" name="Text 8"/>
          <p:cNvSpPr txBox="1"/>
          <p:nvPr/>
        </p:nvSpPr>
        <p:spPr>
          <a:xfrm>
            <a:off x="5715000" y="2057400"/>
            <a:ext cx="1920240" cy="411480"/>
          </a:xfrm>
          <a:prstGeom prst="rect">
            <a:avLst/>
          </a:prstGeom>
          <a:noFill/>
          <a:ln/>
        </p:spPr>
        <p:txBody>
          <a:bodyPr wrap="square" lIns="0" tIns="0" rIns="0" bIns="0" rtlCol="0" anchor="t"/>
          <a:lstStyle/>
          <a:p>
            <a:pPr indent="0" marL="0">
              <a:buNone/>
            </a:pPr>
            <a:r>
              <a:rPr lang="en-US" sz="1800" b="1" dirty="0">
                <a:solidFill>
                  <a:schemeClr val="bg1"/>
                </a:solidFill>
              </a:rPr>
              <a:t>You decide</a:t>
            </a:r>
            <a:endParaRPr lang="en-US" sz="1800" dirty="0"/>
          </a:p>
        </p:txBody>
      </p:sp>
      <p:sp>
        <p:nvSpPr>
          <p:cNvPr id="11" name="Text 9"/>
          <p:cNvSpPr txBox="1"/>
          <p:nvPr/>
        </p:nvSpPr>
        <p:spPr>
          <a:xfrm>
            <a:off x="4572000" y="2697480"/>
            <a:ext cx="3017520" cy="1234440"/>
          </a:xfrm>
          <a:prstGeom prst="rect">
            <a:avLst/>
          </a:prstGeom>
          <a:noFill/>
          <a:ln/>
        </p:spPr>
        <p:txBody>
          <a:bodyPr wrap="square" lIns="0" tIns="0" rIns="0" bIns="0" rtlCol="0" anchor="t"/>
          <a:lstStyle/>
          <a:p>
            <a:pPr indent="0" marL="0">
              <a:buNone/>
            </a:pPr>
            <a:r>
              <a:rPr lang="en-US" sz="1500" dirty="0">
                <a:solidFill>
                  <a:schemeClr val="bg2"/>
                </a:solidFill>
              </a:rPr>
              <a:t>Proposes an action: adopt, retune or retire a rule, a reminder, a note. Applied only on your click and logged.</a:t>
            </a:r>
            <a:endParaRPr lang="en-US" sz="1500" dirty="0"/>
          </a:p>
        </p:txBody>
      </p:sp>
      <p:sp>
        <p:nvSpPr>
          <p:cNvPr id="12" name="card"/>
          <p:cNvSpPr/>
          <p:nvPr/>
        </p:nvSpPr>
        <p:spPr>
          <a:xfrm>
            <a:off x="8046720" y="1691640"/>
            <a:ext cx="3520440" cy="2331720"/>
          </a:xfrm>
          <a:prstGeom prst="roundRect">
            <a:avLst>
              <a:gd name="adj" fmla="val 4706"/>
            </a:avLst>
          </a:prstGeom>
          <a:solidFill>
            <a:schemeClr val="tx2"/>
          </a:solidFill>
          <a:ln w="12700">
            <a:solidFill>
              <a:schemeClr val="accent4"/>
            </a:solidFill>
            <a:prstDash val="solid"/>
          </a:ln>
          <a:effectLst>
            <a:outerShdw sx="100000" sy="100000" kx="0" ky="0" algn="bl" rotWithShape="0" blurRad="152400" dist="50800" dir="5400000">
              <a:srgbClr val="000000">
                <a:alpha val="45000"/>
              </a:srgbClr>
            </a:outerShdw>
          </a:effectLst>
        </p:spPr>
      </p:sp>
      <p:sp>
        <p:nvSpPr>
          <p:cNvPr id="13" name="Text 11"/>
          <p:cNvSpPr txBox="1"/>
          <p:nvPr/>
        </p:nvSpPr>
        <p:spPr>
          <a:xfrm>
            <a:off x="8321040" y="1874520"/>
            <a:ext cx="1280160" cy="731520"/>
          </a:xfrm>
          <a:prstGeom prst="rect">
            <a:avLst/>
          </a:prstGeom>
          <a:noFill/>
          <a:ln/>
        </p:spPr>
        <p:txBody>
          <a:bodyPr wrap="square" lIns="0" tIns="0" rIns="0" bIns="0" rtlCol="0" anchor="t"/>
          <a:lstStyle/>
          <a:p>
            <a:pPr indent="0" marL="0">
              <a:buNone/>
            </a:pPr>
            <a:r>
              <a:rPr lang="en-US" sz="4000" b="1" dirty="0">
                <a:solidFill>
                  <a:schemeClr val="accent4"/>
                </a:solidFill>
                <a:latin typeface="Arial" pitchFamily="34" charset="0"/>
                <a:ea typeface="Arial" pitchFamily="34" charset="-122"/>
                <a:cs typeface="Arial" pitchFamily="34" charset="-120"/>
              </a:rPr>
              <a:t>T2</a:t>
            </a:r>
            <a:endParaRPr lang="en-US" sz="4000" dirty="0"/>
          </a:p>
        </p:txBody>
      </p:sp>
      <p:sp>
        <p:nvSpPr>
          <p:cNvPr id="14" name="Text 12"/>
          <p:cNvSpPr txBox="1"/>
          <p:nvPr/>
        </p:nvSpPr>
        <p:spPr>
          <a:xfrm>
            <a:off x="9464040" y="2057400"/>
            <a:ext cx="1920240" cy="411480"/>
          </a:xfrm>
          <a:prstGeom prst="rect">
            <a:avLst/>
          </a:prstGeom>
          <a:noFill/>
          <a:ln/>
        </p:spPr>
        <p:txBody>
          <a:bodyPr wrap="square" lIns="0" tIns="0" rIns="0" bIns="0" rtlCol="0" anchor="t"/>
          <a:lstStyle/>
          <a:p>
            <a:pPr indent="0" marL="0">
              <a:buNone/>
            </a:pPr>
            <a:r>
              <a:rPr lang="en-US" sz="1800" b="1" dirty="0">
                <a:solidFill>
                  <a:schemeClr val="bg1"/>
                </a:solidFill>
              </a:rPr>
              <a:t>Not offered</a:t>
            </a:r>
            <a:endParaRPr lang="en-US" sz="1800" dirty="0"/>
          </a:p>
        </p:txBody>
      </p:sp>
      <p:sp>
        <p:nvSpPr>
          <p:cNvPr id="15" name="Text 13"/>
          <p:cNvSpPr txBox="1"/>
          <p:nvPr/>
        </p:nvSpPr>
        <p:spPr>
          <a:xfrm>
            <a:off x="8321040" y="2697480"/>
            <a:ext cx="3017520" cy="1234440"/>
          </a:xfrm>
          <a:prstGeom prst="rect">
            <a:avLst/>
          </a:prstGeom>
          <a:noFill/>
          <a:ln/>
        </p:spPr>
        <p:txBody>
          <a:bodyPr wrap="square" lIns="0" tIns="0" rIns="0" bIns="0" rtlCol="0" anchor="t"/>
          <a:lstStyle/>
          <a:p>
            <a:pPr indent="0" marL="0">
              <a:buNone/>
            </a:pPr>
            <a:r>
              <a:rPr lang="en-US" sz="1500" dirty="0">
                <a:solidFill>
                  <a:schemeClr val="bg2"/>
                </a:solidFill>
              </a:rPr>
              <a:t>Placing orders, broker credentials, uploading trades. No tool, endpoint or code path exists.</a:t>
            </a:r>
            <a:endParaRPr lang="en-US" sz="1500" dirty="0"/>
          </a:p>
        </p:txBody>
      </p:sp>
      <p:sp>
        <p:nvSpPr>
          <p:cNvPr id="16" name="card"/>
          <p:cNvSpPr/>
          <p:nvPr/>
        </p:nvSpPr>
        <p:spPr>
          <a:xfrm>
            <a:off x="548640" y="4343400"/>
            <a:ext cx="2651760" cy="731520"/>
          </a:xfrm>
          <a:prstGeom prst="roundRect">
            <a:avLst>
              <a:gd name="adj" fmla="val 15000"/>
            </a:avLst>
          </a:prstGeom>
          <a:solidFill>
            <a:schemeClr val="tx2"/>
          </a:solidFill>
          <a:ln w="12700">
            <a:solidFill>
              <a:schemeClr val="accent5"/>
            </a:solidFill>
            <a:prstDash val="solid"/>
          </a:ln>
        </p:spPr>
      </p:sp>
      <p:sp>
        <p:nvSpPr>
          <p:cNvPr id="17" name="icon circle"/>
          <p:cNvSpPr/>
          <p:nvPr/>
        </p:nvSpPr>
        <p:spPr>
          <a:xfrm>
            <a:off x="658368" y="4453128"/>
            <a:ext cx="512064" cy="512064"/>
          </a:xfrm>
          <a:prstGeom prst="ellipse">
            <a:avLst/>
          </a:prstGeom>
          <a:solidFill>
            <a:schemeClr val="tx1"/>
          </a:solidFill>
          <a:ln/>
        </p:spPr>
      </p:sp>
      <p:pic>
        <p:nvPicPr>
          <p:cNvPr id="18" name="LuPower" descr="LuPower">    </p:cNvPr>
          <p:cNvPicPr>
            <a:picLocks noChangeAspect="1"/>
          </p:cNvPicPr>
          <p:nvPr/>
        </p:nvPicPr>
        <p:blipFill>
          <a:blip r:embed="rId1"/>
          <a:stretch>
            <a:fillRect/>
          </a:stretch>
        </p:blipFill>
        <p:spPr>
          <a:xfrm>
            <a:off x="781263" y="4576023"/>
            <a:ext cx="266273" cy="266273"/>
          </a:xfrm>
          <a:prstGeom prst="rect">
            <a:avLst/>
          </a:prstGeom>
        </p:spPr>
      </p:pic>
      <p:sp>
        <p:nvSpPr>
          <p:cNvPr id="19" name="Text 16"/>
          <p:cNvSpPr txBox="1"/>
          <p:nvPr/>
        </p:nvSpPr>
        <p:spPr>
          <a:xfrm>
            <a:off x="1280160" y="4389120"/>
            <a:ext cx="1847088" cy="640080"/>
          </a:xfrm>
          <a:prstGeom prst="rect">
            <a:avLst/>
          </a:prstGeom>
          <a:noFill/>
          <a:ln/>
        </p:spPr>
        <p:txBody>
          <a:bodyPr wrap="square" lIns="0" tIns="0" rIns="0" bIns="0" rtlCol="0" anchor="ctr"/>
          <a:lstStyle/>
          <a:p>
            <a:pPr indent="0" marL="0">
              <a:buNone/>
            </a:pPr>
            <a:r>
              <a:rPr lang="en-US" sz="1400" dirty="0">
                <a:solidFill>
                  <a:schemeClr val="bg1"/>
                </a:solidFill>
              </a:rPr>
              <a:t>Consent, off by default</a:t>
            </a:r>
            <a:endParaRPr lang="en-US" sz="1400" dirty="0"/>
          </a:p>
        </p:txBody>
      </p:sp>
      <p:sp>
        <p:nvSpPr>
          <p:cNvPr id="20" name="card"/>
          <p:cNvSpPr/>
          <p:nvPr/>
        </p:nvSpPr>
        <p:spPr>
          <a:xfrm>
            <a:off x="3355848" y="4343400"/>
            <a:ext cx="2651760" cy="731520"/>
          </a:xfrm>
          <a:prstGeom prst="roundRect">
            <a:avLst>
              <a:gd name="adj" fmla="val 15000"/>
            </a:avLst>
          </a:prstGeom>
          <a:solidFill>
            <a:schemeClr val="tx2"/>
          </a:solidFill>
          <a:ln w="12700">
            <a:solidFill>
              <a:schemeClr val="accent5"/>
            </a:solidFill>
            <a:prstDash val="solid"/>
          </a:ln>
        </p:spPr>
      </p:sp>
      <p:sp>
        <p:nvSpPr>
          <p:cNvPr id="21" name="icon circle"/>
          <p:cNvSpPr/>
          <p:nvPr/>
        </p:nvSpPr>
        <p:spPr>
          <a:xfrm>
            <a:off x="3465576" y="4453128"/>
            <a:ext cx="512064" cy="512064"/>
          </a:xfrm>
          <a:prstGeom prst="ellipse">
            <a:avLst/>
          </a:prstGeom>
          <a:solidFill>
            <a:schemeClr val="tx1"/>
          </a:solidFill>
          <a:ln/>
        </p:spPr>
      </p:sp>
      <p:pic>
        <p:nvPicPr>
          <p:cNvPr id="22" name="LuKeyRound" descr="LuKeyRound">    </p:cNvPr>
          <p:cNvPicPr>
            <a:picLocks noChangeAspect="1"/>
          </p:cNvPicPr>
          <p:nvPr/>
        </p:nvPicPr>
        <p:blipFill>
          <a:blip r:embed="rId2"/>
          <a:stretch>
            <a:fillRect/>
          </a:stretch>
        </p:blipFill>
        <p:spPr>
          <a:xfrm>
            <a:off x="3588471" y="4576023"/>
            <a:ext cx="266273" cy="266273"/>
          </a:xfrm>
          <a:prstGeom prst="rect">
            <a:avLst/>
          </a:prstGeom>
        </p:spPr>
      </p:pic>
      <p:sp>
        <p:nvSpPr>
          <p:cNvPr id="23" name="Text 19"/>
          <p:cNvSpPr txBox="1"/>
          <p:nvPr/>
        </p:nvSpPr>
        <p:spPr>
          <a:xfrm>
            <a:off x="4087368" y="4389120"/>
            <a:ext cx="1847088" cy="640080"/>
          </a:xfrm>
          <a:prstGeom prst="rect">
            <a:avLst/>
          </a:prstGeom>
          <a:noFill/>
          <a:ln/>
        </p:spPr>
        <p:txBody>
          <a:bodyPr wrap="square" lIns="0" tIns="0" rIns="0" bIns="0" rtlCol="0" anchor="ctr"/>
          <a:lstStyle/>
          <a:p>
            <a:pPr indent="0" marL="0">
              <a:buNone/>
            </a:pPr>
            <a:r>
              <a:rPr lang="en-US" sz="1400" dirty="0">
                <a:solidFill>
                  <a:schemeClr val="bg1"/>
                </a:solidFill>
              </a:rPr>
              <a:t>Deny-by-default access, JWT</a:t>
            </a:r>
            <a:endParaRPr lang="en-US" sz="1400" dirty="0"/>
          </a:p>
        </p:txBody>
      </p:sp>
      <p:sp>
        <p:nvSpPr>
          <p:cNvPr id="24" name="card"/>
          <p:cNvSpPr/>
          <p:nvPr/>
        </p:nvSpPr>
        <p:spPr>
          <a:xfrm>
            <a:off x="6163056" y="4343400"/>
            <a:ext cx="2651760" cy="731520"/>
          </a:xfrm>
          <a:prstGeom prst="roundRect">
            <a:avLst>
              <a:gd name="adj" fmla="val 15000"/>
            </a:avLst>
          </a:prstGeom>
          <a:solidFill>
            <a:schemeClr val="tx2"/>
          </a:solidFill>
          <a:ln w="12700">
            <a:solidFill>
              <a:schemeClr val="accent5"/>
            </a:solidFill>
            <a:prstDash val="solid"/>
          </a:ln>
        </p:spPr>
      </p:sp>
      <p:sp>
        <p:nvSpPr>
          <p:cNvPr id="25" name="icon circle"/>
          <p:cNvSpPr/>
          <p:nvPr/>
        </p:nvSpPr>
        <p:spPr>
          <a:xfrm>
            <a:off x="6272784" y="4453128"/>
            <a:ext cx="512064" cy="512064"/>
          </a:xfrm>
          <a:prstGeom prst="ellipse">
            <a:avLst/>
          </a:prstGeom>
          <a:solidFill>
            <a:schemeClr val="tx1"/>
          </a:solidFill>
          <a:ln/>
        </p:spPr>
      </p:sp>
      <p:pic>
        <p:nvPicPr>
          <p:cNvPr id="26" name="LuClock" descr="LuClock">    </p:cNvPr>
          <p:cNvPicPr>
            <a:picLocks noChangeAspect="1"/>
          </p:cNvPicPr>
          <p:nvPr/>
        </p:nvPicPr>
        <p:blipFill>
          <a:blip r:embed="rId3"/>
          <a:stretch>
            <a:fillRect/>
          </a:stretch>
        </p:blipFill>
        <p:spPr>
          <a:xfrm>
            <a:off x="6395679" y="4576023"/>
            <a:ext cx="266273" cy="266273"/>
          </a:xfrm>
          <a:prstGeom prst="rect">
            <a:avLst/>
          </a:prstGeom>
        </p:spPr>
      </p:pic>
      <p:sp>
        <p:nvSpPr>
          <p:cNvPr id="27" name="Text 22"/>
          <p:cNvSpPr txBox="1"/>
          <p:nvPr/>
        </p:nvSpPr>
        <p:spPr>
          <a:xfrm>
            <a:off x="6894576" y="4389120"/>
            <a:ext cx="1847088" cy="640080"/>
          </a:xfrm>
          <a:prstGeom prst="rect">
            <a:avLst/>
          </a:prstGeom>
          <a:noFill/>
          <a:ln/>
        </p:spPr>
        <p:txBody>
          <a:bodyPr wrap="square" lIns="0" tIns="0" rIns="0" bIns="0" rtlCol="0" anchor="ctr"/>
          <a:lstStyle/>
          <a:p>
            <a:pPr indent="0" marL="0">
              <a:buNone/>
            </a:pPr>
            <a:r>
              <a:rPr lang="en-US" sz="1400" dirty="0">
                <a:solidFill>
                  <a:schemeClr val="bg1"/>
                </a:solidFill>
              </a:rPr>
              <a:t>Daily cap per user</a:t>
            </a:r>
            <a:endParaRPr lang="en-US" sz="1400" dirty="0"/>
          </a:p>
        </p:txBody>
      </p:sp>
      <p:sp>
        <p:nvSpPr>
          <p:cNvPr id="28" name="card"/>
          <p:cNvSpPr/>
          <p:nvPr/>
        </p:nvSpPr>
        <p:spPr>
          <a:xfrm>
            <a:off x="8970264" y="4343400"/>
            <a:ext cx="2651760" cy="731520"/>
          </a:xfrm>
          <a:prstGeom prst="roundRect">
            <a:avLst>
              <a:gd name="adj" fmla="val 15000"/>
            </a:avLst>
          </a:prstGeom>
          <a:solidFill>
            <a:schemeClr val="tx2"/>
          </a:solidFill>
          <a:ln w="12700">
            <a:solidFill>
              <a:schemeClr val="accent5"/>
            </a:solidFill>
            <a:prstDash val="solid"/>
          </a:ln>
        </p:spPr>
      </p:sp>
      <p:sp>
        <p:nvSpPr>
          <p:cNvPr id="29" name="icon circle"/>
          <p:cNvSpPr/>
          <p:nvPr/>
        </p:nvSpPr>
        <p:spPr>
          <a:xfrm>
            <a:off x="9079992" y="4453128"/>
            <a:ext cx="512064" cy="512064"/>
          </a:xfrm>
          <a:prstGeom prst="ellipse">
            <a:avLst/>
          </a:prstGeom>
          <a:solidFill>
            <a:schemeClr val="tx1"/>
          </a:solidFill>
          <a:ln/>
        </p:spPr>
      </p:sp>
      <p:pic>
        <p:nvPicPr>
          <p:cNvPr id="30" name="LuShieldAlert" descr="LuShieldAlert">    </p:cNvPr>
          <p:cNvPicPr>
            <a:picLocks noChangeAspect="1"/>
          </p:cNvPicPr>
          <p:nvPr/>
        </p:nvPicPr>
        <p:blipFill>
          <a:blip r:embed="rId4"/>
          <a:stretch>
            <a:fillRect/>
          </a:stretch>
        </p:blipFill>
        <p:spPr>
          <a:xfrm>
            <a:off x="9202887" y="4576023"/>
            <a:ext cx="266273" cy="266273"/>
          </a:xfrm>
          <a:prstGeom prst="rect">
            <a:avLst/>
          </a:prstGeom>
        </p:spPr>
      </p:pic>
      <p:sp>
        <p:nvSpPr>
          <p:cNvPr id="31" name="Text 25"/>
          <p:cNvSpPr txBox="1"/>
          <p:nvPr/>
        </p:nvSpPr>
        <p:spPr>
          <a:xfrm>
            <a:off x="9701784" y="4389120"/>
            <a:ext cx="1847088" cy="640080"/>
          </a:xfrm>
          <a:prstGeom prst="rect">
            <a:avLst/>
          </a:prstGeom>
          <a:noFill/>
          <a:ln/>
        </p:spPr>
        <p:txBody>
          <a:bodyPr wrap="square" lIns="0" tIns="0" rIns="0" bIns="0" rtlCol="0" anchor="ctr"/>
          <a:lstStyle/>
          <a:p>
            <a:pPr indent="0" marL="0">
              <a:buNone/>
            </a:pPr>
            <a:r>
              <a:rPr lang="en-US" sz="1400" dirty="0">
                <a:solidFill>
                  <a:schemeClr val="bg1"/>
                </a:solidFill>
              </a:rPr>
              <a:t>Prompt-injection guards</a:t>
            </a:r>
            <a:endParaRPr lang="en-US" sz="1400" dirty="0"/>
          </a:p>
        </p:txBody>
      </p:sp>
      <p:sp>
        <p:nvSpPr>
          <p:cNvPr id="32" name="card"/>
          <p:cNvSpPr/>
          <p:nvPr/>
        </p:nvSpPr>
        <p:spPr>
          <a:xfrm>
            <a:off x="548640" y="5257800"/>
            <a:ext cx="2651760" cy="731520"/>
          </a:xfrm>
          <a:prstGeom prst="roundRect">
            <a:avLst>
              <a:gd name="adj" fmla="val 15000"/>
            </a:avLst>
          </a:prstGeom>
          <a:solidFill>
            <a:schemeClr val="tx2"/>
          </a:solidFill>
          <a:ln w="12700">
            <a:solidFill>
              <a:schemeClr val="accent5"/>
            </a:solidFill>
            <a:prstDash val="solid"/>
          </a:ln>
        </p:spPr>
      </p:sp>
      <p:sp>
        <p:nvSpPr>
          <p:cNvPr id="33" name="icon circle"/>
          <p:cNvSpPr/>
          <p:nvPr/>
        </p:nvSpPr>
        <p:spPr>
          <a:xfrm>
            <a:off x="658368" y="5367528"/>
            <a:ext cx="512064" cy="512064"/>
          </a:xfrm>
          <a:prstGeom prst="ellipse">
            <a:avLst/>
          </a:prstGeom>
          <a:solidFill>
            <a:schemeClr val="tx1"/>
          </a:solidFill>
          <a:ln/>
        </p:spPr>
      </p:sp>
      <p:pic>
        <p:nvPicPr>
          <p:cNvPr id="34" name="LuScrollText" descr="LuScrollText">    </p:cNvPr>
          <p:cNvPicPr>
            <a:picLocks noChangeAspect="1"/>
          </p:cNvPicPr>
          <p:nvPr/>
        </p:nvPicPr>
        <p:blipFill>
          <a:blip r:embed="rId5"/>
          <a:stretch>
            <a:fillRect/>
          </a:stretch>
        </p:blipFill>
        <p:spPr>
          <a:xfrm>
            <a:off x="781263" y="5490423"/>
            <a:ext cx="266273" cy="266273"/>
          </a:xfrm>
          <a:prstGeom prst="rect">
            <a:avLst/>
          </a:prstGeom>
        </p:spPr>
      </p:pic>
      <p:sp>
        <p:nvSpPr>
          <p:cNvPr id="35" name="Text 28"/>
          <p:cNvSpPr txBox="1"/>
          <p:nvPr/>
        </p:nvSpPr>
        <p:spPr>
          <a:xfrm>
            <a:off x="1280160" y="5303520"/>
            <a:ext cx="1847088" cy="640080"/>
          </a:xfrm>
          <a:prstGeom prst="rect">
            <a:avLst/>
          </a:prstGeom>
          <a:noFill/>
          <a:ln/>
        </p:spPr>
        <p:txBody>
          <a:bodyPr wrap="square" lIns="0" tIns="0" rIns="0" bIns="0" rtlCol="0" anchor="ctr"/>
          <a:lstStyle/>
          <a:p>
            <a:pPr indent="0" marL="0">
              <a:buNone/>
            </a:pPr>
            <a:r>
              <a:rPr lang="en-US" sz="1400" dirty="0">
                <a:solidFill>
                  <a:schemeClr val="bg1"/>
                </a:solidFill>
              </a:rPr>
              <a:t>“What was sent” log</a:t>
            </a:r>
            <a:endParaRPr lang="en-US" sz="1400" dirty="0"/>
          </a:p>
        </p:txBody>
      </p:sp>
      <p:sp>
        <p:nvSpPr>
          <p:cNvPr id="36" name="card"/>
          <p:cNvSpPr/>
          <p:nvPr/>
        </p:nvSpPr>
        <p:spPr>
          <a:xfrm>
            <a:off x="3355848" y="5257800"/>
            <a:ext cx="2651760" cy="731520"/>
          </a:xfrm>
          <a:prstGeom prst="roundRect">
            <a:avLst>
              <a:gd name="adj" fmla="val 15000"/>
            </a:avLst>
          </a:prstGeom>
          <a:solidFill>
            <a:schemeClr val="tx2"/>
          </a:solidFill>
          <a:ln w="12700">
            <a:solidFill>
              <a:schemeClr val="accent5"/>
            </a:solidFill>
            <a:prstDash val="solid"/>
          </a:ln>
        </p:spPr>
      </p:sp>
      <p:sp>
        <p:nvSpPr>
          <p:cNvPr id="37" name="icon circle"/>
          <p:cNvSpPr/>
          <p:nvPr/>
        </p:nvSpPr>
        <p:spPr>
          <a:xfrm>
            <a:off x="3465576" y="5367528"/>
            <a:ext cx="512064" cy="512064"/>
          </a:xfrm>
          <a:prstGeom prst="ellipse">
            <a:avLst/>
          </a:prstGeom>
          <a:solidFill>
            <a:schemeClr val="tx1"/>
          </a:solidFill>
          <a:ln/>
        </p:spPr>
      </p:sp>
      <p:pic>
        <p:nvPicPr>
          <p:cNvPr id="38" name="LuServer" descr="LuServer">    </p:cNvPr>
          <p:cNvPicPr>
            <a:picLocks noChangeAspect="1"/>
          </p:cNvPicPr>
          <p:nvPr/>
        </p:nvPicPr>
        <p:blipFill>
          <a:blip r:embed="rId6"/>
          <a:stretch>
            <a:fillRect/>
          </a:stretch>
        </p:blipFill>
        <p:spPr>
          <a:xfrm>
            <a:off x="3588471" y="5490423"/>
            <a:ext cx="266273" cy="266273"/>
          </a:xfrm>
          <a:prstGeom prst="rect">
            <a:avLst/>
          </a:prstGeom>
        </p:spPr>
      </p:pic>
      <p:sp>
        <p:nvSpPr>
          <p:cNvPr id="39" name="Text 31"/>
          <p:cNvSpPr txBox="1"/>
          <p:nvPr/>
        </p:nvSpPr>
        <p:spPr>
          <a:xfrm>
            <a:off x="4087368" y="5303520"/>
            <a:ext cx="1847088" cy="640080"/>
          </a:xfrm>
          <a:prstGeom prst="rect">
            <a:avLst/>
          </a:prstGeom>
          <a:noFill/>
          <a:ln/>
        </p:spPr>
        <p:txBody>
          <a:bodyPr wrap="square" lIns="0" tIns="0" rIns="0" bIns="0" rtlCol="0" anchor="ctr"/>
          <a:lstStyle/>
          <a:p>
            <a:pPr indent="0" marL="0">
              <a:buNone/>
            </a:pPr>
            <a:r>
              <a:rPr lang="en-US" sz="1400" dirty="0">
                <a:solidFill>
                  <a:schemeClr val="bg1"/>
                </a:solidFill>
              </a:rPr>
              <a:t>No content kept on the server</a:t>
            </a:r>
            <a:endParaRPr lang="en-US" sz="1400" dirty="0"/>
          </a:p>
        </p:txBody>
      </p:sp>
      <p:sp>
        <p:nvSpPr>
          <p:cNvPr id="40" name="card"/>
          <p:cNvSpPr/>
          <p:nvPr/>
        </p:nvSpPr>
        <p:spPr>
          <a:xfrm>
            <a:off x="6163056" y="5257800"/>
            <a:ext cx="2651760" cy="731520"/>
          </a:xfrm>
          <a:prstGeom prst="roundRect">
            <a:avLst>
              <a:gd name="adj" fmla="val 15000"/>
            </a:avLst>
          </a:prstGeom>
          <a:solidFill>
            <a:schemeClr val="tx2"/>
          </a:solidFill>
          <a:ln w="12700">
            <a:solidFill>
              <a:schemeClr val="accent5"/>
            </a:solidFill>
            <a:prstDash val="solid"/>
          </a:ln>
        </p:spPr>
      </p:sp>
      <p:sp>
        <p:nvSpPr>
          <p:cNvPr id="41" name="icon circle"/>
          <p:cNvSpPr/>
          <p:nvPr/>
        </p:nvSpPr>
        <p:spPr>
          <a:xfrm>
            <a:off x="6272784" y="5367528"/>
            <a:ext cx="512064" cy="512064"/>
          </a:xfrm>
          <a:prstGeom prst="ellipse">
            <a:avLst/>
          </a:prstGeom>
          <a:solidFill>
            <a:schemeClr val="tx1"/>
          </a:solidFill>
          <a:ln/>
        </p:spPr>
      </p:sp>
      <p:pic>
        <p:nvPicPr>
          <p:cNvPr id="42" name="LuOctagonX" descr="LuOctagonX">    </p:cNvPr>
          <p:cNvPicPr>
            <a:picLocks noChangeAspect="1"/>
          </p:cNvPicPr>
          <p:nvPr/>
        </p:nvPicPr>
        <p:blipFill>
          <a:blip r:embed="rId7"/>
          <a:stretch>
            <a:fillRect/>
          </a:stretch>
        </p:blipFill>
        <p:spPr>
          <a:xfrm>
            <a:off x="6395679" y="5490423"/>
            <a:ext cx="266273" cy="266273"/>
          </a:xfrm>
          <a:prstGeom prst="rect">
            <a:avLst/>
          </a:prstGeom>
        </p:spPr>
      </p:pic>
      <p:sp>
        <p:nvSpPr>
          <p:cNvPr id="43" name="Text 34"/>
          <p:cNvSpPr txBox="1"/>
          <p:nvPr/>
        </p:nvSpPr>
        <p:spPr>
          <a:xfrm>
            <a:off x="6894576" y="5303520"/>
            <a:ext cx="1847088" cy="640080"/>
          </a:xfrm>
          <a:prstGeom prst="rect">
            <a:avLst/>
          </a:prstGeom>
          <a:noFill/>
          <a:ln/>
        </p:spPr>
        <p:txBody>
          <a:bodyPr wrap="square" lIns="0" tIns="0" rIns="0" bIns="0" rtlCol="0" anchor="ctr"/>
          <a:lstStyle/>
          <a:p>
            <a:pPr indent="0" marL="0">
              <a:buNone/>
            </a:pPr>
            <a:r>
              <a:rPr lang="en-US" sz="1400" dirty="0">
                <a:solidFill>
                  <a:schemeClr val="bg1"/>
                </a:solidFill>
              </a:rPr>
              <a:t>Kill switch</a:t>
            </a:r>
            <a:endParaRPr lang="en-US" sz="1400" dirty="0"/>
          </a:p>
        </p:txBody>
      </p:sp>
      <p:sp>
        <p:nvSpPr>
          <p:cNvPr id="44" name="card"/>
          <p:cNvSpPr/>
          <p:nvPr/>
        </p:nvSpPr>
        <p:spPr>
          <a:xfrm>
            <a:off x="8970264" y="5257800"/>
            <a:ext cx="2651760" cy="731520"/>
          </a:xfrm>
          <a:prstGeom prst="roundRect">
            <a:avLst>
              <a:gd name="adj" fmla="val 15000"/>
            </a:avLst>
          </a:prstGeom>
          <a:solidFill>
            <a:schemeClr val="tx2"/>
          </a:solidFill>
          <a:ln w="12700">
            <a:solidFill>
              <a:schemeClr val="accent5"/>
            </a:solidFill>
            <a:prstDash val="solid"/>
          </a:ln>
        </p:spPr>
      </p:sp>
      <p:sp>
        <p:nvSpPr>
          <p:cNvPr id="45" name="icon circle"/>
          <p:cNvSpPr/>
          <p:nvPr/>
        </p:nvSpPr>
        <p:spPr>
          <a:xfrm>
            <a:off x="9079992" y="5367528"/>
            <a:ext cx="512064" cy="512064"/>
          </a:xfrm>
          <a:prstGeom prst="ellipse">
            <a:avLst/>
          </a:prstGeom>
          <a:solidFill>
            <a:schemeClr val="tx1"/>
          </a:solidFill>
          <a:ln/>
        </p:spPr>
      </p:sp>
      <p:pic>
        <p:nvPicPr>
          <p:cNvPr id="46" name="LuScale" descr="LuScale">    </p:cNvPr>
          <p:cNvPicPr>
            <a:picLocks noChangeAspect="1"/>
          </p:cNvPicPr>
          <p:nvPr/>
        </p:nvPicPr>
        <p:blipFill>
          <a:blip r:embed="rId8"/>
          <a:stretch>
            <a:fillRect/>
          </a:stretch>
        </p:blipFill>
        <p:spPr>
          <a:xfrm>
            <a:off x="9202887" y="5490423"/>
            <a:ext cx="266273" cy="266273"/>
          </a:xfrm>
          <a:prstGeom prst="rect">
            <a:avLst/>
          </a:prstGeom>
        </p:spPr>
      </p:pic>
      <p:sp>
        <p:nvSpPr>
          <p:cNvPr id="47" name="Text 37"/>
          <p:cNvSpPr txBox="1"/>
          <p:nvPr/>
        </p:nvSpPr>
        <p:spPr>
          <a:xfrm>
            <a:off x="9701784" y="5303520"/>
            <a:ext cx="1847088" cy="640080"/>
          </a:xfrm>
          <a:prstGeom prst="rect">
            <a:avLst/>
          </a:prstGeom>
          <a:noFill/>
          <a:ln/>
        </p:spPr>
        <p:txBody>
          <a:bodyPr wrap="square" lIns="0" tIns="0" rIns="0" bIns="0" rtlCol="0" anchor="ctr"/>
          <a:lstStyle/>
          <a:p>
            <a:pPr indent="0" marL="0">
              <a:buNone/>
            </a:pPr>
            <a:r>
              <a:rPr lang="en-US" sz="1400" dirty="0">
                <a:solidFill>
                  <a:schemeClr val="bg1"/>
                </a:solidFill>
              </a:rPr>
              <a:t>GDPR principles, no advice</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algn="l" indent="0" marL="0">
              <a:buNone/>
            </a:pPr>
            <a:r>
              <a:rPr lang="en-US" sz="1200" b="1" spc="200" kern="0" dirty="0">
                <a:solidFill>
                  <a:schemeClr val="accent1"/>
                </a:solidFill>
              </a:rPr>
              <a:t>OUTLOOK</a:t>
            </a:r>
            <a:endParaRPr lang="en-US" sz="1200" dirty="0"/>
          </a:p>
        </p:txBody>
      </p:sp>
      <p:sp>
        <p:nvSpPr>
          <p:cNvPr id="3" name="Text 1"/>
          <p:cNvSpPr/>
          <p:nvPr>
            <p:ph idx="102" type="title" hasCustomPrompt="1"/>
          </p:nvPr>
        </p:nvSpPr>
        <p:spPr>
          <a:xfrm>
            <a:off x="548640" y="640080"/>
            <a:ext cx="11064240" cy="73152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Where Stocktrails goes next</a:t>
            </a:r>
            <a:endParaRPr lang="en-US" sz="3000" dirty="0"/>
          </a:p>
        </p:txBody>
      </p:sp>
      <p:sp>
        <p:nvSpPr>
          <p:cNvPr id="4" name="card"/>
          <p:cNvSpPr/>
          <p:nvPr/>
        </p:nvSpPr>
        <p:spPr>
          <a:xfrm>
            <a:off x="548640" y="1691640"/>
            <a:ext cx="5486400" cy="1783080"/>
          </a:xfrm>
          <a:prstGeom prst="roundRect">
            <a:avLst>
              <a:gd name="adj" fmla="val 6154"/>
            </a:avLst>
          </a:prstGeom>
          <a:solidFill>
            <a:schemeClr val="tx2"/>
          </a:solidFill>
          <a:ln w="12700">
            <a:solidFill>
              <a:schemeClr val="accent5"/>
            </a:solidFill>
            <a:prstDash val="solid"/>
          </a:ln>
          <a:effectLst>
            <a:outerShdw sx="100000" sy="100000" kx="0" ky="0" algn="bl" rotWithShape="0" blurRad="152400" dist="50800" dir="5400000">
              <a:srgbClr val="000000">
                <a:alpha val="45000"/>
              </a:srgbClr>
            </a:outerShdw>
          </a:effectLst>
        </p:spPr>
      </p:sp>
      <p:sp>
        <p:nvSpPr>
          <p:cNvPr id="5" name="icon circle"/>
          <p:cNvSpPr/>
          <p:nvPr/>
        </p:nvSpPr>
        <p:spPr>
          <a:xfrm>
            <a:off x="822960" y="2011680"/>
            <a:ext cx="640080" cy="640080"/>
          </a:xfrm>
          <a:prstGeom prst="ellipse">
            <a:avLst/>
          </a:prstGeom>
          <a:solidFill>
            <a:schemeClr val="accent5"/>
          </a:solidFill>
          <a:ln/>
        </p:spPr>
      </p:sp>
      <p:pic>
        <p:nvPicPr>
          <p:cNvPr id="6" name="LuTrophy" descr="LuTrophy">    </p:cNvPr>
          <p:cNvPicPr>
            <a:picLocks noChangeAspect="1"/>
          </p:cNvPicPr>
          <p:nvPr/>
        </p:nvPicPr>
        <p:blipFill>
          <a:blip r:embed="rId1"/>
          <a:stretch>
            <a:fillRect/>
          </a:stretch>
        </p:blipFill>
        <p:spPr>
          <a:xfrm>
            <a:off x="976579" y="2165299"/>
            <a:ext cx="332842" cy="332842"/>
          </a:xfrm>
          <a:prstGeom prst="rect">
            <a:avLst/>
          </a:prstGeom>
        </p:spPr>
      </p:pic>
      <p:sp>
        <p:nvSpPr>
          <p:cNvPr id="7" name="Text 4"/>
          <p:cNvSpPr txBox="1"/>
          <p:nvPr/>
        </p:nvSpPr>
        <p:spPr>
          <a:xfrm>
            <a:off x="1664208" y="1993392"/>
            <a:ext cx="4187952" cy="1371600"/>
          </a:xfrm>
          <a:prstGeom prst="rect">
            <a:avLst/>
          </a:prstGeom>
          <a:noFill/>
          <a:ln/>
        </p:spPr>
        <p:txBody>
          <a:bodyPr wrap="square" lIns="0" tIns="0" rIns="0" bIns="0" rtlCol="0" anchor="t"/>
          <a:lstStyle/>
          <a:p>
            <a:pPr indent="0" marL="0">
              <a:spcAft>
                <a:spcPts val="300"/>
              </a:spcAft>
              <a:buNone/>
            </a:pPr>
            <a:r>
              <a:rPr lang="en-US" sz="1800" b="1" dirty="0">
                <a:solidFill>
                  <a:schemeClr val="bg1"/>
                </a:solidFill>
              </a:rPr>
              <a:t>Community rankings</a:t>
            </a:r>
            <a:endParaRPr lang="en-US" sz="1500" dirty="0"/>
          </a:p>
          <a:p>
            <a:pPr indent="0" marL="0">
              <a:spcAft>
                <a:spcPts val="300"/>
              </a:spcAft>
              <a:buNone/>
            </a:pPr>
            <a:r>
              <a:rPr lang="en-US" sz="1400" dirty="0">
                <a:solidFill>
                  <a:schemeClr val="bg2"/>
                </a:solidFill>
              </a:rPr>
              <a:t>Richer rankings of research discipline and habit improvement, anonymous and with minimum group sizes.</a:t>
            </a:r>
            <a:endParaRPr lang="en-US" sz="1500" dirty="0"/>
          </a:p>
        </p:txBody>
      </p:sp>
      <p:sp>
        <p:nvSpPr>
          <p:cNvPr id="8" name="card"/>
          <p:cNvSpPr/>
          <p:nvPr/>
        </p:nvSpPr>
        <p:spPr>
          <a:xfrm>
            <a:off x="6172200" y="1691640"/>
            <a:ext cx="5486400" cy="1783080"/>
          </a:xfrm>
          <a:prstGeom prst="roundRect">
            <a:avLst>
              <a:gd name="adj" fmla="val 6154"/>
            </a:avLst>
          </a:prstGeom>
          <a:solidFill>
            <a:schemeClr val="tx2"/>
          </a:solidFill>
          <a:ln w="12700">
            <a:solidFill>
              <a:schemeClr val="accent5"/>
            </a:solidFill>
            <a:prstDash val="solid"/>
          </a:ln>
          <a:effectLst>
            <a:outerShdw sx="100000" sy="100000" kx="0" ky="0" algn="bl" rotWithShape="0" blurRad="152400" dist="50800" dir="5400000">
              <a:srgbClr val="000000">
                <a:alpha val="45000"/>
              </a:srgbClr>
            </a:outerShdw>
          </a:effectLst>
        </p:spPr>
      </p:sp>
      <p:sp>
        <p:nvSpPr>
          <p:cNvPr id="9" name="icon circle"/>
          <p:cNvSpPr/>
          <p:nvPr/>
        </p:nvSpPr>
        <p:spPr>
          <a:xfrm>
            <a:off x="6446520" y="2011680"/>
            <a:ext cx="640080" cy="640080"/>
          </a:xfrm>
          <a:prstGeom prst="ellipse">
            <a:avLst/>
          </a:prstGeom>
          <a:solidFill>
            <a:schemeClr val="accent5"/>
          </a:solidFill>
          <a:ln/>
        </p:spPr>
      </p:sp>
      <p:pic>
        <p:nvPicPr>
          <p:cNvPr id="10" name="LuGlobe" descr="LuGlobe">    </p:cNvPr>
          <p:cNvPicPr>
            <a:picLocks noChangeAspect="1"/>
          </p:cNvPicPr>
          <p:nvPr/>
        </p:nvPicPr>
        <p:blipFill>
          <a:blip r:embed="rId2"/>
          <a:stretch>
            <a:fillRect/>
          </a:stretch>
        </p:blipFill>
        <p:spPr>
          <a:xfrm>
            <a:off x="6600139" y="2165299"/>
            <a:ext cx="332842" cy="332842"/>
          </a:xfrm>
          <a:prstGeom prst="rect">
            <a:avLst/>
          </a:prstGeom>
        </p:spPr>
      </p:pic>
      <p:sp>
        <p:nvSpPr>
          <p:cNvPr id="11" name="Text 7"/>
          <p:cNvSpPr txBox="1"/>
          <p:nvPr/>
        </p:nvSpPr>
        <p:spPr>
          <a:xfrm>
            <a:off x="7287768" y="1993392"/>
            <a:ext cx="4187952" cy="1371600"/>
          </a:xfrm>
          <a:prstGeom prst="rect">
            <a:avLst/>
          </a:prstGeom>
          <a:noFill/>
          <a:ln/>
        </p:spPr>
        <p:txBody>
          <a:bodyPr wrap="square" lIns="0" tIns="0" rIns="0" bIns="0" rtlCol="0" anchor="t"/>
          <a:lstStyle/>
          <a:p>
            <a:pPr indent="0" marL="0">
              <a:spcAft>
                <a:spcPts val="300"/>
              </a:spcAft>
              <a:buNone/>
            </a:pPr>
            <a:r>
              <a:rPr lang="en-US" sz="1800" b="1" dirty="0">
                <a:solidFill>
                  <a:schemeClr val="bg1"/>
                </a:solidFill>
              </a:rPr>
              <a:t>World view by country</a:t>
            </a:r>
            <a:endParaRPr lang="en-US" sz="1500" dirty="0"/>
          </a:p>
          <a:p>
            <a:pPr indent="0" marL="0">
              <a:spcAft>
                <a:spcPts val="300"/>
              </a:spcAft>
              <a:buNone/>
            </a:pPr>
            <a:r>
              <a:rPr lang="en-US" sz="1400" dirty="0">
                <a:solidFill>
                  <a:schemeClr val="bg2"/>
                </a:solidFill>
              </a:rPr>
              <a:t>Attention data from individual countries: how investors in each market research, and where they look.</a:t>
            </a:r>
            <a:endParaRPr lang="en-US" sz="1500" dirty="0"/>
          </a:p>
        </p:txBody>
      </p:sp>
      <p:sp>
        <p:nvSpPr>
          <p:cNvPr id="12" name="card"/>
          <p:cNvSpPr/>
          <p:nvPr/>
        </p:nvSpPr>
        <p:spPr>
          <a:xfrm>
            <a:off x="548640" y="3657600"/>
            <a:ext cx="5486400" cy="1783080"/>
          </a:xfrm>
          <a:prstGeom prst="roundRect">
            <a:avLst>
              <a:gd name="adj" fmla="val 6154"/>
            </a:avLst>
          </a:prstGeom>
          <a:solidFill>
            <a:schemeClr val="tx2"/>
          </a:solidFill>
          <a:ln w="12700">
            <a:solidFill>
              <a:schemeClr val="accent5"/>
            </a:solidFill>
            <a:prstDash val="solid"/>
          </a:ln>
          <a:effectLst>
            <a:outerShdw sx="100000" sy="100000" kx="0" ky="0" algn="bl" rotWithShape="0" blurRad="152400" dist="50800" dir="5400000">
              <a:srgbClr val="000000">
                <a:alpha val="45000"/>
              </a:srgbClr>
            </a:outerShdw>
          </a:effectLst>
        </p:spPr>
      </p:sp>
      <p:sp>
        <p:nvSpPr>
          <p:cNvPr id="13" name="icon circle"/>
          <p:cNvSpPr/>
          <p:nvPr/>
        </p:nvSpPr>
        <p:spPr>
          <a:xfrm>
            <a:off x="822960" y="3977640"/>
            <a:ext cx="640080" cy="640080"/>
          </a:xfrm>
          <a:prstGeom prst="ellipse">
            <a:avLst/>
          </a:prstGeom>
          <a:solidFill>
            <a:schemeClr val="accent5"/>
          </a:solidFill>
          <a:ln/>
        </p:spPr>
      </p:sp>
      <p:pic>
        <p:nvPicPr>
          <p:cNvPr id="14" name="LuLayers" descr="LuLayers">    </p:cNvPr>
          <p:cNvPicPr>
            <a:picLocks noChangeAspect="1"/>
          </p:cNvPicPr>
          <p:nvPr/>
        </p:nvPicPr>
        <p:blipFill>
          <a:blip r:embed="rId3"/>
          <a:stretch>
            <a:fillRect/>
          </a:stretch>
        </p:blipFill>
        <p:spPr>
          <a:xfrm>
            <a:off x="976579" y="4131259"/>
            <a:ext cx="332842" cy="332842"/>
          </a:xfrm>
          <a:prstGeom prst="rect">
            <a:avLst/>
          </a:prstGeom>
        </p:spPr>
      </p:pic>
      <p:sp>
        <p:nvSpPr>
          <p:cNvPr id="15" name="Text 10"/>
          <p:cNvSpPr txBox="1"/>
          <p:nvPr/>
        </p:nvSpPr>
        <p:spPr>
          <a:xfrm>
            <a:off x="1664208" y="3959352"/>
            <a:ext cx="4187952" cy="1371600"/>
          </a:xfrm>
          <a:prstGeom prst="rect">
            <a:avLst/>
          </a:prstGeom>
          <a:noFill/>
          <a:ln/>
        </p:spPr>
        <p:txBody>
          <a:bodyPr wrap="square" lIns="0" tIns="0" rIns="0" bIns="0" rtlCol="0" anchor="t"/>
          <a:lstStyle/>
          <a:p>
            <a:pPr indent="0" marL="0">
              <a:spcAft>
                <a:spcPts val="300"/>
              </a:spcAft>
              <a:buNone/>
            </a:pPr>
            <a:r>
              <a:rPr lang="en-US" sz="1800" b="1" dirty="0">
                <a:solidFill>
                  <a:schemeClr val="bg1"/>
                </a:solidFill>
              </a:rPr>
              <a:t>Attention meets fundamentals</a:t>
            </a:r>
            <a:endParaRPr lang="en-US" sz="1500" dirty="0"/>
          </a:p>
          <a:p>
            <a:pPr indent="0" marL="0">
              <a:spcAft>
                <a:spcPts val="300"/>
              </a:spcAft>
              <a:buNone/>
            </a:pPr>
            <a:r>
              <a:rPr lang="en-US" sz="1400" dirty="0">
                <a:solidFill>
                  <a:schemeClr val="bg2"/>
                </a:solidFill>
              </a:rPr>
              <a:t>Combine what people look at with fundamental data, to tell attention that leads to informed buys from attention that chases noise.</a:t>
            </a:r>
            <a:endParaRPr lang="en-US" sz="1500" dirty="0"/>
          </a:p>
        </p:txBody>
      </p:sp>
      <p:sp>
        <p:nvSpPr>
          <p:cNvPr id="16" name="card"/>
          <p:cNvSpPr/>
          <p:nvPr/>
        </p:nvSpPr>
        <p:spPr>
          <a:xfrm>
            <a:off x="6172200" y="3657600"/>
            <a:ext cx="5486400" cy="1783080"/>
          </a:xfrm>
          <a:prstGeom prst="roundRect">
            <a:avLst>
              <a:gd name="adj" fmla="val 6154"/>
            </a:avLst>
          </a:prstGeom>
          <a:solidFill>
            <a:schemeClr val="tx2"/>
          </a:solidFill>
          <a:ln w="12700">
            <a:solidFill>
              <a:schemeClr val="accent5"/>
            </a:solidFill>
            <a:prstDash val="solid"/>
          </a:ln>
          <a:effectLst>
            <a:outerShdw sx="100000" sy="100000" kx="0" ky="0" algn="bl" rotWithShape="0" blurRad="152400" dist="50800" dir="5400000">
              <a:srgbClr val="000000">
                <a:alpha val="45000"/>
              </a:srgbClr>
            </a:outerShdw>
          </a:effectLst>
        </p:spPr>
      </p:sp>
      <p:sp>
        <p:nvSpPr>
          <p:cNvPr id="17" name="icon circle"/>
          <p:cNvSpPr/>
          <p:nvPr/>
        </p:nvSpPr>
        <p:spPr>
          <a:xfrm>
            <a:off x="6446520" y="3977640"/>
            <a:ext cx="640080" cy="640080"/>
          </a:xfrm>
          <a:prstGeom prst="ellipse">
            <a:avLst/>
          </a:prstGeom>
          <a:solidFill>
            <a:schemeClr val="accent5"/>
          </a:solidFill>
          <a:ln/>
        </p:spPr>
      </p:sp>
      <p:pic>
        <p:nvPicPr>
          <p:cNvPr id="18" name="LuHandshake" descr="LuHandshake">    </p:cNvPr>
          <p:cNvPicPr>
            <a:picLocks noChangeAspect="1"/>
          </p:cNvPicPr>
          <p:nvPr/>
        </p:nvPicPr>
        <p:blipFill>
          <a:blip r:embed="rId4"/>
          <a:stretch>
            <a:fillRect/>
          </a:stretch>
        </p:blipFill>
        <p:spPr>
          <a:xfrm>
            <a:off x="6600139" y="4131259"/>
            <a:ext cx="332842" cy="332842"/>
          </a:xfrm>
          <a:prstGeom prst="rect">
            <a:avLst/>
          </a:prstGeom>
        </p:spPr>
      </p:pic>
      <p:sp>
        <p:nvSpPr>
          <p:cNvPr id="19" name="Text 13"/>
          <p:cNvSpPr txBox="1"/>
          <p:nvPr/>
        </p:nvSpPr>
        <p:spPr>
          <a:xfrm>
            <a:off x="7287768" y="3959352"/>
            <a:ext cx="4187952" cy="1371600"/>
          </a:xfrm>
          <a:prstGeom prst="rect">
            <a:avLst/>
          </a:prstGeom>
          <a:noFill/>
          <a:ln/>
        </p:spPr>
        <p:txBody>
          <a:bodyPr wrap="square" lIns="0" tIns="0" rIns="0" bIns="0" rtlCol="0" anchor="t"/>
          <a:lstStyle/>
          <a:p>
            <a:pPr indent="0" marL="0">
              <a:spcAft>
                <a:spcPts val="300"/>
              </a:spcAft>
              <a:buNone/>
            </a:pPr>
            <a:r>
              <a:rPr lang="en-US" sz="1800" b="1" dirty="0">
                <a:solidFill>
                  <a:schemeClr val="bg1"/>
                </a:solidFill>
              </a:rPr>
              <a:t>Broker partnerships</a:t>
            </a:r>
            <a:endParaRPr lang="en-US" sz="1500" dirty="0"/>
          </a:p>
          <a:p>
            <a:pPr indent="0" marL="0">
              <a:spcAft>
                <a:spcPts val="300"/>
              </a:spcAft>
              <a:buNone/>
            </a:pPr>
            <a:r>
              <a:rPr lang="en-US" sz="1400" dirty="0">
                <a:solidFill>
                  <a:schemeClr val="bg2"/>
                </a:solidFill>
              </a:rPr>
              <a:t>Work with brokers for comprehensive attention capture, beyond the portals we see today, with the same privacy design.</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Stocktrails logo" descr="Stocktrails logo">    </p:cNvPr>
          <p:cNvPicPr>
            <a:picLocks noChangeAspect="1"/>
          </p:cNvPicPr>
          <p:nvPr/>
        </p:nvPicPr>
        <p:blipFill>
          <a:blip r:embed="rId1"/>
          <a:stretch>
            <a:fillRect/>
          </a:stretch>
        </p:blipFill>
        <p:spPr>
          <a:xfrm>
            <a:off x="502920" y="1463040"/>
            <a:ext cx="4937760" cy="1663245"/>
          </a:xfrm>
          <a:prstGeom prst="rect">
            <a:avLst/>
          </a:prstGeom>
        </p:spPr>
      </p:pic>
      <p:sp>
        <p:nvSpPr>
          <p:cNvPr id="3" name="Text 0"/>
          <p:cNvSpPr txBox="1"/>
          <p:nvPr/>
        </p:nvSpPr>
        <p:spPr>
          <a:xfrm>
            <a:off x="822960" y="3383280"/>
            <a:ext cx="10789920" cy="914400"/>
          </a:xfrm>
          <a:prstGeom prst="rect">
            <a:avLst/>
          </a:prstGeom>
          <a:noFill/>
          <a:ln/>
        </p:spPr>
        <p:txBody>
          <a:bodyPr wrap="square" lIns="0" tIns="0" rIns="0" bIns="0" rtlCol="0" anchor="ctr"/>
          <a:lstStyle/>
          <a:p>
            <a:pPr indent="0" marL="0">
              <a:buNone/>
            </a:pPr>
            <a:r>
              <a:rPr lang="en-US" sz="4000" b="1" dirty="0">
                <a:solidFill>
                  <a:schemeClr val="bg1"/>
                </a:solidFill>
                <a:latin typeface="Arial" pitchFamily="34" charset="0"/>
                <a:ea typeface="Arial" pitchFamily="34" charset="-122"/>
                <a:cs typeface="Arial" pitchFamily="34" charset="-120"/>
              </a:rPr>
              <a:t>Know your trail. Change your habits.</a:t>
            </a:r>
            <a:endParaRPr lang="en-US" sz="4000" dirty="0"/>
          </a:p>
        </p:txBody>
      </p:sp>
    </p:spTree>
  </p:cSld>
  <p:clrMapOvr>
    <a:masterClrMapping/>
  </p:clrMapOvr>
</p:sld>
</file>

<file path=ppt/theme/theme1.xml><?xml version="1.0" encoding="utf-8"?>
<a:theme xmlns:a="http://schemas.openxmlformats.org/drawingml/2006/main" name="Stocktrails">
  <a:themeElements>
    <a:clrScheme name="Stocktrails">
      <a:dk1>
        <a:srgbClr val="161A26"/>
      </a:dk1>
      <a:lt1>
        <a:srgbClr val="F2F5FB"/>
      </a:lt1>
      <a:dk2>
        <a:srgbClr val="1F2435"/>
      </a:dk2>
      <a:lt2>
        <a:srgbClr val="9AA3B8"/>
      </a:lt2>
      <a:accent1>
        <a:srgbClr val="3DDC97"/>
      </a:accent1>
      <a:accent2>
        <a:srgbClr val="9D8CFF"/>
      </a:accent2>
      <a:accent3>
        <a:srgbClr val="F5B841"/>
      </a:accent3>
      <a:accent4>
        <a:srgbClr val="E5675A"/>
      </a:accent4>
      <a:accent5>
        <a:srgbClr val="262C3E"/>
      </a:accent5>
      <a:accent6>
        <a:srgbClr val="6FA0FF"/>
      </a:accent6>
      <a:hlink>
        <a:srgbClr val="3DDC97"/>
      </a:hlink>
      <a:folHlink>
        <a:srgbClr val="9D8CFF"/>
      </a:folHlink>
    </a:clrScheme>
    <a:fontScheme name="Stocktrail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Stocktrails - FinTechathon 2026 final pitch</dc:title>
  <dc:subject>PptxGenJS Presentation</dc:subject>
  <dc:creator>Stocktrails team</dc:creator>
  <cp:lastModifiedBy>Stocktrails team</cp:lastModifiedBy>
  <cp:revision>1</cp:revision>
  <dcterms:created xsi:type="dcterms:W3CDTF">2026-10-20T06:17:22Z</dcterms:created>
  <dcterms:modified xsi:type="dcterms:W3CDTF">2026-10-20T06:17:22Z</dcterms:modified>
</cp:coreProperties>
</file>